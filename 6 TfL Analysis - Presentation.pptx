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432786558" r:id="rId1"/>
  </p:sldMasterIdLst>
  <p:notesMasterIdLst>
    <p:notesMasterId r:id="rId46"/>
  </p:notesMasterIdLst>
  <p:sldIdLst>
    <p:sldId id="256" r:id="rId2"/>
    <p:sldId id="257" r:id="rId3"/>
    <p:sldId id="258" r:id="rId4"/>
    <p:sldId id="283" r:id="rId5"/>
    <p:sldId id="284" r:id="rId6"/>
    <p:sldId id="259" r:id="rId7"/>
    <p:sldId id="260" r:id="rId8"/>
    <p:sldId id="286" r:id="rId9"/>
    <p:sldId id="261" r:id="rId10"/>
    <p:sldId id="289" r:id="rId11"/>
    <p:sldId id="263" r:id="rId12"/>
    <p:sldId id="265" r:id="rId13"/>
    <p:sldId id="306" r:id="rId14"/>
    <p:sldId id="266" r:id="rId15"/>
    <p:sldId id="267" r:id="rId16"/>
    <p:sldId id="309" r:id="rId17"/>
    <p:sldId id="310" r:id="rId18"/>
    <p:sldId id="312" r:id="rId19"/>
    <p:sldId id="313" r:id="rId20"/>
    <p:sldId id="308" r:id="rId21"/>
    <p:sldId id="317" r:id="rId22"/>
    <p:sldId id="321" r:id="rId23"/>
    <p:sldId id="323" r:id="rId24"/>
    <p:sldId id="324" r:id="rId25"/>
    <p:sldId id="271" r:id="rId26"/>
    <p:sldId id="326" r:id="rId27"/>
    <p:sldId id="327" r:id="rId28"/>
    <p:sldId id="329" r:id="rId29"/>
    <p:sldId id="331" r:id="rId30"/>
    <p:sldId id="335" r:id="rId31"/>
    <p:sldId id="336" r:id="rId32"/>
    <p:sldId id="338" r:id="rId33"/>
    <p:sldId id="340" r:id="rId34"/>
    <p:sldId id="302" r:id="rId35"/>
    <p:sldId id="303" r:id="rId36"/>
    <p:sldId id="304" r:id="rId37"/>
    <p:sldId id="305" r:id="rId38"/>
    <p:sldId id="342" r:id="rId39"/>
    <p:sldId id="299" r:id="rId40"/>
    <p:sldId id="300" r:id="rId41"/>
    <p:sldId id="301" r:id="rId42"/>
    <p:sldId id="344" r:id="rId43"/>
    <p:sldId id="272" r:id="rId44"/>
    <p:sldId id="273" r:id="rId4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2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17B65C-EEB5-4071-85C5-63FF1C24611C}" type="doc">
      <dgm:prSet loTypeId="urn:microsoft.com/office/officeart/2005/8/layout/vList2" loCatId="list" qsTypeId="urn:microsoft.com/office/officeart/2005/8/quickstyle/simple1" qsCatId="simple" csTypeId="urn:microsoft.com/office/officeart/2005/8/colors/accent1_3" csCatId="accent1" phldr="1"/>
      <dgm:spPr/>
      <dgm:t>
        <a:bodyPr/>
        <a:lstStyle/>
        <a:p>
          <a:endParaRPr lang="fr-CM"/>
        </a:p>
      </dgm:t>
    </dgm:pt>
    <dgm:pt modelId="{2A139E6F-6B1F-40F6-9679-094271DDBF49}">
      <dgm:prSet phldrT="[Texte]"/>
      <dgm:spPr/>
      <dgm:t>
        <a:bodyPr/>
        <a:lstStyle/>
        <a:p>
          <a:pPr>
            <a:buClr>
              <a:srgbClr val="424242">
                <a:alpha val="100000"/>
              </a:srgbClr>
            </a:buClr>
            <a:buFont typeface="Calibri"/>
            <a:buChar char="-"/>
          </a:pPr>
          <a:r>
            <a:rPr lang="en-US" b="1" u="none" strike="noStrike" cap="none" spc="0" dirty="0">
              <a:latin typeface="Times New Roman"/>
            </a:rPr>
            <a:t>Data Cleaning &amp; Preprocessing</a:t>
          </a:r>
          <a:endParaRPr lang="fr-CM" dirty="0"/>
        </a:p>
      </dgm:t>
    </dgm:pt>
    <dgm:pt modelId="{3B51A5C6-F374-42D3-87C9-698C9C7E4C13}" type="parTrans" cxnId="{E290456B-AED8-47B3-9E3F-68F71D384DD5}">
      <dgm:prSet/>
      <dgm:spPr/>
      <dgm:t>
        <a:bodyPr/>
        <a:lstStyle/>
        <a:p>
          <a:endParaRPr lang="fr-CM"/>
        </a:p>
      </dgm:t>
    </dgm:pt>
    <dgm:pt modelId="{6E6B1D1A-0522-4283-BDE6-A90F1FFEEC4A}" type="sibTrans" cxnId="{E290456B-AED8-47B3-9E3F-68F71D384DD5}">
      <dgm:prSet/>
      <dgm:spPr/>
      <dgm:t>
        <a:bodyPr/>
        <a:lstStyle/>
        <a:p>
          <a:endParaRPr lang="fr-CM"/>
        </a:p>
      </dgm:t>
    </dgm:pt>
    <dgm:pt modelId="{3DD4F61E-44F5-42EC-B544-E4791989CF27}">
      <dgm:prSet/>
      <dgm:spPr/>
      <dgm:t>
        <a:bodyPr/>
        <a:lstStyle/>
        <a:p>
          <a:r>
            <a:rPr lang="en-US" b="1" u="none" strike="noStrike" cap="none" spc="0" dirty="0">
              <a:latin typeface="Times New Roman"/>
            </a:rPr>
            <a:t>Exploratory Data Analysis (EDA)</a:t>
          </a:r>
        </a:p>
      </dgm:t>
    </dgm:pt>
    <dgm:pt modelId="{FB8692B2-3BBD-4079-BFD3-FB81CED8D789}" type="parTrans" cxnId="{220E5146-5209-40CD-9631-5690D8C67024}">
      <dgm:prSet/>
      <dgm:spPr/>
      <dgm:t>
        <a:bodyPr/>
        <a:lstStyle/>
        <a:p>
          <a:endParaRPr lang="fr-CM"/>
        </a:p>
      </dgm:t>
    </dgm:pt>
    <dgm:pt modelId="{D8431290-D696-4E3C-BB9C-66C5484152AF}" type="sibTrans" cxnId="{220E5146-5209-40CD-9631-5690D8C67024}">
      <dgm:prSet/>
      <dgm:spPr/>
      <dgm:t>
        <a:bodyPr/>
        <a:lstStyle/>
        <a:p>
          <a:endParaRPr lang="fr-CM"/>
        </a:p>
      </dgm:t>
    </dgm:pt>
    <dgm:pt modelId="{9E811171-F155-458D-A123-AC0C3631A38C}">
      <dgm:prSet/>
      <dgm:spPr/>
      <dgm:t>
        <a:bodyPr/>
        <a:lstStyle/>
        <a:p>
          <a:r>
            <a:rPr lang="en-US" b="1" u="none" strike="noStrike" cap="none" spc="0" dirty="0">
              <a:latin typeface="Times New Roman"/>
            </a:rPr>
            <a:t>Advanced Data Analysis</a:t>
          </a:r>
        </a:p>
      </dgm:t>
    </dgm:pt>
    <dgm:pt modelId="{2C4B006D-D5F8-4C78-803F-6ACF12DF048B}" type="parTrans" cxnId="{905859CA-0560-47DB-A5E5-26F935743348}">
      <dgm:prSet/>
      <dgm:spPr/>
      <dgm:t>
        <a:bodyPr/>
        <a:lstStyle/>
        <a:p>
          <a:endParaRPr lang="fr-CM"/>
        </a:p>
      </dgm:t>
    </dgm:pt>
    <dgm:pt modelId="{4071EA3E-2E71-4D36-9B7B-20DA814705D7}" type="sibTrans" cxnId="{905859CA-0560-47DB-A5E5-26F935743348}">
      <dgm:prSet/>
      <dgm:spPr/>
      <dgm:t>
        <a:bodyPr/>
        <a:lstStyle/>
        <a:p>
          <a:endParaRPr lang="fr-CM"/>
        </a:p>
      </dgm:t>
    </dgm:pt>
    <dgm:pt modelId="{36A1C419-974A-43A9-9FF6-2C0911DD2A2C}">
      <dgm:prSet phldrT="[Texte]"/>
      <dgm:spPr/>
      <dgm:t>
        <a:bodyPr/>
        <a:lstStyle/>
        <a:p>
          <a:pPr>
            <a:buClr>
              <a:srgbClr val="424242">
                <a:alpha val="100000"/>
              </a:srgbClr>
            </a:buClr>
            <a:buFont typeface="Calibri"/>
            <a:buChar char="-"/>
          </a:pPr>
          <a:r>
            <a:rPr lang="fr-FR" b="1" dirty="0">
              <a:latin typeface="Times New Roman" panose="02020603050405020304" pitchFamily="18" charset="0"/>
              <a:cs typeface="Times New Roman" panose="02020603050405020304" pitchFamily="18" charset="0"/>
            </a:rPr>
            <a:t>Objective</a:t>
          </a:r>
          <a:endParaRPr lang="fr-CM" b="1" dirty="0">
            <a:latin typeface="Times New Roman" panose="02020603050405020304" pitchFamily="18" charset="0"/>
            <a:cs typeface="Times New Roman" panose="02020603050405020304" pitchFamily="18" charset="0"/>
          </a:endParaRPr>
        </a:p>
      </dgm:t>
    </dgm:pt>
    <dgm:pt modelId="{D7625C67-9D63-4AA6-BBA4-8DB8739F4185}" type="parTrans" cxnId="{499B4783-E533-43F2-BE75-98CC001F532A}">
      <dgm:prSet/>
      <dgm:spPr/>
      <dgm:t>
        <a:bodyPr/>
        <a:lstStyle/>
        <a:p>
          <a:endParaRPr lang="fr-CM"/>
        </a:p>
      </dgm:t>
    </dgm:pt>
    <dgm:pt modelId="{60D3BE11-A48F-4AB9-875C-134A0BB3C7A0}" type="sibTrans" cxnId="{499B4783-E533-43F2-BE75-98CC001F532A}">
      <dgm:prSet/>
      <dgm:spPr/>
      <dgm:t>
        <a:bodyPr/>
        <a:lstStyle/>
        <a:p>
          <a:endParaRPr lang="fr-CM"/>
        </a:p>
      </dgm:t>
    </dgm:pt>
    <dgm:pt modelId="{6B76F7A4-BF74-4431-93CD-2BE77C27CEB4}">
      <dgm:prSet phldrT="[Texte]"/>
      <dgm:spPr/>
      <dgm:t>
        <a:bodyPr/>
        <a:lstStyle/>
        <a:p>
          <a:pPr>
            <a:buClr>
              <a:srgbClr val="424242">
                <a:alpha val="100000"/>
              </a:srgbClr>
            </a:buClr>
            <a:buFont typeface="Calibri"/>
            <a:buChar char="-"/>
          </a:pPr>
          <a:r>
            <a:rPr lang="fr-FR" b="1" dirty="0">
              <a:latin typeface="Times New Roman" panose="02020603050405020304" pitchFamily="18" charset="0"/>
              <a:cs typeface="Times New Roman" panose="02020603050405020304" pitchFamily="18" charset="0"/>
            </a:rPr>
            <a:t>Tools</a:t>
          </a:r>
          <a:endParaRPr lang="fr-CM" b="1" dirty="0">
            <a:latin typeface="Times New Roman" panose="02020603050405020304" pitchFamily="18" charset="0"/>
            <a:cs typeface="Times New Roman" panose="02020603050405020304" pitchFamily="18" charset="0"/>
          </a:endParaRPr>
        </a:p>
      </dgm:t>
    </dgm:pt>
    <dgm:pt modelId="{6BCD62AF-850B-425A-8531-A1908819591E}" type="parTrans" cxnId="{61FCFD02-2B94-4A53-99BB-063CEFC50D8B}">
      <dgm:prSet/>
      <dgm:spPr/>
      <dgm:t>
        <a:bodyPr/>
        <a:lstStyle/>
        <a:p>
          <a:endParaRPr lang="fr-CM"/>
        </a:p>
      </dgm:t>
    </dgm:pt>
    <dgm:pt modelId="{A0171FF9-CBA9-42F3-BDF2-43141DA6275D}" type="sibTrans" cxnId="{61FCFD02-2B94-4A53-99BB-063CEFC50D8B}">
      <dgm:prSet/>
      <dgm:spPr/>
      <dgm:t>
        <a:bodyPr/>
        <a:lstStyle/>
        <a:p>
          <a:endParaRPr lang="fr-CM"/>
        </a:p>
      </dgm:t>
    </dgm:pt>
    <dgm:pt modelId="{84A134AB-B3C1-4B1A-8C1A-FB72E3DD3320}">
      <dgm:prSet/>
      <dgm:spPr/>
      <dgm:t>
        <a:bodyPr/>
        <a:lstStyle/>
        <a:p>
          <a:r>
            <a:rPr lang="en-US" b="1" u="none" strike="noStrike" cap="none" spc="0" dirty="0">
              <a:latin typeface="Times New Roman"/>
            </a:rPr>
            <a:t>Dashboard</a:t>
          </a:r>
        </a:p>
      </dgm:t>
    </dgm:pt>
    <dgm:pt modelId="{8AA614DB-F28F-4AAE-AD34-4E07BF4D4C7D}" type="parTrans" cxnId="{4E9E65B9-F4FA-45E2-AE81-56083CA0CD13}">
      <dgm:prSet/>
      <dgm:spPr/>
      <dgm:t>
        <a:bodyPr/>
        <a:lstStyle/>
        <a:p>
          <a:endParaRPr lang="fr-CM"/>
        </a:p>
      </dgm:t>
    </dgm:pt>
    <dgm:pt modelId="{2CEBE6DA-04A1-4DAC-A016-79EE21AB147A}" type="sibTrans" cxnId="{4E9E65B9-F4FA-45E2-AE81-56083CA0CD13}">
      <dgm:prSet/>
      <dgm:spPr/>
      <dgm:t>
        <a:bodyPr/>
        <a:lstStyle/>
        <a:p>
          <a:endParaRPr lang="fr-CM"/>
        </a:p>
      </dgm:t>
    </dgm:pt>
    <dgm:pt modelId="{8F569266-67E3-43F6-BEB6-254757347DE4}">
      <dgm:prSet/>
      <dgm:spPr/>
      <dgm:t>
        <a:bodyPr/>
        <a:lstStyle/>
        <a:p>
          <a:r>
            <a:rPr lang="en-US" b="1" u="none" strike="noStrike" cap="none" spc="0" dirty="0">
              <a:latin typeface="Times New Roman"/>
            </a:rPr>
            <a:t>Strategic Recommendations</a:t>
          </a:r>
        </a:p>
      </dgm:t>
    </dgm:pt>
    <dgm:pt modelId="{7610E3CF-2C17-4E8A-A47B-F1716AFCCE1B}" type="parTrans" cxnId="{20AC39BB-663B-4336-BF66-D3307DEBCF3B}">
      <dgm:prSet/>
      <dgm:spPr/>
      <dgm:t>
        <a:bodyPr/>
        <a:lstStyle/>
        <a:p>
          <a:endParaRPr lang="en-GB"/>
        </a:p>
      </dgm:t>
    </dgm:pt>
    <dgm:pt modelId="{ABC6B3A9-19AD-45F3-8226-B190B64C5AA8}" type="sibTrans" cxnId="{20AC39BB-663B-4336-BF66-D3307DEBCF3B}">
      <dgm:prSet/>
      <dgm:spPr/>
      <dgm:t>
        <a:bodyPr/>
        <a:lstStyle/>
        <a:p>
          <a:endParaRPr lang="en-GB"/>
        </a:p>
      </dgm:t>
    </dgm:pt>
    <dgm:pt modelId="{25C97D0B-125F-4412-85F4-24DE912BE930}" type="pres">
      <dgm:prSet presAssocID="{0417B65C-EEB5-4071-85C5-63FF1C24611C}" presName="linear" presStyleCnt="0">
        <dgm:presLayoutVars>
          <dgm:animLvl val="lvl"/>
          <dgm:resizeHandles val="exact"/>
        </dgm:presLayoutVars>
      </dgm:prSet>
      <dgm:spPr/>
    </dgm:pt>
    <dgm:pt modelId="{BBA3C43F-EC5B-479D-A298-ADCB2F68CED8}" type="pres">
      <dgm:prSet presAssocID="{36A1C419-974A-43A9-9FF6-2C0911DD2A2C}" presName="parentText" presStyleLbl="node1" presStyleIdx="0" presStyleCnt="7">
        <dgm:presLayoutVars>
          <dgm:chMax val="0"/>
          <dgm:bulletEnabled val="1"/>
        </dgm:presLayoutVars>
      </dgm:prSet>
      <dgm:spPr/>
    </dgm:pt>
    <dgm:pt modelId="{FEA65955-B06E-4686-9BE6-F0FB982C0E4D}" type="pres">
      <dgm:prSet presAssocID="{60D3BE11-A48F-4AB9-875C-134A0BB3C7A0}" presName="spacer" presStyleCnt="0"/>
      <dgm:spPr/>
    </dgm:pt>
    <dgm:pt modelId="{B6F41273-3084-4B05-AC32-FEFA7D2F705B}" type="pres">
      <dgm:prSet presAssocID="{6B76F7A4-BF74-4431-93CD-2BE77C27CEB4}" presName="parentText" presStyleLbl="node1" presStyleIdx="1" presStyleCnt="7">
        <dgm:presLayoutVars>
          <dgm:chMax val="0"/>
          <dgm:bulletEnabled val="1"/>
        </dgm:presLayoutVars>
      </dgm:prSet>
      <dgm:spPr/>
    </dgm:pt>
    <dgm:pt modelId="{A1CCE038-EC9A-40E8-98EA-92D0684641C6}" type="pres">
      <dgm:prSet presAssocID="{A0171FF9-CBA9-42F3-BDF2-43141DA6275D}" presName="spacer" presStyleCnt="0"/>
      <dgm:spPr/>
    </dgm:pt>
    <dgm:pt modelId="{A25B1200-DD5D-4B5D-B0AB-0D083F0897E6}" type="pres">
      <dgm:prSet presAssocID="{2A139E6F-6B1F-40F6-9679-094271DDBF49}" presName="parentText" presStyleLbl="node1" presStyleIdx="2" presStyleCnt="7">
        <dgm:presLayoutVars>
          <dgm:chMax val="0"/>
          <dgm:bulletEnabled val="1"/>
        </dgm:presLayoutVars>
      </dgm:prSet>
      <dgm:spPr/>
    </dgm:pt>
    <dgm:pt modelId="{0B051187-0F96-4E22-BF6B-32CA34F43116}" type="pres">
      <dgm:prSet presAssocID="{6E6B1D1A-0522-4283-BDE6-A90F1FFEEC4A}" presName="spacer" presStyleCnt="0"/>
      <dgm:spPr/>
    </dgm:pt>
    <dgm:pt modelId="{CFA9B257-0402-45A9-906E-D4EA4502801B}" type="pres">
      <dgm:prSet presAssocID="{3DD4F61E-44F5-42EC-B544-E4791989CF27}" presName="parentText" presStyleLbl="node1" presStyleIdx="3" presStyleCnt="7">
        <dgm:presLayoutVars>
          <dgm:chMax val="0"/>
          <dgm:bulletEnabled val="1"/>
        </dgm:presLayoutVars>
      </dgm:prSet>
      <dgm:spPr/>
    </dgm:pt>
    <dgm:pt modelId="{99873874-5188-4899-A69E-A766F6E75096}" type="pres">
      <dgm:prSet presAssocID="{D8431290-D696-4E3C-BB9C-66C5484152AF}" presName="spacer" presStyleCnt="0"/>
      <dgm:spPr/>
    </dgm:pt>
    <dgm:pt modelId="{19299808-217D-4F78-BD2F-573FB95DE3C0}" type="pres">
      <dgm:prSet presAssocID="{9E811171-F155-458D-A123-AC0C3631A38C}" presName="parentText" presStyleLbl="node1" presStyleIdx="4" presStyleCnt="7">
        <dgm:presLayoutVars>
          <dgm:chMax val="0"/>
          <dgm:bulletEnabled val="1"/>
        </dgm:presLayoutVars>
      </dgm:prSet>
      <dgm:spPr/>
    </dgm:pt>
    <dgm:pt modelId="{6AEA10EE-3465-46C6-B505-D8BBB019EB9E}" type="pres">
      <dgm:prSet presAssocID="{4071EA3E-2E71-4D36-9B7B-20DA814705D7}" presName="spacer" presStyleCnt="0"/>
      <dgm:spPr/>
    </dgm:pt>
    <dgm:pt modelId="{F326F2D2-4060-4D38-90CA-671C23347684}" type="pres">
      <dgm:prSet presAssocID="{84A134AB-B3C1-4B1A-8C1A-FB72E3DD3320}" presName="parentText" presStyleLbl="node1" presStyleIdx="5" presStyleCnt="7">
        <dgm:presLayoutVars>
          <dgm:chMax val="0"/>
          <dgm:bulletEnabled val="1"/>
        </dgm:presLayoutVars>
      </dgm:prSet>
      <dgm:spPr/>
    </dgm:pt>
    <dgm:pt modelId="{5D775DC1-1C34-41A8-9AD6-597136258276}" type="pres">
      <dgm:prSet presAssocID="{2CEBE6DA-04A1-4DAC-A016-79EE21AB147A}" presName="spacer" presStyleCnt="0"/>
      <dgm:spPr/>
    </dgm:pt>
    <dgm:pt modelId="{41F41EAC-08CE-4FBA-9AE6-B6911390BACD}" type="pres">
      <dgm:prSet presAssocID="{8F569266-67E3-43F6-BEB6-254757347DE4}" presName="parentText" presStyleLbl="node1" presStyleIdx="6" presStyleCnt="7">
        <dgm:presLayoutVars>
          <dgm:chMax val="0"/>
          <dgm:bulletEnabled val="1"/>
        </dgm:presLayoutVars>
      </dgm:prSet>
      <dgm:spPr/>
    </dgm:pt>
  </dgm:ptLst>
  <dgm:cxnLst>
    <dgm:cxn modelId="{61FCFD02-2B94-4A53-99BB-063CEFC50D8B}" srcId="{0417B65C-EEB5-4071-85C5-63FF1C24611C}" destId="{6B76F7A4-BF74-4431-93CD-2BE77C27CEB4}" srcOrd="1" destOrd="0" parTransId="{6BCD62AF-850B-425A-8531-A1908819591E}" sibTransId="{A0171FF9-CBA9-42F3-BDF2-43141DA6275D}"/>
    <dgm:cxn modelId="{AD603A0D-52F7-45CB-A054-882D8DCDF170}" type="presOf" srcId="{9E811171-F155-458D-A123-AC0C3631A38C}" destId="{19299808-217D-4F78-BD2F-573FB95DE3C0}" srcOrd="0" destOrd="0" presId="urn:microsoft.com/office/officeart/2005/8/layout/vList2"/>
    <dgm:cxn modelId="{CF0B471E-A98C-4875-8D29-0A2038861B56}" type="presOf" srcId="{0417B65C-EEB5-4071-85C5-63FF1C24611C}" destId="{25C97D0B-125F-4412-85F4-24DE912BE930}" srcOrd="0" destOrd="0" presId="urn:microsoft.com/office/officeart/2005/8/layout/vList2"/>
    <dgm:cxn modelId="{220E5146-5209-40CD-9631-5690D8C67024}" srcId="{0417B65C-EEB5-4071-85C5-63FF1C24611C}" destId="{3DD4F61E-44F5-42EC-B544-E4791989CF27}" srcOrd="3" destOrd="0" parTransId="{FB8692B2-3BBD-4079-BFD3-FB81CED8D789}" sibTransId="{D8431290-D696-4E3C-BB9C-66C5484152AF}"/>
    <dgm:cxn modelId="{0ECA7E67-2403-40EA-81FC-855CD1C8123A}" type="presOf" srcId="{2A139E6F-6B1F-40F6-9679-094271DDBF49}" destId="{A25B1200-DD5D-4B5D-B0AB-0D083F0897E6}" srcOrd="0" destOrd="0" presId="urn:microsoft.com/office/officeart/2005/8/layout/vList2"/>
    <dgm:cxn modelId="{604AC348-8EBD-42A2-8C50-2B5A48047DE1}" type="presOf" srcId="{84A134AB-B3C1-4B1A-8C1A-FB72E3DD3320}" destId="{F326F2D2-4060-4D38-90CA-671C23347684}" srcOrd="0" destOrd="0" presId="urn:microsoft.com/office/officeart/2005/8/layout/vList2"/>
    <dgm:cxn modelId="{E290456B-AED8-47B3-9E3F-68F71D384DD5}" srcId="{0417B65C-EEB5-4071-85C5-63FF1C24611C}" destId="{2A139E6F-6B1F-40F6-9679-094271DDBF49}" srcOrd="2" destOrd="0" parTransId="{3B51A5C6-F374-42D3-87C9-698C9C7E4C13}" sibTransId="{6E6B1D1A-0522-4283-BDE6-A90F1FFEEC4A}"/>
    <dgm:cxn modelId="{2FFB6959-8DAE-48DA-BB15-F76194D0C9E3}" type="presOf" srcId="{36A1C419-974A-43A9-9FF6-2C0911DD2A2C}" destId="{BBA3C43F-EC5B-479D-A298-ADCB2F68CED8}" srcOrd="0" destOrd="0" presId="urn:microsoft.com/office/officeart/2005/8/layout/vList2"/>
    <dgm:cxn modelId="{499B4783-E533-43F2-BE75-98CC001F532A}" srcId="{0417B65C-EEB5-4071-85C5-63FF1C24611C}" destId="{36A1C419-974A-43A9-9FF6-2C0911DD2A2C}" srcOrd="0" destOrd="0" parTransId="{D7625C67-9D63-4AA6-BBA4-8DB8739F4185}" sibTransId="{60D3BE11-A48F-4AB9-875C-134A0BB3C7A0}"/>
    <dgm:cxn modelId="{2CCD21A7-BC25-4788-BEB0-83BD690F8925}" type="presOf" srcId="{3DD4F61E-44F5-42EC-B544-E4791989CF27}" destId="{CFA9B257-0402-45A9-906E-D4EA4502801B}" srcOrd="0" destOrd="0" presId="urn:microsoft.com/office/officeart/2005/8/layout/vList2"/>
    <dgm:cxn modelId="{4E9E65B9-F4FA-45E2-AE81-56083CA0CD13}" srcId="{0417B65C-EEB5-4071-85C5-63FF1C24611C}" destId="{84A134AB-B3C1-4B1A-8C1A-FB72E3DD3320}" srcOrd="5" destOrd="0" parTransId="{8AA614DB-F28F-4AAE-AD34-4E07BF4D4C7D}" sibTransId="{2CEBE6DA-04A1-4DAC-A016-79EE21AB147A}"/>
    <dgm:cxn modelId="{2EF580BA-DCE6-490D-99E7-3448B8318F5D}" type="presOf" srcId="{6B76F7A4-BF74-4431-93CD-2BE77C27CEB4}" destId="{B6F41273-3084-4B05-AC32-FEFA7D2F705B}" srcOrd="0" destOrd="0" presId="urn:microsoft.com/office/officeart/2005/8/layout/vList2"/>
    <dgm:cxn modelId="{20AC39BB-663B-4336-BF66-D3307DEBCF3B}" srcId="{0417B65C-EEB5-4071-85C5-63FF1C24611C}" destId="{8F569266-67E3-43F6-BEB6-254757347DE4}" srcOrd="6" destOrd="0" parTransId="{7610E3CF-2C17-4E8A-A47B-F1716AFCCE1B}" sibTransId="{ABC6B3A9-19AD-45F3-8226-B190B64C5AA8}"/>
    <dgm:cxn modelId="{905859CA-0560-47DB-A5E5-26F935743348}" srcId="{0417B65C-EEB5-4071-85C5-63FF1C24611C}" destId="{9E811171-F155-458D-A123-AC0C3631A38C}" srcOrd="4" destOrd="0" parTransId="{2C4B006D-D5F8-4C78-803F-6ACF12DF048B}" sibTransId="{4071EA3E-2E71-4D36-9B7B-20DA814705D7}"/>
    <dgm:cxn modelId="{11325FFD-0BF0-465F-A63B-297A2C2FBB22}" type="presOf" srcId="{8F569266-67E3-43F6-BEB6-254757347DE4}" destId="{41F41EAC-08CE-4FBA-9AE6-B6911390BACD}" srcOrd="0" destOrd="0" presId="urn:microsoft.com/office/officeart/2005/8/layout/vList2"/>
    <dgm:cxn modelId="{C69D6000-D4DF-49DA-BC56-02BA50FBF577}" type="presParOf" srcId="{25C97D0B-125F-4412-85F4-24DE912BE930}" destId="{BBA3C43F-EC5B-479D-A298-ADCB2F68CED8}" srcOrd="0" destOrd="0" presId="urn:microsoft.com/office/officeart/2005/8/layout/vList2"/>
    <dgm:cxn modelId="{80406F24-4EA9-42AC-8A24-4356897C957E}" type="presParOf" srcId="{25C97D0B-125F-4412-85F4-24DE912BE930}" destId="{FEA65955-B06E-4686-9BE6-F0FB982C0E4D}" srcOrd="1" destOrd="0" presId="urn:microsoft.com/office/officeart/2005/8/layout/vList2"/>
    <dgm:cxn modelId="{7962D6D4-3BD5-4C98-95F4-4851BDAC6F21}" type="presParOf" srcId="{25C97D0B-125F-4412-85F4-24DE912BE930}" destId="{B6F41273-3084-4B05-AC32-FEFA7D2F705B}" srcOrd="2" destOrd="0" presId="urn:microsoft.com/office/officeart/2005/8/layout/vList2"/>
    <dgm:cxn modelId="{A8B079C7-0E23-44C5-9C9F-274EA76C1D1C}" type="presParOf" srcId="{25C97D0B-125F-4412-85F4-24DE912BE930}" destId="{A1CCE038-EC9A-40E8-98EA-92D0684641C6}" srcOrd="3" destOrd="0" presId="urn:microsoft.com/office/officeart/2005/8/layout/vList2"/>
    <dgm:cxn modelId="{4FEACF3C-4D62-4FD6-ABA7-5212037147E0}" type="presParOf" srcId="{25C97D0B-125F-4412-85F4-24DE912BE930}" destId="{A25B1200-DD5D-4B5D-B0AB-0D083F0897E6}" srcOrd="4" destOrd="0" presId="urn:microsoft.com/office/officeart/2005/8/layout/vList2"/>
    <dgm:cxn modelId="{D129AD58-3A2A-4D60-A902-7C29F9447E8E}" type="presParOf" srcId="{25C97D0B-125F-4412-85F4-24DE912BE930}" destId="{0B051187-0F96-4E22-BF6B-32CA34F43116}" srcOrd="5" destOrd="0" presId="urn:microsoft.com/office/officeart/2005/8/layout/vList2"/>
    <dgm:cxn modelId="{BF714318-AA27-4A9C-8CA8-C833985BEB63}" type="presParOf" srcId="{25C97D0B-125F-4412-85F4-24DE912BE930}" destId="{CFA9B257-0402-45A9-906E-D4EA4502801B}" srcOrd="6" destOrd="0" presId="urn:microsoft.com/office/officeart/2005/8/layout/vList2"/>
    <dgm:cxn modelId="{518CEAC9-C944-4DD0-9BA4-D914258961D0}" type="presParOf" srcId="{25C97D0B-125F-4412-85F4-24DE912BE930}" destId="{99873874-5188-4899-A69E-A766F6E75096}" srcOrd="7" destOrd="0" presId="urn:microsoft.com/office/officeart/2005/8/layout/vList2"/>
    <dgm:cxn modelId="{A89E99CA-F863-41E5-89EF-A4F4E67CE9C5}" type="presParOf" srcId="{25C97D0B-125F-4412-85F4-24DE912BE930}" destId="{19299808-217D-4F78-BD2F-573FB95DE3C0}" srcOrd="8" destOrd="0" presId="urn:microsoft.com/office/officeart/2005/8/layout/vList2"/>
    <dgm:cxn modelId="{13653374-50E7-4D5F-ACB2-B30D5A12FD88}" type="presParOf" srcId="{25C97D0B-125F-4412-85F4-24DE912BE930}" destId="{6AEA10EE-3465-46C6-B505-D8BBB019EB9E}" srcOrd="9" destOrd="0" presId="urn:microsoft.com/office/officeart/2005/8/layout/vList2"/>
    <dgm:cxn modelId="{B79EF000-21CA-40B5-82AC-1F7C1C082AD4}" type="presParOf" srcId="{25C97D0B-125F-4412-85F4-24DE912BE930}" destId="{F326F2D2-4060-4D38-90CA-671C23347684}" srcOrd="10" destOrd="0" presId="urn:microsoft.com/office/officeart/2005/8/layout/vList2"/>
    <dgm:cxn modelId="{5F7A1901-6620-4FEB-B768-605A81AC26C3}" type="presParOf" srcId="{25C97D0B-125F-4412-85F4-24DE912BE930}" destId="{5D775DC1-1C34-41A8-9AD6-597136258276}" srcOrd="11" destOrd="0" presId="urn:microsoft.com/office/officeart/2005/8/layout/vList2"/>
    <dgm:cxn modelId="{75E7B093-0E5B-409A-8B99-5CDC8AE097A8}" type="presParOf" srcId="{25C97D0B-125F-4412-85F4-24DE912BE930}" destId="{41F41EAC-08CE-4FBA-9AE6-B6911390BACD}"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17B65C-EEB5-4071-85C5-63FF1C24611C}" type="doc">
      <dgm:prSet loTypeId="urn:microsoft.com/office/officeart/2005/8/layout/vList2" loCatId="list" qsTypeId="urn:microsoft.com/office/officeart/2005/8/quickstyle/simple1" qsCatId="simple" csTypeId="urn:microsoft.com/office/officeart/2005/8/colors/accent1_3" csCatId="accent1" phldr="1"/>
      <dgm:spPr/>
      <dgm:t>
        <a:bodyPr/>
        <a:lstStyle/>
        <a:p>
          <a:endParaRPr lang="fr-CM"/>
        </a:p>
      </dgm:t>
    </dgm:pt>
    <dgm:pt modelId="{2A139E6F-6B1F-40F6-9679-094271DDBF49}">
      <dgm:prSet phldrT="[Texte]"/>
      <dgm:spPr/>
      <dgm:t>
        <a:bodyPr/>
        <a:lstStyle/>
        <a:p>
          <a:pPr>
            <a:buClr>
              <a:srgbClr val="424242">
                <a:alpha val="100000"/>
              </a:srgbClr>
            </a:buClr>
            <a:buFont typeface="Calibri"/>
            <a:buChar char="-"/>
          </a:pPr>
          <a:r>
            <a:rPr lang="en-US" dirty="0"/>
            <a:t>Clean and preprocess the raw </a:t>
          </a:r>
          <a:r>
            <a:rPr lang="en-US" dirty="0" err="1"/>
            <a:t>TfL</a:t>
          </a:r>
          <a:r>
            <a:rPr lang="en-US" dirty="0"/>
            <a:t> data to ensure data quality and consistency. </a:t>
          </a:r>
          <a:endParaRPr lang="fr-CM" dirty="0"/>
        </a:p>
      </dgm:t>
    </dgm:pt>
    <dgm:pt modelId="{3B51A5C6-F374-42D3-87C9-698C9C7E4C13}" type="parTrans" cxnId="{E290456B-AED8-47B3-9E3F-68F71D384DD5}">
      <dgm:prSet/>
      <dgm:spPr/>
      <dgm:t>
        <a:bodyPr/>
        <a:lstStyle/>
        <a:p>
          <a:endParaRPr lang="fr-CM"/>
        </a:p>
      </dgm:t>
    </dgm:pt>
    <dgm:pt modelId="{6E6B1D1A-0522-4283-BDE6-A90F1FFEEC4A}" type="sibTrans" cxnId="{E290456B-AED8-47B3-9E3F-68F71D384DD5}">
      <dgm:prSet/>
      <dgm:spPr/>
      <dgm:t>
        <a:bodyPr/>
        <a:lstStyle/>
        <a:p>
          <a:endParaRPr lang="fr-CM"/>
        </a:p>
      </dgm:t>
    </dgm:pt>
    <dgm:pt modelId="{A451201E-D9B6-4BA1-9FF9-AB74EF277D85}">
      <dgm:prSet phldrT="[Texte]"/>
      <dgm:spPr/>
      <dgm:t>
        <a:bodyPr/>
        <a:lstStyle/>
        <a:p>
          <a:pPr>
            <a:buClr>
              <a:srgbClr val="424242">
                <a:alpha val="100000"/>
              </a:srgbClr>
            </a:buClr>
            <a:buFont typeface="Calibri"/>
            <a:buChar char="-"/>
          </a:pPr>
          <a:r>
            <a:rPr lang="en-US" dirty="0"/>
            <a:t> Uncover patterns and trends in station usage across London. </a:t>
          </a:r>
          <a:endParaRPr lang="fr-CM" dirty="0"/>
        </a:p>
      </dgm:t>
    </dgm:pt>
    <dgm:pt modelId="{C55358B8-23B8-4229-BE2B-D683672DA8AF}" type="parTrans" cxnId="{A7E6517B-CD78-4842-8103-21616FEC6832}">
      <dgm:prSet/>
      <dgm:spPr/>
      <dgm:t>
        <a:bodyPr/>
        <a:lstStyle/>
        <a:p>
          <a:endParaRPr lang="fr-CM"/>
        </a:p>
      </dgm:t>
    </dgm:pt>
    <dgm:pt modelId="{1F5A15D5-8C47-45F4-9F36-859BAD346CB6}" type="sibTrans" cxnId="{A7E6517B-CD78-4842-8103-21616FEC6832}">
      <dgm:prSet/>
      <dgm:spPr/>
      <dgm:t>
        <a:bodyPr/>
        <a:lstStyle/>
        <a:p>
          <a:endParaRPr lang="fr-CM"/>
        </a:p>
      </dgm:t>
    </dgm:pt>
    <dgm:pt modelId="{A466CF38-0041-4398-B097-09CF15BE024F}">
      <dgm:prSet phldrT="[Texte]"/>
      <dgm:spPr/>
      <dgm:t>
        <a:bodyPr/>
        <a:lstStyle/>
        <a:p>
          <a:pPr>
            <a:buClr>
              <a:srgbClr val="424242">
                <a:alpha val="100000"/>
              </a:srgbClr>
            </a:buClr>
            <a:buFont typeface="Calibri"/>
            <a:buChar char="-"/>
          </a:pPr>
          <a:r>
            <a:rPr lang="en-US" dirty="0"/>
            <a:t>Identify operational hotspots and capacity stress points.</a:t>
          </a:r>
          <a:endParaRPr lang="fr-CM" dirty="0"/>
        </a:p>
      </dgm:t>
    </dgm:pt>
    <dgm:pt modelId="{E834D157-FF0F-4A46-AF53-46DE42152FBD}" type="parTrans" cxnId="{DCDEF7BC-3685-41D3-A398-8B7DB24748A2}">
      <dgm:prSet/>
      <dgm:spPr/>
      <dgm:t>
        <a:bodyPr/>
        <a:lstStyle/>
        <a:p>
          <a:endParaRPr lang="fr-CM"/>
        </a:p>
      </dgm:t>
    </dgm:pt>
    <dgm:pt modelId="{1AC0A159-1040-423B-A3E3-8B8A32F585F7}" type="sibTrans" cxnId="{DCDEF7BC-3685-41D3-A398-8B7DB24748A2}">
      <dgm:prSet/>
      <dgm:spPr/>
      <dgm:t>
        <a:bodyPr/>
        <a:lstStyle/>
        <a:p>
          <a:endParaRPr lang="fr-CM"/>
        </a:p>
      </dgm:t>
    </dgm:pt>
    <dgm:pt modelId="{17902B52-488D-491F-8955-C4A04FA9CD76}">
      <dgm:prSet phldrT="[Texte]"/>
      <dgm:spPr/>
      <dgm:t>
        <a:bodyPr/>
        <a:lstStyle/>
        <a:p>
          <a:pPr>
            <a:buClr>
              <a:srgbClr val="424242">
                <a:alpha val="100000"/>
              </a:srgbClr>
            </a:buClr>
            <a:buFont typeface="Calibri"/>
            <a:buChar char="-"/>
          </a:pPr>
          <a:r>
            <a:rPr lang="en-US" dirty="0"/>
            <a:t>Evaluate the distribution of passenger traffic across the network.</a:t>
          </a:r>
          <a:endParaRPr lang="fr-CM" dirty="0"/>
        </a:p>
      </dgm:t>
    </dgm:pt>
    <dgm:pt modelId="{9EB4A3C2-9BB9-4CE5-94D8-C9A4A6EE9B39}" type="parTrans" cxnId="{05348014-C526-433C-95B8-2BEB35562D50}">
      <dgm:prSet/>
      <dgm:spPr/>
      <dgm:t>
        <a:bodyPr/>
        <a:lstStyle/>
        <a:p>
          <a:endParaRPr lang="fr-CM"/>
        </a:p>
      </dgm:t>
    </dgm:pt>
    <dgm:pt modelId="{1752AB39-ED7E-415D-9BC0-70DA78470401}" type="sibTrans" cxnId="{05348014-C526-433C-95B8-2BEB35562D50}">
      <dgm:prSet/>
      <dgm:spPr/>
      <dgm:t>
        <a:bodyPr/>
        <a:lstStyle/>
        <a:p>
          <a:endParaRPr lang="fr-CM"/>
        </a:p>
      </dgm:t>
    </dgm:pt>
    <dgm:pt modelId="{25C97D0B-125F-4412-85F4-24DE912BE930}" type="pres">
      <dgm:prSet presAssocID="{0417B65C-EEB5-4071-85C5-63FF1C24611C}" presName="linear" presStyleCnt="0">
        <dgm:presLayoutVars>
          <dgm:animLvl val="lvl"/>
          <dgm:resizeHandles val="exact"/>
        </dgm:presLayoutVars>
      </dgm:prSet>
      <dgm:spPr/>
    </dgm:pt>
    <dgm:pt modelId="{A25B1200-DD5D-4B5D-B0AB-0D083F0897E6}" type="pres">
      <dgm:prSet presAssocID="{2A139E6F-6B1F-40F6-9679-094271DDBF49}" presName="parentText" presStyleLbl="node1" presStyleIdx="0" presStyleCnt="4">
        <dgm:presLayoutVars>
          <dgm:chMax val="0"/>
          <dgm:bulletEnabled val="1"/>
        </dgm:presLayoutVars>
      </dgm:prSet>
      <dgm:spPr/>
    </dgm:pt>
    <dgm:pt modelId="{B0A160A5-D7E5-474A-B88C-84E21E4043F4}" type="pres">
      <dgm:prSet presAssocID="{6E6B1D1A-0522-4283-BDE6-A90F1FFEEC4A}" presName="spacer" presStyleCnt="0"/>
      <dgm:spPr/>
    </dgm:pt>
    <dgm:pt modelId="{4921EA77-C272-478D-AA92-7867A6456BB9}" type="pres">
      <dgm:prSet presAssocID="{A451201E-D9B6-4BA1-9FF9-AB74EF277D85}" presName="parentText" presStyleLbl="node1" presStyleIdx="1" presStyleCnt="4">
        <dgm:presLayoutVars>
          <dgm:chMax val="0"/>
          <dgm:bulletEnabled val="1"/>
        </dgm:presLayoutVars>
      </dgm:prSet>
      <dgm:spPr/>
    </dgm:pt>
    <dgm:pt modelId="{C0C528A4-FF5A-4BE3-A3FD-20F32F92E90E}" type="pres">
      <dgm:prSet presAssocID="{1F5A15D5-8C47-45F4-9F36-859BAD346CB6}" presName="spacer" presStyleCnt="0"/>
      <dgm:spPr/>
    </dgm:pt>
    <dgm:pt modelId="{41130CD7-69B2-4A46-9D82-1B2FB5BBD491}" type="pres">
      <dgm:prSet presAssocID="{A466CF38-0041-4398-B097-09CF15BE024F}" presName="parentText" presStyleLbl="node1" presStyleIdx="2" presStyleCnt="4">
        <dgm:presLayoutVars>
          <dgm:chMax val="0"/>
          <dgm:bulletEnabled val="1"/>
        </dgm:presLayoutVars>
      </dgm:prSet>
      <dgm:spPr/>
    </dgm:pt>
    <dgm:pt modelId="{92C3CE88-033C-4635-BAE5-0C1C467B8EF9}" type="pres">
      <dgm:prSet presAssocID="{1AC0A159-1040-423B-A3E3-8B8A32F585F7}" presName="spacer" presStyleCnt="0"/>
      <dgm:spPr/>
    </dgm:pt>
    <dgm:pt modelId="{69D90283-2CAD-4EDA-A81D-FFCCA26CD463}" type="pres">
      <dgm:prSet presAssocID="{17902B52-488D-491F-8955-C4A04FA9CD76}" presName="parentText" presStyleLbl="node1" presStyleIdx="3" presStyleCnt="4">
        <dgm:presLayoutVars>
          <dgm:chMax val="0"/>
          <dgm:bulletEnabled val="1"/>
        </dgm:presLayoutVars>
      </dgm:prSet>
      <dgm:spPr/>
    </dgm:pt>
  </dgm:ptLst>
  <dgm:cxnLst>
    <dgm:cxn modelId="{30310814-822E-44F4-AEC2-8B576C7A8FBC}" type="presOf" srcId="{A451201E-D9B6-4BA1-9FF9-AB74EF277D85}" destId="{4921EA77-C272-478D-AA92-7867A6456BB9}" srcOrd="0" destOrd="0" presId="urn:microsoft.com/office/officeart/2005/8/layout/vList2"/>
    <dgm:cxn modelId="{05348014-C526-433C-95B8-2BEB35562D50}" srcId="{0417B65C-EEB5-4071-85C5-63FF1C24611C}" destId="{17902B52-488D-491F-8955-C4A04FA9CD76}" srcOrd="3" destOrd="0" parTransId="{9EB4A3C2-9BB9-4CE5-94D8-C9A4A6EE9B39}" sibTransId="{1752AB39-ED7E-415D-9BC0-70DA78470401}"/>
    <dgm:cxn modelId="{CF0B471E-A98C-4875-8D29-0A2038861B56}" type="presOf" srcId="{0417B65C-EEB5-4071-85C5-63FF1C24611C}" destId="{25C97D0B-125F-4412-85F4-24DE912BE930}" srcOrd="0" destOrd="0" presId="urn:microsoft.com/office/officeart/2005/8/layout/vList2"/>
    <dgm:cxn modelId="{0ECA7E67-2403-40EA-81FC-855CD1C8123A}" type="presOf" srcId="{2A139E6F-6B1F-40F6-9679-094271DDBF49}" destId="{A25B1200-DD5D-4B5D-B0AB-0D083F0897E6}" srcOrd="0" destOrd="0" presId="urn:microsoft.com/office/officeart/2005/8/layout/vList2"/>
    <dgm:cxn modelId="{E290456B-AED8-47B3-9E3F-68F71D384DD5}" srcId="{0417B65C-EEB5-4071-85C5-63FF1C24611C}" destId="{2A139E6F-6B1F-40F6-9679-094271DDBF49}" srcOrd="0" destOrd="0" parTransId="{3B51A5C6-F374-42D3-87C9-698C9C7E4C13}" sibTransId="{6E6B1D1A-0522-4283-BDE6-A90F1FFEEC4A}"/>
    <dgm:cxn modelId="{A7E6517B-CD78-4842-8103-21616FEC6832}" srcId="{0417B65C-EEB5-4071-85C5-63FF1C24611C}" destId="{A451201E-D9B6-4BA1-9FF9-AB74EF277D85}" srcOrd="1" destOrd="0" parTransId="{C55358B8-23B8-4229-BE2B-D683672DA8AF}" sibTransId="{1F5A15D5-8C47-45F4-9F36-859BAD346CB6}"/>
    <dgm:cxn modelId="{B6BD138A-B7C6-44E1-AF23-8BE172AECD8F}" type="presOf" srcId="{A466CF38-0041-4398-B097-09CF15BE024F}" destId="{41130CD7-69B2-4A46-9D82-1B2FB5BBD491}" srcOrd="0" destOrd="0" presId="urn:microsoft.com/office/officeart/2005/8/layout/vList2"/>
    <dgm:cxn modelId="{D8AF65A3-24AD-4D25-8C96-FB03F8284037}" type="presOf" srcId="{17902B52-488D-491F-8955-C4A04FA9CD76}" destId="{69D90283-2CAD-4EDA-A81D-FFCCA26CD463}" srcOrd="0" destOrd="0" presId="urn:microsoft.com/office/officeart/2005/8/layout/vList2"/>
    <dgm:cxn modelId="{DCDEF7BC-3685-41D3-A398-8B7DB24748A2}" srcId="{0417B65C-EEB5-4071-85C5-63FF1C24611C}" destId="{A466CF38-0041-4398-B097-09CF15BE024F}" srcOrd="2" destOrd="0" parTransId="{E834D157-FF0F-4A46-AF53-46DE42152FBD}" sibTransId="{1AC0A159-1040-423B-A3E3-8B8A32F585F7}"/>
    <dgm:cxn modelId="{4FEACF3C-4D62-4FD6-ABA7-5212037147E0}" type="presParOf" srcId="{25C97D0B-125F-4412-85F4-24DE912BE930}" destId="{A25B1200-DD5D-4B5D-B0AB-0D083F0897E6}" srcOrd="0" destOrd="0" presId="urn:microsoft.com/office/officeart/2005/8/layout/vList2"/>
    <dgm:cxn modelId="{67274CAE-10FC-4AB9-9E5F-C6B39FDEDE1D}" type="presParOf" srcId="{25C97D0B-125F-4412-85F4-24DE912BE930}" destId="{B0A160A5-D7E5-474A-B88C-84E21E4043F4}" srcOrd="1" destOrd="0" presId="urn:microsoft.com/office/officeart/2005/8/layout/vList2"/>
    <dgm:cxn modelId="{3DB9F2C6-969E-4944-BACF-FD60DAEC4856}" type="presParOf" srcId="{25C97D0B-125F-4412-85F4-24DE912BE930}" destId="{4921EA77-C272-478D-AA92-7867A6456BB9}" srcOrd="2" destOrd="0" presId="urn:microsoft.com/office/officeart/2005/8/layout/vList2"/>
    <dgm:cxn modelId="{A25C9440-08F0-4399-B7BE-4659063ED025}" type="presParOf" srcId="{25C97D0B-125F-4412-85F4-24DE912BE930}" destId="{C0C528A4-FF5A-4BE3-A3FD-20F32F92E90E}" srcOrd="3" destOrd="0" presId="urn:microsoft.com/office/officeart/2005/8/layout/vList2"/>
    <dgm:cxn modelId="{2EE0A552-D813-41DD-B89C-E6F5D9F1A5B9}" type="presParOf" srcId="{25C97D0B-125F-4412-85F4-24DE912BE930}" destId="{41130CD7-69B2-4A46-9D82-1B2FB5BBD491}" srcOrd="4" destOrd="0" presId="urn:microsoft.com/office/officeart/2005/8/layout/vList2"/>
    <dgm:cxn modelId="{DF68B8FD-EBF7-49BE-B4E7-2E905C20FFEC}" type="presParOf" srcId="{25C97D0B-125F-4412-85F4-24DE912BE930}" destId="{92C3CE88-033C-4635-BAE5-0C1C467B8EF9}" srcOrd="5" destOrd="0" presId="urn:microsoft.com/office/officeart/2005/8/layout/vList2"/>
    <dgm:cxn modelId="{2735FB8D-1EF3-4CDE-B3FC-1172144091E1}" type="presParOf" srcId="{25C97D0B-125F-4412-85F4-24DE912BE930}" destId="{69D90283-2CAD-4EDA-A81D-FFCCA26CD46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A7255D-7995-4C49-9852-464190BC74F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fr-CM"/>
        </a:p>
      </dgm:t>
    </dgm:pt>
    <dgm:pt modelId="{1938FC34-3B74-40A0-9D36-4273AFA8B282}">
      <dgm:prSet phldrT="[Texte]"/>
      <dgm:spPr/>
      <dgm:t>
        <a:bodyPr/>
        <a:lstStyle/>
        <a:p>
          <a:r>
            <a:rPr lang="en-US" u="none" strike="noStrike" cap="none" spc="0">
              <a:latin typeface="Times New Roman"/>
            </a:rPr>
            <a:t>Import Libraries and Load Data</a:t>
          </a:r>
          <a:endParaRPr lang="fr-CM" dirty="0"/>
        </a:p>
      </dgm:t>
    </dgm:pt>
    <dgm:pt modelId="{23C68315-E5B9-4472-A3E8-C6C46478ACB2}" type="sibTrans" cxnId="{01A13F0E-4846-4DAE-91E5-B1D7849EBC4F}">
      <dgm:prSet/>
      <dgm:spPr/>
      <dgm:t>
        <a:bodyPr/>
        <a:lstStyle/>
        <a:p>
          <a:endParaRPr lang="fr-CM"/>
        </a:p>
      </dgm:t>
    </dgm:pt>
    <dgm:pt modelId="{A60ADD17-9D8E-4A69-BF99-9799C608F516}" type="parTrans" cxnId="{01A13F0E-4846-4DAE-91E5-B1D7849EBC4F}">
      <dgm:prSet/>
      <dgm:spPr/>
      <dgm:t>
        <a:bodyPr/>
        <a:lstStyle/>
        <a:p>
          <a:endParaRPr lang="fr-CM"/>
        </a:p>
      </dgm:t>
    </dgm:pt>
    <dgm:pt modelId="{99321E0D-EF94-4D02-B6A2-C26606E4FE63}">
      <dgm:prSet phldrT="[Texte]"/>
      <dgm:spPr/>
      <dgm:t>
        <a:bodyPr/>
        <a:lstStyle/>
        <a:p>
          <a:r>
            <a:rPr lang="en-US" u="none" strike="noStrike" cap="none" spc="0">
              <a:latin typeface="Times New Roman"/>
            </a:rPr>
            <a:t>Check for Missing Values</a:t>
          </a:r>
          <a:endParaRPr lang="fr-CM" dirty="0"/>
        </a:p>
      </dgm:t>
    </dgm:pt>
    <dgm:pt modelId="{285C6542-7AFE-4E92-87CB-94F92D463AF2}" type="sibTrans" cxnId="{F7118350-6B37-44D7-9DB7-DA40AE474BCB}">
      <dgm:prSet/>
      <dgm:spPr/>
      <dgm:t>
        <a:bodyPr/>
        <a:lstStyle/>
        <a:p>
          <a:endParaRPr lang="fr-CM"/>
        </a:p>
      </dgm:t>
    </dgm:pt>
    <dgm:pt modelId="{A72E8004-7E82-43AE-B2AA-08E3B6ED6D21}" type="parTrans" cxnId="{F7118350-6B37-44D7-9DB7-DA40AE474BCB}">
      <dgm:prSet/>
      <dgm:spPr/>
      <dgm:t>
        <a:bodyPr/>
        <a:lstStyle/>
        <a:p>
          <a:endParaRPr lang="fr-CM"/>
        </a:p>
      </dgm:t>
    </dgm:pt>
    <dgm:pt modelId="{1B25768A-C4AF-4FB1-8097-34F17F8DA71A}">
      <dgm:prSet/>
      <dgm:spPr/>
      <dgm:t>
        <a:bodyPr/>
        <a:lstStyle/>
        <a:p>
          <a:r>
            <a:rPr lang="en-US" u="none" strike="noStrike" cap="none" spc="0" dirty="0">
              <a:latin typeface="Times New Roman"/>
            </a:rPr>
            <a:t>Check for Duplicates and Remove Them</a:t>
          </a:r>
          <a:endParaRPr lang="fr-CM" dirty="0"/>
        </a:p>
      </dgm:t>
    </dgm:pt>
    <dgm:pt modelId="{97B85F08-90E7-49A7-B376-2D0BE16FF5B4}" type="parTrans" cxnId="{65E0AD31-55DC-4890-A292-BB3F8FC63BC9}">
      <dgm:prSet/>
      <dgm:spPr/>
      <dgm:t>
        <a:bodyPr/>
        <a:lstStyle/>
        <a:p>
          <a:endParaRPr lang="fr-CM"/>
        </a:p>
      </dgm:t>
    </dgm:pt>
    <dgm:pt modelId="{89517D20-8606-4CB1-A06B-7AF4E5DB79CA}" type="sibTrans" cxnId="{65E0AD31-55DC-4890-A292-BB3F8FC63BC9}">
      <dgm:prSet/>
      <dgm:spPr/>
      <dgm:t>
        <a:bodyPr/>
        <a:lstStyle/>
        <a:p>
          <a:endParaRPr lang="fr-CM"/>
        </a:p>
      </dgm:t>
    </dgm:pt>
    <dgm:pt modelId="{4C7B4E3F-33A9-4BD1-BA7D-22F78542344D}">
      <dgm:prSet/>
      <dgm:spPr/>
      <dgm:t>
        <a:bodyPr/>
        <a:lstStyle/>
        <a:p>
          <a:r>
            <a:rPr lang="en-US" u="none" strike="noStrike" cap="none" spc="0" dirty="0">
              <a:latin typeface="Times New Roman"/>
            </a:rPr>
            <a:t>Save the cleaned data</a:t>
          </a:r>
          <a:endParaRPr lang="fr-CM" dirty="0"/>
        </a:p>
      </dgm:t>
    </dgm:pt>
    <dgm:pt modelId="{5F0ADA9C-2B7A-4DB2-A1DA-63FFA4AC38A6}" type="parTrans" cxnId="{165E8DE5-D1D7-45E8-A755-7D94317F9A4D}">
      <dgm:prSet/>
      <dgm:spPr/>
      <dgm:t>
        <a:bodyPr/>
        <a:lstStyle/>
        <a:p>
          <a:endParaRPr lang="fr-CM"/>
        </a:p>
      </dgm:t>
    </dgm:pt>
    <dgm:pt modelId="{5E2AEF51-99C4-4D33-A7B4-59FD25B9422C}" type="sibTrans" cxnId="{165E8DE5-D1D7-45E8-A755-7D94317F9A4D}">
      <dgm:prSet/>
      <dgm:spPr/>
      <dgm:t>
        <a:bodyPr/>
        <a:lstStyle/>
        <a:p>
          <a:endParaRPr lang="fr-CM"/>
        </a:p>
      </dgm:t>
    </dgm:pt>
    <dgm:pt modelId="{F8197C0D-0B13-401A-B16C-F5A961C93E91}">
      <dgm:prSet/>
      <dgm:spPr/>
      <dgm:t>
        <a:bodyPr/>
        <a:lstStyle/>
        <a:p>
          <a:r>
            <a:rPr lang="fr-CM" b="0" i="0" dirty="0"/>
            <a:t>Data Transformation and </a:t>
          </a:r>
          <a:r>
            <a:rPr lang="fr-CM" b="0" i="0" dirty="0" err="1"/>
            <a:t>Typing</a:t>
          </a:r>
          <a:endParaRPr lang="fr-CM" b="0" dirty="0"/>
        </a:p>
      </dgm:t>
    </dgm:pt>
    <dgm:pt modelId="{D72EBBC5-DA6D-492F-A40F-F25983042FE6}" type="parTrans" cxnId="{F2B01658-0047-4085-9286-1D28453ACD4B}">
      <dgm:prSet/>
      <dgm:spPr/>
      <dgm:t>
        <a:bodyPr/>
        <a:lstStyle/>
        <a:p>
          <a:endParaRPr lang="en-GB"/>
        </a:p>
      </dgm:t>
    </dgm:pt>
    <dgm:pt modelId="{182D2B17-66F8-4446-A55E-8D48B4C991EF}" type="sibTrans" cxnId="{F2B01658-0047-4085-9286-1D28453ACD4B}">
      <dgm:prSet/>
      <dgm:spPr/>
      <dgm:t>
        <a:bodyPr/>
        <a:lstStyle/>
        <a:p>
          <a:endParaRPr lang="en-GB"/>
        </a:p>
      </dgm:t>
    </dgm:pt>
    <dgm:pt modelId="{ABA316C8-FC12-42D0-9FD6-E05D101FC121}" type="pres">
      <dgm:prSet presAssocID="{50A7255D-7995-4C49-9852-464190BC74FD}" presName="linear" presStyleCnt="0">
        <dgm:presLayoutVars>
          <dgm:dir/>
          <dgm:animLvl val="lvl"/>
          <dgm:resizeHandles val="exact"/>
        </dgm:presLayoutVars>
      </dgm:prSet>
      <dgm:spPr/>
    </dgm:pt>
    <dgm:pt modelId="{37FFA085-02A5-42A7-92F1-DFE90E4061F5}" type="pres">
      <dgm:prSet presAssocID="{1938FC34-3B74-40A0-9D36-4273AFA8B282}" presName="parentLin" presStyleCnt="0"/>
      <dgm:spPr/>
    </dgm:pt>
    <dgm:pt modelId="{D708913E-905F-45B2-BA53-332433ED1BBC}" type="pres">
      <dgm:prSet presAssocID="{1938FC34-3B74-40A0-9D36-4273AFA8B282}" presName="parentLeftMargin" presStyleLbl="node1" presStyleIdx="0" presStyleCnt="5"/>
      <dgm:spPr/>
    </dgm:pt>
    <dgm:pt modelId="{0932D48A-6A72-4BB3-AB9A-D2BE5A3F8CD0}" type="pres">
      <dgm:prSet presAssocID="{1938FC34-3B74-40A0-9D36-4273AFA8B282}" presName="parentText" presStyleLbl="node1" presStyleIdx="0" presStyleCnt="5">
        <dgm:presLayoutVars>
          <dgm:chMax val="0"/>
          <dgm:bulletEnabled val="1"/>
        </dgm:presLayoutVars>
      </dgm:prSet>
      <dgm:spPr/>
    </dgm:pt>
    <dgm:pt modelId="{A318BCEB-DE96-49BC-999D-5800401B56D5}" type="pres">
      <dgm:prSet presAssocID="{1938FC34-3B74-40A0-9D36-4273AFA8B282}" presName="negativeSpace" presStyleCnt="0"/>
      <dgm:spPr/>
    </dgm:pt>
    <dgm:pt modelId="{DE110D74-1DDB-4799-90D8-5D4EDD2DD5BF}" type="pres">
      <dgm:prSet presAssocID="{1938FC34-3B74-40A0-9D36-4273AFA8B282}" presName="childText" presStyleLbl="conFgAcc1" presStyleIdx="0" presStyleCnt="5">
        <dgm:presLayoutVars>
          <dgm:bulletEnabled val="1"/>
        </dgm:presLayoutVars>
      </dgm:prSet>
      <dgm:spPr/>
    </dgm:pt>
    <dgm:pt modelId="{40343851-922E-413B-A9ED-4B8BF7A8033A}" type="pres">
      <dgm:prSet presAssocID="{23C68315-E5B9-4472-A3E8-C6C46478ACB2}" presName="spaceBetweenRectangles" presStyleCnt="0"/>
      <dgm:spPr/>
    </dgm:pt>
    <dgm:pt modelId="{081B4481-DEDE-4BB1-930C-D597B28ADAC2}" type="pres">
      <dgm:prSet presAssocID="{99321E0D-EF94-4D02-B6A2-C26606E4FE63}" presName="parentLin" presStyleCnt="0"/>
      <dgm:spPr/>
    </dgm:pt>
    <dgm:pt modelId="{2C33FBD6-2AC0-4E9C-B71A-DCD958673E21}" type="pres">
      <dgm:prSet presAssocID="{99321E0D-EF94-4D02-B6A2-C26606E4FE63}" presName="parentLeftMargin" presStyleLbl="node1" presStyleIdx="0" presStyleCnt="5"/>
      <dgm:spPr/>
    </dgm:pt>
    <dgm:pt modelId="{879E65A5-8B5C-4F4F-91F9-19030F3608E4}" type="pres">
      <dgm:prSet presAssocID="{99321E0D-EF94-4D02-B6A2-C26606E4FE63}" presName="parentText" presStyleLbl="node1" presStyleIdx="1" presStyleCnt="5">
        <dgm:presLayoutVars>
          <dgm:chMax val="0"/>
          <dgm:bulletEnabled val="1"/>
        </dgm:presLayoutVars>
      </dgm:prSet>
      <dgm:spPr/>
    </dgm:pt>
    <dgm:pt modelId="{272F19A4-E675-45E6-8389-FCB5F55E49A6}" type="pres">
      <dgm:prSet presAssocID="{99321E0D-EF94-4D02-B6A2-C26606E4FE63}" presName="negativeSpace" presStyleCnt="0"/>
      <dgm:spPr/>
    </dgm:pt>
    <dgm:pt modelId="{62182C04-157B-4D56-BFA2-10AC75950512}" type="pres">
      <dgm:prSet presAssocID="{99321E0D-EF94-4D02-B6A2-C26606E4FE63}" presName="childText" presStyleLbl="conFgAcc1" presStyleIdx="1" presStyleCnt="5">
        <dgm:presLayoutVars>
          <dgm:bulletEnabled val="1"/>
        </dgm:presLayoutVars>
      </dgm:prSet>
      <dgm:spPr/>
    </dgm:pt>
    <dgm:pt modelId="{EF603E40-6335-458B-B4C9-F2B2C1677100}" type="pres">
      <dgm:prSet presAssocID="{285C6542-7AFE-4E92-87CB-94F92D463AF2}" presName="spaceBetweenRectangles" presStyleCnt="0"/>
      <dgm:spPr/>
    </dgm:pt>
    <dgm:pt modelId="{B2428331-F33F-4FE6-9B95-8B504263B27A}" type="pres">
      <dgm:prSet presAssocID="{1B25768A-C4AF-4FB1-8097-34F17F8DA71A}" presName="parentLin" presStyleCnt="0"/>
      <dgm:spPr/>
    </dgm:pt>
    <dgm:pt modelId="{C01406F7-3524-421D-9A58-0D3250E1C97F}" type="pres">
      <dgm:prSet presAssocID="{1B25768A-C4AF-4FB1-8097-34F17F8DA71A}" presName="parentLeftMargin" presStyleLbl="node1" presStyleIdx="1" presStyleCnt="5"/>
      <dgm:spPr/>
    </dgm:pt>
    <dgm:pt modelId="{60807458-05F2-46A3-948F-8D151EDCFC9E}" type="pres">
      <dgm:prSet presAssocID="{1B25768A-C4AF-4FB1-8097-34F17F8DA71A}" presName="parentText" presStyleLbl="node1" presStyleIdx="2" presStyleCnt="5">
        <dgm:presLayoutVars>
          <dgm:chMax val="0"/>
          <dgm:bulletEnabled val="1"/>
        </dgm:presLayoutVars>
      </dgm:prSet>
      <dgm:spPr/>
    </dgm:pt>
    <dgm:pt modelId="{BF6998E1-606C-4A32-8C01-C80C991ACFD6}" type="pres">
      <dgm:prSet presAssocID="{1B25768A-C4AF-4FB1-8097-34F17F8DA71A}" presName="negativeSpace" presStyleCnt="0"/>
      <dgm:spPr/>
    </dgm:pt>
    <dgm:pt modelId="{EFCB3F39-5148-419F-BFD0-EE63ED97AE66}" type="pres">
      <dgm:prSet presAssocID="{1B25768A-C4AF-4FB1-8097-34F17F8DA71A}" presName="childText" presStyleLbl="conFgAcc1" presStyleIdx="2" presStyleCnt="5">
        <dgm:presLayoutVars>
          <dgm:bulletEnabled val="1"/>
        </dgm:presLayoutVars>
      </dgm:prSet>
      <dgm:spPr/>
    </dgm:pt>
    <dgm:pt modelId="{228A443D-B378-4601-B0AC-9101E6C93887}" type="pres">
      <dgm:prSet presAssocID="{89517D20-8606-4CB1-A06B-7AF4E5DB79CA}" presName="spaceBetweenRectangles" presStyleCnt="0"/>
      <dgm:spPr/>
    </dgm:pt>
    <dgm:pt modelId="{2A27892D-31AE-47C8-9BEE-9FFC4D2EA1D8}" type="pres">
      <dgm:prSet presAssocID="{F8197C0D-0B13-401A-B16C-F5A961C93E91}" presName="parentLin" presStyleCnt="0"/>
      <dgm:spPr/>
    </dgm:pt>
    <dgm:pt modelId="{36FF6270-B8F0-4EC3-B80E-8AF9C67A1A58}" type="pres">
      <dgm:prSet presAssocID="{F8197C0D-0B13-401A-B16C-F5A961C93E91}" presName="parentLeftMargin" presStyleLbl="node1" presStyleIdx="2" presStyleCnt="5"/>
      <dgm:spPr/>
    </dgm:pt>
    <dgm:pt modelId="{5170EF33-8E76-499D-BB69-711A24ABB6E4}" type="pres">
      <dgm:prSet presAssocID="{F8197C0D-0B13-401A-B16C-F5A961C93E91}" presName="parentText" presStyleLbl="node1" presStyleIdx="3" presStyleCnt="5">
        <dgm:presLayoutVars>
          <dgm:chMax val="0"/>
          <dgm:bulletEnabled val="1"/>
        </dgm:presLayoutVars>
      </dgm:prSet>
      <dgm:spPr/>
    </dgm:pt>
    <dgm:pt modelId="{FDF078D3-E881-4B77-9865-B23EFD826ED9}" type="pres">
      <dgm:prSet presAssocID="{F8197C0D-0B13-401A-B16C-F5A961C93E91}" presName="negativeSpace" presStyleCnt="0"/>
      <dgm:spPr/>
    </dgm:pt>
    <dgm:pt modelId="{67016735-367E-424F-A157-7380BB7B1320}" type="pres">
      <dgm:prSet presAssocID="{F8197C0D-0B13-401A-B16C-F5A961C93E91}" presName="childText" presStyleLbl="conFgAcc1" presStyleIdx="3" presStyleCnt="5">
        <dgm:presLayoutVars>
          <dgm:bulletEnabled val="1"/>
        </dgm:presLayoutVars>
      </dgm:prSet>
      <dgm:spPr/>
    </dgm:pt>
    <dgm:pt modelId="{BAD5BD85-8B8B-417B-BB7F-951F3501BA3A}" type="pres">
      <dgm:prSet presAssocID="{182D2B17-66F8-4446-A55E-8D48B4C991EF}" presName="spaceBetweenRectangles" presStyleCnt="0"/>
      <dgm:spPr/>
    </dgm:pt>
    <dgm:pt modelId="{509DA857-60BD-4811-99B6-B0C46DE2798C}" type="pres">
      <dgm:prSet presAssocID="{4C7B4E3F-33A9-4BD1-BA7D-22F78542344D}" presName="parentLin" presStyleCnt="0"/>
      <dgm:spPr/>
    </dgm:pt>
    <dgm:pt modelId="{60CCB280-284B-4872-B539-5CC55B9913AD}" type="pres">
      <dgm:prSet presAssocID="{4C7B4E3F-33A9-4BD1-BA7D-22F78542344D}" presName="parentLeftMargin" presStyleLbl="node1" presStyleIdx="3" presStyleCnt="5"/>
      <dgm:spPr/>
    </dgm:pt>
    <dgm:pt modelId="{F67090D0-3FAA-4310-A211-DF62CF6E055D}" type="pres">
      <dgm:prSet presAssocID="{4C7B4E3F-33A9-4BD1-BA7D-22F78542344D}" presName="parentText" presStyleLbl="node1" presStyleIdx="4" presStyleCnt="5">
        <dgm:presLayoutVars>
          <dgm:chMax val="0"/>
          <dgm:bulletEnabled val="1"/>
        </dgm:presLayoutVars>
      </dgm:prSet>
      <dgm:spPr/>
    </dgm:pt>
    <dgm:pt modelId="{6793BFB4-D10D-4977-841F-C9FEA9684F26}" type="pres">
      <dgm:prSet presAssocID="{4C7B4E3F-33A9-4BD1-BA7D-22F78542344D}" presName="negativeSpace" presStyleCnt="0"/>
      <dgm:spPr/>
    </dgm:pt>
    <dgm:pt modelId="{A1581FFD-E384-43AD-B5DD-202DD6067C2B}" type="pres">
      <dgm:prSet presAssocID="{4C7B4E3F-33A9-4BD1-BA7D-22F78542344D}" presName="childText" presStyleLbl="conFgAcc1" presStyleIdx="4" presStyleCnt="5">
        <dgm:presLayoutVars>
          <dgm:bulletEnabled val="1"/>
        </dgm:presLayoutVars>
      </dgm:prSet>
      <dgm:spPr/>
    </dgm:pt>
  </dgm:ptLst>
  <dgm:cxnLst>
    <dgm:cxn modelId="{01A13F0E-4846-4DAE-91E5-B1D7849EBC4F}" srcId="{50A7255D-7995-4C49-9852-464190BC74FD}" destId="{1938FC34-3B74-40A0-9D36-4273AFA8B282}" srcOrd="0" destOrd="0" parTransId="{A60ADD17-9D8E-4A69-BF99-9799C608F516}" sibTransId="{23C68315-E5B9-4472-A3E8-C6C46478ACB2}"/>
    <dgm:cxn modelId="{21AD6610-61DA-49DF-AAEB-1C5FCAB1B60C}" type="presOf" srcId="{50A7255D-7995-4C49-9852-464190BC74FD}" destId="{ABA316C8-FC12-42D0-9FD6-E05D101FC121}" srcOrd="0" destOrd="0" presId="urn:microsoft.com/office/officeart/2005/8/layout/list1"/>
    <dgm:cxn modelId="{951AE51A-460D-4E13-B100-ED03608D6275}" type="presOf" srcId="{4C7B4E3F-33A9-4BD1-BA7D-22F78542344D}" destId="{F67090D0-3FAA-4310-A211-DF62CF6E055D}" srcOrd="1" destOrd="0" presId="urn:microsoft.com/office/officeart/2005/8/layout/list1"/>
    <dgm:cxn modelId="{65E0AD31-55DC-4890-A292-BB3F8FC63BC9}" srcId="{50A7255D-7995-4C49-9852-464190BC74FD}" destId="{1B25768A-C4AF-4FB1-8097-34F17F8DA71A}" srcOrd="2" destOrd="0" parTransId="{97B85F08-90E7-49A7-B376-2D0BE16FF5B4}" sibTransId="{89517D20-8606-4CB1-A06B-7AF4E5DB79CA}"/>
    <dgm:cxn modelId="{9419FE39-A11A-4C06-A271-8427F7B514D9}" type="presOf" srcId="{99321E0D-EF94-4D02-B6A2-C26606E4FE63}" destId="{2C33FBD6-2AC0-4E9C-B71A-DCD958673E21}" srcOrd="0" destOrd="0" presId="urn:microsoft.com/office/officeart/2005/8/layout/list1"/>
    <dgm:cxn modelId="{E6D89C46-2862-4443-83C0-1122CF5ED21F}" type="presOf" srcId="{99321E0D-EF94-4D02-B6A2-C26606E4FE63}" destId="{879E65A5-8B5C-4F4F-91F9-19030F3608E4}" srcOrd="1" destOrd="0" presId="urn:microsoft.com/office/officeart/2005/8/layout/list1"/>
    <dgm:cxn modelId="{032FE746-9FE7-4367-9682-A9095870804C}" type="presOf" srcId="{1938FC34-3B74-40A0-9D36-4273AFA8B282}" destId="{D708913E-905F-45B2-BA53-332433ED1BBC}" srcOrd="0" destOrd="0" presId="urn:microsoft.com/office/officeart/2005/8/layout/list1"/>
    <dgm:cxn modelId="{C732D84B-32E0-4FC5-AA73-3791FE722916}" type="presOf" srcId="{1B25768A-C4AF-4FB1-8097-34F17F8DA71A}" destId="{60807458-05F2-46A3-948F-8D151EDCFC9E}" srcOrd="1" destOrd="0" presId="urn:microsoft.com/office/officeart/2005/8/layout/list1"/>
    <dgm:cxn modelId="{F7118350-6B37-44D7-9DB7-DA40AE474BCB}" srcId="{50A7255D-7995-4C49-9852-464190BC74FD}" destId="{99321E0D-EF94-4D02-B6A2-C26606E4FE63}" srcOrd="1" destOrd="0" parTransId="{A72E8004-7E82-43AE-B2AA-08E3B6ED6D21}" sibTransId="{285C6542-7AFE-4E92-87CB-94F92D463AF2}"/>
    <dgm:cxn modelId="{F2B01658-0047-4085-9286-1D28453ACD4B}" srcId="{50A7255D-7995-4C49-9852-464190BC74FD}" destId="{F8197C0D-0B13-401A-B16C-F5A961C93E91}" srcOrd="3" destOrd="0" parTransId="{D72EBBC5-DA6D-492F-A40F-F25983042FE6}" sibTransId="{182D2B17-66F8-4446-A55E-8D48B4C991EF}"/>
    <dgm:cxn modelId="{DE6787DB-62CB-4C2D-8AF2-CA2CA60B7E81}" type="presOf" srcId="{1938FC34-3B74-40A0-9D36-4273AFA8B282}" destId="{0932D48A-6A72-4BB3-AB9A-D2BE5A3F8CD0}" srcOrd="1" destOrd="0" presId="urn:microsoft.com/office/officeart/2005/8/layout/list1"/>
    <dgm:cxn modelId="{165E8DE5-D1D7-45E8-A755-7D94317F9A4D}" srcId="{50A7255D-7995-4C49-9852-464190BC74FD}" destId="{4C7B4E3F-33A9-4BD1-BA7D-22F78542344D}" srcOrd="4" destOrd="0" parTransId="{5F0ADA9C-2B7A-4DB2-A1DA-63FFA4AC38A6}" sibTransId="{5E2AEF51-99C4-4D33-A7B4-59FD25B9422C}"/>
    <dgm:cxn modelId="{F2FCB0E6-9B1F-4F63-B128-06D04D6CAD92}" type="presOf" srcId="{1B25768A-C4AF-4FB1-8097-34F17F8DA71A}" destId="{C01406F7-3524-421D-9A58-0D3250E1C97F}" srcOrd="0" destOrd="0" presId="urn:microsoft.com/office/officeart/2005/8/layout/list1"/>
    <dgm:cxn modelId="{DCEC0EE9-DB6D-49B4-888F-756B81CFAE0A}" type="presOf" srcId="{4C7B4E3F-33A9-4BD1-BA7D-22F78542344D}" destId="{60CCB280-284B-4872-B539-5CC55B9913AD}" srcOrd="0" destOrd="0" presId="urn:microsoft.com/office/officeart/2005/8/layout/list1"/>
    <dgm:cxn modelId="{2707A8F1-32F9-4A22-A773-40B8B191D832}" type="presOf" srcId="{F8197C0D-0B13-401A-B16C-F5A961C93E91}" destId="{36FF6270-B8F0-4EC3-B80E-8AF9C67A1A58}" srcOrd="0" destOrd="0" presId="urn:microsoft.com/office/officeart/2005/8/layout/list1"/>
    <dgm:cxn modelId="{FFD589F9-8DD3-462B-86C9-478AD623F407}" type="presOf" srcId="{F8197C0D-0B13-401A-B16C-F5A961C93E91}" destId="{5170EF33-8E76-499D-BB69-711A24ABB6E4}" srcOrd="1" destOrd="0" presId="urn:microsoft.com/office/officeart/2005/8/layout/list1"/>
    <dgm:cxn modelId="{D524A29C-AAE7-4DEF-AE76-136AE1951768}" type="presParOf" srcId="{ABA316C8-FC12-42D0-9FD6-E05D101FC121}" destId="{37FFA085-02A5-42A7-92F1-DFE90E4061F5}" srcOrd="0" destOrd="0" presId="urn:microsoft.com/office/officeart/2005/8/layout/list1"/>
    <dgm:cxn modelId="{58A1DA17-7021-403F-9BA6-8CBF81E69B7D}" type="presParOf" srcId="{37FFA085-02A5-42A7-92F1-DFE90E4061F5}" destId="{D708913E-905F-45B2-BA53-332433ED1BBC}" srcOrd="0" destOrd="0" presId="urn:microsoft.com/office/officeart/2005/8/layout/list1"/>
    <dgm:cxn modelId="{5692D321-CDA8-49CA-86FA-24AE56E64C7B}" type="presParOf" srcId="{37FFA085-02A5-42A7-92F1-DFE90E4061F5}" destId="{0932D48A-6A72-4BB3-AB9A-D2BE5A3F8CD0}" srcOrd="1" destOrd="0" presId="urn:microsoft.com/office/officeart/2005/8/layout/list1"/>
    <dgm:cxn modelId="{0EE4C714-FD27-4112-8ADF-E9F043484173}" type="presParOf" srcId="{ABA316C8-FC12-42D0-9FD6-E05D101FC121}" destId="{A318BCEB-DE96-49BC-999D-5800401B56D5}" srcOrd="1" destOrd="0" presId="urn:microsoft.com/office/officeart/2005/8/layout/list1"/>
    <dgm:cxn modelId="{F96AFF03-5C72-4140-BFF5-4FE8B43E2DDC}" type="presParOf" srcId="{ABA316C8-FC12-42D0-9FD6-E05D101FC121}" destId="{DE110D74-1DDB-4799-90D8-5D4EDD2DD5BF}" srcOrd="2" destOrd="0" presId="urn:microsoft.com/office/officeart/2005/8/layout/list1"/>
    <dgm:cxn modelId="{B437C9D4-9007-4BC4-86EB-AEF80570E6D6}" type="presParOf" srcId="{ABA316C8-FC12-42D0-9FD6-E05D101FC121}" destId="{40343851-922E-413B-A9ED-4B8BF7A8033A}" srcOrd="3" destOrd="0" presId="urn:microsoft.com/office/officeart/2005/8/layout/list1"/>
    <dgm:cxn modelId="{31D115AC-100F-45D9-9E4F-4B976DC22209}" type="presParOf" srcId="{ABA316C8-FC12-42D0-9FD6-E05D101FC121}" destId="{081B4481-DEDE-4BB1-930C-D597B28ADAC2}" srcOrd="4" destOrd="0" presId="urn:microsoft.com/office/officeart/2005/8/layout/list1"/>
    <dgm:cxn modelId="{98504539-D22F-4EA9-9B62-BB6DF4619482}" type="presParOf" srcId="{081B4481-DEDE-4BB1-930C-D597B28ADAC2}" destId="{2C33FBD6-2AC0-4E9C-B71A-DCD958673E21}" srcOrd="0" destOrd="0" presId="urn:microsoft.com/office/officeart/2005/8/layout/list1"/>
    <dgm:cxn modelId="{266CB50B-DB9C-4085-B10D-BFCCD6A54C80}" type="presParOf" srcId="{081B4481-DEDE-4BB1-930C-D597B28ADAC2}" destId="{879E65A5-8B5C-4F4F-91F9-19030F3608E4}" srcOrd="1" destOrd="0" presId="urn:microsoft.com/office/officeart/2005/8/layout/list1"/>
    <dgm:cxn modelId="{94656A46-DCD0-40BD-85DD-D433BF1C9A3F}" type="presParOf" srcId="{ABA316C8-FC12-42D0-9FD6-E05D101FC121}" destId="{272F19A4-E675-45E6-8389-FCB5F55E49A6}" srcOrd="5" destOrd="0" presId="urn:microsoft.com/office/officeart/2005/8/layout/list1"/>
    <dgm:cxn modelId="{6A365AF3-5E86-4A0E-A714-4791CBA9DA68}" type="presParOf" srcId="{ABA316C8-FC12-42D0-9FD6-E05D101FC121}" destId="{62182C04-157B-4D56-BFA2-10AC75950512}" srcOrd="6" destOrd="0" presId="urn:microsoft.com/office/officeart/2005/8/layout/list1"/>
    <dgm:cxn modelId="{399670EE-5741-4FFB-A336-8B85BDBA196A}" type="presParOf" srcId="{ABA316C8-FC12-42D0-9FD6-E05D101FC121}" destId="{EF603E40-6335-458B-B4C9-F2B2C1677100}" srcOrd="7" destOrd="0" presId="urn:microsoft.com/office/officeart/2005/8/layout/list1"/>
    <dgm:cxn modelId="{2D873557-611A-404D-9497-25C98935CD2E}" type="presParOf" srcId="{ABA316C8-FC12-42D0-9FD6-E05D101FC121}" destId="{B2428331-F33F-4FE6-9B95-8B504263B27A}" srcOrd="8" destOrd="0" presId="urn:microsoft.com/office/officeart/2005/8/layout/list1"/>
    <dgm:cxn modelId="{607403AE-1E6E-471F-AE1A-082F15AC113B}" type="presParOf" srcId="{B2428331-F33F-4FE6-9B95-8B504263B27A}" destId="{C01406F7-3524-421D-9A58-0D3250E1C97F}" srcOrd="0" destOrd="0" presId="urn:microsoft.com/office/officeart/2005/8/layout/list1"/>
    <dgm:cxn modelId="{83C7E2B8-A8A5-464D-844F-0D7107A7C8B7}" type="presParOf" srcId="{B2428331-F33F-4FE6-9B95-8B504263B27A}" destId="{60807458-05F2-46A3-948F-8D151EDCFC9E}" srcOrd="1" destOrd="0" presId="urn:microsoft.com/office/officeart/2005/8/layout/list1"/>
    <dgm:cxn modelId="{313F82C2-551E-4FF3-8616-891489083F39}" type="presParOf" srcId="{ABA316C8-FC12-42D0-9FD6-E05D101FC121}" destId="{BF6998E1-606C-4A32-8C01-C80C991ACFD6}" srcOrd="9" destOrd="0" presId="urn:microsoft.com/office/officeart/2005/8/layout/list1"/>
    <dgm:cxn modelId="{55B05D7F-221F-4A4C-8C53-591601B6D3C5}" type="presParOf" srcId="{ABA316C8-FC12-42D0-9FD6-E05D101FC121}" destId="{EFCB3F39-5148-419F-BFD0-EE63ED97AE66}" srcOrd="10" destOrd="0" presId="urn:microsoft.com/office/officeart/2005/8/layout/list1"/>
    <dgm:cxn modelId="{FFFD4527-B610-48D9-9F00-8632BA3D37BD}" type="presParOf" srcId="{ABA316C8-FC12-42D0-9FD6-E05D101FC121}" destId="{228A443D-B378-4601-B0AC-9101E6C93887}" srcOrd="11" destOrd="0" presId="urn:microsoft.com/office/officeart/2005/8/layout/list1"/>
    <dgm:cxn modelId="{D5FAB3A5-B365-4C7C-AAE2-DE48B38C4A67}" type="presParOf" srcId="{ABA316C8-FC12-42D0-9FD6-E05D101FC121}" destId="{2A27892D-31AE-47C8-9BEE-9FFC4D2EA1D8}" srcOrd="12" destOrd="0" presId="urn:microsoft.com/office/officeart/2005/8/layout/list1"/>
    <dgm:cxn modelId="{28739AD3-18CA-4BB0-A0B0-08B8E0EA8136}" type="presParOf" srcId="{2A27892D-31AE-47C8-9BEE-9FFC4D2EA1D8}" destId="{36FF6270-B8F0-4EC3-B80E-8AF9C67A1A58}" srcOrd="0" destOrd="0" presId="urn:microsoft.com/office/officeart/2005/8/layout/list1"/>
    <dgm:cxn modelId="{D741A6AE-7ECC-4546-8851-AB23328B3352}" type="presParOf" srcId="{2A27892D-31AE-47C8-9BEE-9FFC4D2EA1D8}" destId="{5170EF33-8E76-499D-BB69-711A24ABB6E4}" srcOrd="1" destOrd="0" presId="urn:microsoft.com/office/officeart/2005/8/layout/list1"/>
    <dgm:cxn modelId="{7DB5C31C-B2E7-40C6-8011-D908D99AD05D}" type="presParOf" srcId="{ABA316C8-FC12-42D0-9FD6-E05D101FC121}" destId="{FDF078D3-E881-4B77-9865-B23EFD826ED9}" srcOrd="13" destOrd="0" presId="urn:microsoft.com/office/officeart/2005/8/layout/list1"/>
    <dgm:cxn modelId="{A2E55C71-02C9-4AB2-9530-02969B9BBE39}" type="presParOf" srcId="{ABA316C8-FC12-42D0-9FD6-E05D101FC121}" destId="{67016735-367E-424F-A157-7380BB7B1320}" srcOrd="14" destOrd="0" presId="urn:microsoft.com/office/officeart/2005/8/layout/list1"/>
    <dgm:cxn modelId="{F97A3CE4-4C95-4B3E-A30C-940AB22B5B20}" type="presParOf" srcId="{ABA316C8-FC12-42D0-9FD6-E05D101FC121}" destId="{BAD5BD85-8B8B-417B-BB7F-951F3501BA3A}" srcOrd="15" destOrd="0" presId="urn:microsoft.com/office/officeart/2005/8/layout/list1"/>
    <dgm:cxn modelId="{0B0F0DE0-746E-4038-8710-A07887E8C765}" type="presParOf" srcId="{ABA316C8-FC12-42D0-9FD6-E05D101FC121}" destId="{509DA857-60BD-4811-99B6-B0C46DE2798C}" srcOrd="16" destOrd="0" presId="urn:microsoft.com/office/officeart/2005/8/layout/list1"/>
    <dgm:cxn modelId="{7EF0B084-41AD-4641-B2AB-ACABC7D33198}" type="presParOf" srcId="{509DA857-60BD-4811-99B6-B0C46DE2798C}" destId="{60CCB280-284B-4872-B539-5CC55B9913AD}" srcOrd="0" destOrd="0" presId="urn:microsoft.com/office/officeart/2005/8/layout/list1"/>
    <dgm:cxn modelId="{AFD67244-5599-48B1-933E-7EBD41917DBA}" type="presParOf" srcId="{509DA857-60BD-4811-99B6-B0C46DE2798C}" destId="{F67090D0-3FAA-4310-A211-DF62CF6E055D}" srcOrd="1" destOrd="0" presId="urn:microsoft.com/office/officeart/2005/8/layout/list1"/>
    <dgm:cxn modelId="{2F93118B-2F4D-4ABE-89CB-22CD9869BA8C}" type="presParOf" srcId="{ABA316C8-FC12-42D0-9FD6-E05D101FC121}" destId="{6793BFB4-D10D-4977-841F-C9FEA9684F26}" srcOrd="17" destOrd="0" presId="urn:microsoft.com/office/officeart/2005/8/layout/list1"/>
    <dgm:cxn modelId="{ED74710B-D9CE-44C1-96F0-93267E561922}" type="presParOf" srcId="{ABA316C8-FC12-42D0-9FD6-E05D101FC121}" destId="{A1581FFD-E384-43AD-B5DD-202DD6067C2B}"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CBFBD6-2F10-4962-A3B8-BDB84327655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EB4778DF-5946-48FB-8CB8-9786490CEB9F}">
      <dgm:prSet phldrT="[Texte]"/>
      <dgm:spPr/>
      <dgm:t>
        <a:bodyPr/>
        <a:lstStyle/>
        <a:p>
          <a:r>
            <a:rPr lang="en-US" u="none" strike="noStrike" cap="none" spc="0" dirty="0">
              <a:solidFill>
                <a:schemeClr val="bg1"/>
              </a:solidFill>
              <a:latin typeface="Times New Roman"/>
            </a:rPr>
            <a:t>Station and Mode Analysis</a:t>
          </a:r>
          <a:endParaRPr lang="en-GB" dirty="0">
            <a:solidFill>
              <a:schemeClr val="bg1"/>
            </a:solidFill>
          </a:endParaRPr>
        </a:p>
      </dgm:t>
    </dgm:pt>
    <dgm:pt modelId="{402B4E84-0BDD-4F67-9DEE-9135DD92A588}" type="parTrans" cxnId="{1D50CBC3-E913-46A3-B05C-76EC7B2AF899}">
      <dgm:prSet/>
      <dgm:spPr/>
      <dgm:t>
        <a:bodyPr/>
        <a:lstStyle/>
        <a:p>
          <a:endParaRPr lang="en-GB"/>
        </a:p>
      </dgm:t>
    </dgm:pt>
    <dgm:pt modelId="{1E81C7B4-EC57-4A9E-9A1B-7598D9EFD3FD}" type="sibTrans" cxnId="{1D50CBC3-E913-46A3-B05C-76EC7B2AF899}">
      <dgm:prSet/>
      <dgm:spPr/>
      <dgm:t>
        <a:bodyPr/>
        <a:lstStyle/>
        <a:p>
          <a:endParaRPr lang="en-GB"/>
        </a:p>
      </dgm:t>
    </dgm:pt>
    <dgm:pt modelId="{750323A7-2BEC-4DAC-AB7B-61B60CB6DC7D}">
      <dgm:prSet/>
      <dgm:spPr/>
      <dgm:t>
        <a:bodyPr/>
        <a:lstStyle/>
        <a:p>
          <a:r>
            <a:rPr lang="en-US" u="none" strike="noStrike" cap="none" spc="0" dirty="0">
              <a:solidFill>
                <a:srgbClr val="424242">
                  <a:alpha val="100000"/>
                </a:srgbClr>
              </a:solidFill>
              <a:latin typeface="Times New Roman"/>
            </a:rPr>
            <a:t>Stations and Their Characteristics: </a:t>
          </a:r>
        </a:p>
      </dgm:t>
    </dgm:pt>
    <dgm:pt modelId="{AD322717-7736-4EDC-A596-7B6C466F01ED}" type="parTrans" cxnId="{1FC089D7-3024-47F1-90F0-2760E883928E}">
      <dgm:prSet/>
      <dgm:spPr/>
      <dgm:t>
        <a:bodyPr/>
        <a:lstStyle/>
        <a:p>
          <a:endParaRPr lang="en-GB"/>
        </a:p>
      </dgm:t>
    </dgm:pt>
    <dgm:pt modelId="{4D5FACEF-0264-4736-98BE-58EF4C427F39}" type="sibTrans" cxnId="{1FC089D7-3024-47F1-90F0-2760E883928E}">
      <dgm:prSet/>
      <dgm:spPr/>
      <dgm:t>
        <a:bodyPr/>
        <a:lstStyle/>
        <a:p>
          <a:endParaRPr lang="en-GB"/>
        </a:p>
      </dgm:t>
    </dgm:pt>
    <dgm:pt modelId="{683DB92F-6C55-4712-A6DE-8E281B901665}">
      <dgm:prSet/>
      <dgm:spPr/>
      <dgm:t>
        <a:bodyPr/>
        <a:lstStyle/>
        <a:p>
          <a:r>
            <a:rPr lang="en-US" u="none" strike="noStrike" cap="none" spc="0" dirty="0">
              <a:solidFill>
                <a:srgbClr val="424242">
                  <a:alpha val="100000"/>
                </a:srgbClr>
              </a:solidFill>
              <a:latin typeface="Times New Roman"/>
            </a:rPr>
            <a:t>Transport Modes:</a:t>
          </a:r>
          <a:endParaRPr lang="en-US" dirty="0">
            <a:solidFill>
              <a:srgbClr val="424242">
                <a:alpha val="100000"/>
              </a:srgbClr>
            </a:solidFill>
            <a:latin typeface="Times New Roman"/>
          </a:endParaRPr>
        </a:p>
      </dgm:t>
    </dgm:pt>
    <dgm:pt modelId="{4671013B-C96B-4250-9938-30D811885D9C}" type="parTrans" cxnId="{3B8C8312-4158-4A61-B54F-F25F76F85245}">
      <dgm:prSet/>
      <dgm:spPr/>
      <dgm:t>
        <a:bodyPr/>
        <a:lstStyle/>
        <a:p>
          <a:endParaRPr lang="en-GB"/>
        </a:p>
      </dgm:t>
    </dgm:pt>
    <dgm:pt modelId="{6525EDA3-CCC1-400B-AE80-DA9C583B9DFB}" type="sibTrans" cxnId="{3B8C8312-4158-4A61-B54F-F25F76F85245}">
      <dgm:prSet/>
      <dgm:spPr/>
      <dgm:t>
        <a:bodyPr/>
        <a:lstStyle/>
        <a:p>
          <a:endParaRPr lang="en-GB"/>
        </a:p>
      </dgm:t>
    </dgm:pt>
    <dgm:pt modelId="{AAECC21F-A65D-4A30-8ADB-EF717755D37A}">
      <dgm:prSet/>
      <dgm:spPr/>
      <dgm:t>
        <a:bodyPr/>
        <a:lstStyle/>
        <a:p>
          <a:r>
            <a:rPr lang="en-US" u="none" strike="noStrike" cap="none" spc="0" dirty="0">
              <a:solidFill>
                <a:srgbClr val="424242">
                  <a:alpha val="100000"/>
                </a:srgbClr>
              </a:solidFill>
              <a:latin typeface="Times New Roman"/>
            </a:rPr>
            <a:t>Daily and Weekly Variations: </a:t>
          </a:r>
        </a:p>
      </dgm:t>
    </dgm:pt>
    <dgm:pt modelId="{3FB98C13-59C0-4B8E-8D81-E459400B2321}" type="parTrans" cxnId="{8EBCB8A8-C515-4692-AC0E-55411BB2ACCE}">
      <dgm:prSet/>
      <dgm:spPr/>
      <dgm:t>
        <a:bodyPr/>
        <a:lstStyle/>
        <a:p>
          <a:endParaRPr lang="en-GB"/>
        </a:p>
      </dgm:t>
    </dgm:pt>
    <dgm:pt modelId="{57C8EDAE-5C1E-4852-BA2E-1DC8AFAC7DF3}" type="sibTrans" cxnId="{8EBCB8A8-C515-4692-AC0E-55411BB2ACCE}">
      <dgm:prSet/>
      <dgm:spPr/>
      <dgm:t>
        <a:bodyPr/>
        <a:lstStyle/>
        <a:p>
          <a:endParaRPr lang="en-GB"/>
        </a:p>
      </dgm:t>
    </dgm:pt>
    <dgm:pt modelId="{5CC932B7-3A26-4995-AA1C-96F4762348AB}">
      <dgm:prSet/>
      <dgm:spPr/>
      <dgm:t>
        <a:bodyPr/>
        <a:lstStyle/>
        <a:p>
          <a:r>
            <a:rPr lang="en-US" u="none" strike="noStrike" cap="none" spc="0">
              <a:solidFill>
                <a:srgbClr val="424242">
                  <a:alpha val="100000"/>
                </a:srgbClr>
              </a:solidFill>
              <a:latin typeface="Times New Roman"/>
            </a:rPr>
            <a:t>Seasonal and Peak Times</a:t>
          </a:r>
          <a:endParaRPr lang="en-GB"/>
        </a:p>
      </dgm:t>
    </dgm:pt>
    <dgm:pt modelId="{C8D8FC15-ED7B-4A79-B444-B78B848CE97A}" type="parTrans" cxnId="{D409CE94-0900-4904-8305-E2F7093768DD}">
      <dgm:prSet/>
      <dgm:spPr/>
      <dgm:t>
        <a:bodyPr/>
        <a:lstStyle/>
        <a:p>
          <a:endParaRPr lang="en-GB"/>
        </a:p>
      </dgm:t>
    </dgm:pt>
    <dgm:pt modelId="{74DF02F2-9419-4870-A206-1699CAA64A79}" type="sibTrans" cxnId="{D409CE94-0900-4904-8305-E2F7093768DD}">
      <dgm:prSet/>
      <dgm:spPr/>
      <dgm:t>
        <a:bodyPr/>
        <a:lstStyle/>
        <a:p>
          <a:endParaRPr lang="en-GB"/>
        </a:p>
      </dgm:t>
    </dgm:pt>
    <dgm:pt modelId="{EF6744AC-7E2E-4FE4-B887-17BDB321D569}">
      <dgm:prSet/>
      <dgm:spPr/>
      <dgm:t>
        <a:bodyPr/>
        <a:lstStyle/>
        <a:p>
          <a:r>
            <a:rPr lang="en-US" u="none" strike="noStrike" cap="none" spc="0" dirty="0">
              <a:solidFill>
                <a:schemeClr val="bg1"/>
              </a:solidFill>
              <a:latin typeface="Times New Roman"/>
            </a:rPr>
            <a:t>Traffic Patterns and Temporal Analysis</a:t>
          </a:r>
          <a:endParaRPr lang="en-US" dirty="0">
            <a:solidFill>
              <a:schemeClr val="bg1"/>
            </a:solidFill>
            <a:latin typeface="Times New Roman"/>
          </a:endParaRPr>
        </a:p>
      </dgm:t>
    </dgm:pt>
    <dgm:pt modelId="{BFDB222D-558C-4488-83A7-83990AACEA8B}" type="parTrans" cxnId="{72E76828-1D56-4AA9-ABEA-13CAF0BA710C}">
      <dgm:prSet/>
      <dgm:spPr/>
      <dgm:t>
        <a:bodyPr/>
        <a:lstStyle/>
        <a:p>
          <a:endParaRPr lang="en-GB"/>
        </a:p>
      </dgm:t>
    </dgm:pt>
    <dgm:pt modelId="{66DD707A-BC90-49D3-846E-E510E5B4D1DC}" type="sibTrans" cxnId="{72E76828-1D56-4AA9-ABEA-13CAF0BA710C}">
      <dgm:prSet/>
      <dgm:spPr/>
      <dgm:t>
        <a:bodyPr/>
        <a:lstStyle/>
        <a:p>
          <a:endParaRPr lang="en-GB"/>
        </a:p>
      </dgm:t>
    </dgm:pt>
    <dgm:pt modelId="{2537C5E0-AD7F-4E22-977F-5372A44BE288}" type="pres">
      <dgm:prSet presAssocID="{F0CBFBD6-2F10-4962-A3B8-BDB84327655D}" presName="linear" presStyleCnt="0">
        <dgm:presLayoutVars>
          <dgm:animLvl val="lvl"/>
          <dgm:resizeHandles val="exact"/>
        </dgm:presLayoutVars>
      </dgm:prSet>
      <dgm:spPr/>
    </dgm:pt>
    <dgm:pt modelId="{F3925F24-0EF7-408A-AD52-81173B447AA1}" type="pres">
      <dgm:prSet presAssocID="{EB4778DF-5946-48FB-8CB8-9786490CEB9F}" presName="parentText" presStyleLbl="node1" presStyleIdx="0" presStyleCnt="2">
        <dgm:presLayoutVars>
          <dgm:chMax val="0"/>
          <dgm:bulletEnabled val="1"/>
        </dgm:presLayoutVars>
      </dgm:prSet>
      <dgm:spPr/>
    </dgm:pt>
    <dgm:pt modelId="{8BC06042-10AD-4FF3-B2CD-26DD4FB056BA}" type="pres">
      <dgm:prSet presAssocID="{EB4778DF-5946-48FB-8CB8-9786490CEB9F}" presName="childText" presStyleLbl="revTx" presStyleIdx="0" presStyleCnt="2">
        <dgm:presLayoutVars>
          <dgm:bulletEnabled val="1"/>
        </dgm:presLayoutVars>
      </dgm:prSet>
      <dgm:spPr/>
    </dgm:pt>
    <dgm:pt modelId="{63288FD0-B721-49AD-AE2C-9FA95723DE46}" type="pres">
      <dgm:prSet presAssocID="{EF6744AC-7E2E-4FE4-B887-17BDB321D569}" presName="parentText" presStyleLbl="node1" presStyleIdx="1" presStyleCnt="2">
        <dgm:presLayoutVars>
          <dgm:chMax val="0"/>
          <dgm:bulletEnabled val="1"/>
        </dgm:presLayoutVars>
      </dgm:prSet>
      <dgm:spPr/>
    </dgm:pt>
    <dgm:pt modelId="{389759A6-081F-4764-9F2C-20E2BD9C26E6}" type="pres">
      <dgm:prSet presAssocID="{EF6744AC-7E2E-4FE4-B887-17BDB321D569}" presName="childText" presStyleLbl="revTx" presStyleIdx="1" presStyleCnt="2">
        <dgm:presLayoutVars>
          <dgm:bulletEnabled val="1"/>
        </dgm:presLayoutVars>
      </dgm:prSet>
      <dgm:spPr/>
    </dgm:pt>
  </dgm:ptLst>
  <dgm:cxnLst>
    <dgm:cxn modelId="{4AD12E10-C3A9-42BD-8EA7-B13062007C02}" type="presOf" srcId="{683DB92F-6C55-4712-A6DE-8E281B901665}" destId="{8BC06042-10AD-4FF3-B2CD-26DD4FB056BA}" srcOrd="0" destOrd="1" presId="urn:microsoft.com/office/officeart/2005/8/layout/vList2"/>
    <dgm:cxn modelId="{3B8C8312-4158-4A61-B54F-F25F76F85245}" srcId="{EB4778DF-5946-48FB-8CB8-9786490CEB9F}" destId="{683DB92F-6C55-4712-A6DE-8E281B901665}" srcOrd="1" destOrd="0" parTransId="{4671013B-C96B-4250-9938-30D811885D9C}" sibTransId="{6525EDA3-CCC1-400B-AE80-DA9C583B9DFB}"/>
    <dgm:cxn modelId="{8C952C16-699B-4AE0-90FB-931688FC0920}" type="presOf" srcId="{F0CBFBD6-2F10-4962-A3B8-BDB84327655D}" destId="{2537C5E0-AD7F-4E22-977F-5372A44BE288}" srcOrd="0" destOrd="0" presId="urn:microsoft.com/office/officeart/2005/8/layout/vList2"/>
    <dgm:cxn modelId="{49A24318-73C0-4B55-85AB-2ECDDF2EFA32}" type="presOf" srcId="{AAECC21F-A65D-4A30-8ADB-EF717755D37A}" destId="{389759A6-081F-4764-9F2C-20E2BD9C26E6}" srcOrd="0" destOrd="0" presId="urn:microsoft.com/office/officeart/2005/8/layout/vList2"/>
    <dgm:cxn modelId="{72E76828-1D56-4AA9-ABEA-13CAF0BA710C}" srcId="{F0CBFBD6-2F10-4962-A3B8-BDB84327655D}" destId="{EF6744AC-7E2E-4FE4-B887-17BDB321D569}" srcOrd="1" destOrd="0" parTransId="{BFDB222D-558C-4488-83A7-83990AACEA8B}" sibTransId="{66DD707A-BC90-49D3-846E-E510E5B4D1DC}"/>
    <dgm:cxn modelId="{1DEB698D-072F-41C1-B087-332088A8497E}" type="presOf" srcId="{5CC932B7-3A26-4995-AA1C-96F4762348AB}" destId="{389759A6-081F-4764-9F2C-20E2BD9C26E6}" srcOrd="0" destOrd="1" presId="urn:microsoft.com/office/officeart/2005/8/layout/vList2"/>
    <dgm:cxn modelId="{5982F091-D9EB-44E6-BBE4-42ED46E9CC03}" type="presOf" srcId="{EB4778DF-5946-48FB-8CB8-9786490CEB9F}" destId="{F3925F24-0EF7-408A-AD52-81173B447AA1}" srcOrd="0" destOrd="0" presId="urn:microsoft.com/office/officeart/2005/8/layout/vList2"/>
    <dgm:cxn modelId="{D409CE94-0900-4904-8305-E2F7093768DD}" srcId="{EF6744AC-7E2E-4FE4-B887-17BDB321D569}" destId="{5CC932B7-3A26-4995-AA1C-96F4762348AB}" srcOrd="1" destOrd="0" parTransId="{C8D8FC15-ED7B-4A79-B444-B78B848CE97A}" sibTransId="{74DF02F2-9419-4870-A206-1699CAA64A79}"/>
    <dgm:cxn modelId="{8EBCB8A8-C515-4692-AC0E-55411BB2ACCE}" srcId="{EF6744AC-7E2E-4FE4-B887-17BDB321D569}" destId="{AAECC21F-A65D-4A30-8ADB-EF717755D37A}" srcOrd="0" destOrd="0" parTransId="{3FB98C13-59C0-4B8E-8D81-E459400B2321}" sibTransId="{57C8EDAE-5C1E-4852-BA2E-1DC8AFAC7DF3}"/>
    <dgm:cxn modelId="{1D50CBC3-E913-46A3-B05C-76EC7B2AF899}" srcId="{F0CBFBD6-2F10-4962-A3B8-BDB84327655D}" destId="{EB4778DF-5946-48FB-8CB8-9786490CEB9F}" srcOrd="0" destOrd="0" parTransId="{402B4E84-0BDD-4F67-9DEE-9135DD92A588}" sibTransId="{1E81C7B4-EC57-4A9E-9A1B-7598D9EFD3FD}"/>
    <dgm:cxn modelId="{1FC089D7-3024-47F1-90F0-2760E883928E}" srcId="{EB4778DF-5946-48FB-8CB8-9786490CEB9F}" destId="{750323A7-2BEC-4DAC-AB7B-61B60CB6DC7D}" srcOrd="0" destOrd="0" parTransId="{AD322717-7736-4EDC-A596-7B6C466F01ED}" sibTransId="{4D5FACEF-0264-4736-98BE-58EF4C427F39}"/>
    <dgm:cxn modelId="{A08521E3-0EBB-4672-A147-1CE1BF83FE9C}" type="presOf" srcId="{EF6744AC-7E2E-4FE4-B887-17BDB321D569}" destId="{63288FD0-B721-49AD-AE2C-9FA95723DE46}" srcOrd="0" destOrd="0" presId="urn:microsoft.com/office/officeart/2005/8/layout/vList2"/>
    <dgm:cxn modelId="{1D0458E7-7C21-4AAE-B5A2-640BBF10ECB0}" type="presOf" srcId="{750323A7-2BEC-4DAC-AB7B-61B60CB6DC7D}" destId="{8BC06042-10AD-4FF3-B2CD-26DD4FB056BA}" srcOrd="0" destOrd="0" presId="urn:microsoft.com/office/officeart/2005/8/layout/vList2"/>
    <dgm:cxn modelId="{BBCD7BD6-D597-4C96-B01C-BEABE5B366CE}" type="presParOf" srcId="{2537C5E0-AD7F-4E22-977F-5372A44BE288}" destId="{F3925F24-0EF7-408A-AD52-81173B447AA1}" srcOrd="0" destOrd="0" presId="urn:microsoft.com/office/officeart/2005/8/layout/vList2"/>
    <dgm:cxn modelId="{BF61BD58-4C9E-4ECC-92E8-FB249E1F01A2}" type="presParOf" srcId="{2537C5E0-AD7F-4E22-977F-5372A44BE288}" destId="{8BC06042-10AD-4FF3-B2CD-26DD4FB056BA}" srcOrd="1" destOrd="0" presId="urn:microsoft.com/office/officeart/2005/8/layout/vList2"/>
    <dgm:cxn modelId="{30F7EAA3-FF96-4B39-9ED9-EC8EBA981662}" type="presParOf" srcId="{2537C5E0-AD7F-4E22-977F-5372A44BE288}" destId="{63288FD0-B721-49AD-AE2C-9FA95723DE46}" srcOrd="2" destOrd="0" presId="urn:microsoft.com/office/officeart/2005/8/layout/vList2"/>
    <dgm:cxn modelId="{B2CF36E8-EDF7-41D8-B146-3200C57896B4}" type="presParOf" srcId="{2537C5E0-AD7F-4E22-977F-5372A44BE288}" destId="{389759A6-081F-4764-9F2C-20E2BD9C26E6}"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7C23A5D-9ADC-4B00-9ECE-312457A31FBA}" type="doc">
      <dgm:prSet loTypeId="urn:microsoft.com/office/officeart/2005/8/layout/hProcess9" loCatId="process" qsTypeId="urn:microsoft.com/office/officeart/2005/8/quickstyle/simple1" qsCatId="simple" csTypeId="urn:microsoft.com/office/officeart/2005/8/colors/accent1_2" csCatId="accent1" phldr="1"/>
      <dgm:spPr/>
    </dgm:pt>
    <dgm:pt modelId="{A1E27125-BC07-45CD-9805-FAFEAE078342}">
      <dgm:prSet phldrT="[Texte]"/>
      <dgm:spPr/>
      <dgm:t>
        <a:bodyPr/>
        <a:lstStyle/>
        <a:p>
          <a:r>
            <a:rPr lang="en-US" u="none" strike="noStrike" cap="none" spc="0" dirty="0">
              <a:solidFill>
                <a:schemeClr val="bg1"/>
              </a:solidFill>
              <a:latin typeface="Times New Roman"/>
            </a:rPr>
            <a:t>Inter-relationships and Correlations</a:t>
          </a:r>
          <a:endParaRPr lang="en-GB" dirty="0">
            <a:solidFill>
              <a:schemeClr val="bg1"/>
            </a:solidFill>
          </a:endParaRPr>
        </a:p>
      </dgm:t>
    </dgm:pt>
    <dgm:pt modelId="{A11431D0-4992-444A-9711-F40C6B0F1418}" type="parTrans" cxnId="{333513AC-0CA6-4BF2-BCDD-9B2E23966254}">
      <dgm:prSet/>
      <dgm:spPr/>
      <dgm:t>
        <a:bodyPr/>
        <a:lstStyle/>
        <a:p>
          <a:endParaRPr lang="en-GB"/>
        </a:p>
      </dgm:t>
    </dgm:pt>
    <dgm:pt modelId="{929CB09D-4BF6-44DE-B67C-B1AE93B53F9E}" type="sibTrans" cxnId="{333513AC-0CA6-4BF2-BCDD-9B2E23966254}">
      <dgm:prSet/>
      <dgm:spPr/>
      <dgm:t>
        <a:bodyPr/>
        <a:lstStyle/>
        <a:p>
          <a:endParaRPr lang="en-GB"/>
        </a:p>
      </dgm:t>
    </dgm:pt>
    <dgm:pt modelId="{AE778179-45CB-4495-81D9-0C3466083DCB}">
      <dgm:prSet/>
      <dgm:spPr/>
      <dgm:t>
        <a:bodyPr/>
        <a:lstStyle/>
        <a:p>
          <a:r>
            <a:rPr lang="en-US" u="none" strike="noStrike" cap="none" spc="0" dirty="0">
              <a:solidFill>
                <a:schemeClr val="bg1"/>
              </a:solidFill>
              <a:latin typeface="Times New Roman"/>
            </a:rPr>
            <a:t>Contextual and Operational Insights </a:t>
          </a:r>
        </a:p>
      </dgm:t>
    </dgm:pt>
    <dgm:pt modelId="{F9C5FD06-B9DE-4EA0-863C-A00C7D346AB9}" type="parTrans" cxnId="{6FDCFCA3-53B1-4D8F-B4D6-D22D154F7E93}">
      <dgm:prSet/>
      <dgm:spPr/>
      <dgm:t>
        <a:bodyPr/>
        <a:lstStyle/>
        <a:p>
          <a:endParaRPr lang="en-GB"/>
        </a:p>
      </dgm:t>
    </dgm:pt>
    <dgm:pt modelId="{9333D936-104E-4A28-B5D8-96AC12E1F9BA}" type="sibTrans" cxnId="{6FDCFCA3-53B1-4D8F-B4D6-D22D154F7E93}">
      <dgm:prSet/>
      <dgm:spPr/>
      <dgm:t>
        <a:bodyPr/>
        <a:lstStyle/>
        <a:p>
          <a:endParaRPr lang="en-GB"/>
        </a:p>
      </dgm:t>
    </dgm:pt>
    <dgm:pt modelId="{A5AC337C-8B53-4FAB-8237-946029971B9E}" type="pres">
      <dgm:prSet presAssocID="{97C23A5D-9ADC-4B00-9ECE-312457A31FBA}" presName="CompostProcess" presStyleCnt="0">
        <dgm:presLayoutVars>
          <dgm:dir/>
          <dgm:resizeHandles val="exact"/>
        </dgm:presLayoutVars>
      </dgm:prSet>
      <dgm:spPr/>
    </dgm:pt>
    <dgm:pt modelId="{FA9A2ECD-04A5-4EE9-821A-5BB13E122427}" type="pres">
      <dgm:prSet presAssocID="{97C23A5D-9ADC-4B00-9ECE-312457A31FBA}" presName="arrow" presStyleLbl="bgShp" presStyleIdx="0" presStyleCnt="1"/>
      <dgm:spPr/>
    </dgm:pt>
    <dgm:pt modelId="{3D457F9D-6133-4CF2-87D1-35DF63AF5915}" type="pres">
      <dgm:prSet presAssocID="{97C23A5D-9ADC-4B00-9ECE-312457A31FBA}" presName="linearProcess" presStyleCnt="0"/>
      <dgm:spPr/>
    </dgm:pt>
    <dgm:pt modelId="{7C7B972E-1CE5-4390-87F3-DE45E65AD6B6}" type="pres">
      <dgm:prSet presAssocID="{A1E27125-BC07-45CD-9805-FAFEAE078342}" presName="textNode" presStyleLbl="node1" presStyleIdx="0" presStyleCnt="2">
        <dgm:presLayoutVars>
          <dgm:bulletEnabled val="1"/>
        </dgm:presLayoutVars>
      </dgm:prSet>
      <dgm:spPr/>
    </dgm:pt>
    <dgm:pt modelId="{929BB807-4CD2-480E-8EC8-697046DB07DF}" type="pres">
      <dgm:prSet presAssocID="{929CB09D-4BF6-44DE-B67C-B1AE93B53F9E}" presName="sibTrans" presStyleCnt="0"/>
      <dgm:spPr/>
    </dgm:pt>
    <dgm:pt modelId="{DA038629-8ED1-477A-A8C3-09563E2A95FB}" type="pres">
      <dgm:prSet presAssocID="{AE778179-45CB-4495-81D9-0C3466083DCB}" presName="textNode" presStyleLbl="node1" presStyleIdx="1" presStyleCnt="2">
        <dgm:presLayoutVars>
          <dgm:bulletEnabled val="1"/>
        </dgm:presLayoutVars>
      </dgm:prSet>
      <dgm:spPr/>
    </dgm:pt>
  </dgm:ptLst>
  <dgm:cxnLst>
    <dgm:cxn modelId="{2F4A6709-5E60-482D-8A8B-C1282E172B3B}" type="presOf" srcId="{AE778179-45CB-4495-81D9-0C3466083DCB}" destId="{DA038629-8ED1-477A-A8C3-09563E2A95FB}" srcOrd="0" destOrd="0" presId="urn:microsoft.com/office/officeart/2005/8/layout/hProcess9"/>
    <dgm:cxn modelId="{F2D71E67-6C87-43BE-A563-327E201353B3}" type="presOf" srcId="{97C23A5D-9ADC-4B00-9ECE-312457A31FBA}" destId="{A5AC337C-8B53-4FAB-8237-946029971B9E}" srcOrd="0" destOrd="0" presId="urn:microsoft.com/office/officeart/2005/8/layout/hProcess9"/>
    <dgm:cxn modelId="{6FDCFCA3-53B1-4D8F-B4D6-D22D154F7E93}" srcId="{97C23A5D-9ADC-4B00-9ECE-312457A31FBA}" destId="{AE778179-45CB-4495-81D9-0C3466083DCB}" srcOrd="1" destOrd="0" parTransId="{F9C5FD06-B9DE-4EA0-863C-A00C7D346AB9}" sibTransId="{9333D936-104E-4A28-B5D8-96AC12E1F9BA}"/>
    <dgm:cxn modelId="{333513AC-0CA6-4BF2-BCDD-9B2E23966254}" srcId="{97C23A5D-9ADC-4B00-9ECE-312457A31FBA}" destId="{A1E27125-BC07-45CD-9805-FAFEAE078342}" srcOrd="0" destOrd="0" parTransId="{A11431D0-4992-444A-9711-F40C6B0F1418}" sibTransId="{929CB09D-4BF6-44DE-B67C-B1AE93B53F9E}"/>
    <dgm:cxn modelId="{7DD2D0EB-3D63-4696-8139-78EB7D185E67}" type="presOf" srcId="{A1E27125-BC07-45CD-9805-FAFEAE078342}" destId="{7C7B972E-1CE5-4390-87F3-DE45E65AD6B6}" srcOrd="0" destOrd="0" presId="urn:microsoft.com/office/officeart/2005/8/layout/hProcess9"/>
    <dgm:cxn modelId="{FF3565F0-D109-4E01-A407-B946C451859A}" type="presParOf" srcId="{A5AC337C-8B53-4FAB-8237-946029971B9E}" destId="{FA9A2ECD-04A5-4EE9-821A-5BB13E122427}" srcOrd="0" destOrd="0" presId="urn:microsoft.com/office/officeart/2005/8/layout/hProcess9"/>
    <dgm:cxn modelId="{28DF9363-5FB3-4819-99F8-86B7E5C10BF9}" type="presParOf" srcId="{A5AC337C-8B53-4FAB-8237-946029971B9E}" destId="{3D457F9D-6133-4CF2-87D1-35DF63AF5915}" srcOrd="1" destOrd="0" presId="urn:microsoft.com/office/officeart/2005/8/layout/hProcess9"/>
    <dgm:cxn modelId="{F1FB52B5-98FA-41AF-9B59-1B777A6F21CC}" type="presParOf" srcId="{3D457F9D-6133-4CF2-87D1-35DF63AF5915}" destId="{7C7B972E-1CE5-4390-87F3-DE45E65AD6B6}" srcOrd="0" destOrd="0" presId="urn:microsoft.com/office/officeart/2005/8/layout/hProcess9"/>
    <dgm:cxn modelId="{2A9452F6-8D3E-4B01-9A6A-CF51BE969B5F}" type="presParOf" srcId="{3D457F9D-6133-4CF2-87D1-35DF63AF5915}" destId="{929BB807-4CD2-480E-8EC8-697046DB07DF}" srcOrd="1" destOrd="0" presId="urn:microsoft.com/office/officeart/2005/8/layout/hProcess9"/>
    <dgm:cxn modelId="{7488716B-3EFB-4681-8F3E-47D60E9F85DA}" type="presParOf" srcId="{3D457F9D-6133-4CF2-87D1-35DF63AF5915}" destId="{DA038629-8ED1-477A-A8C3-09563E2A95FB}" srcOrd="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A3C43F-EC5B-479D-A298-ADCB2F68CED8}">
      <dsp:nvSpPr>
        <dsp:cNvPr id="0" name=""/>
        <dsp:cNvSpPr/>
      </dsp:nvSpPr>
      <dsp:spPr>
        <a:xfrm>
          <a:off x="0" y="44996"/>
          <a:ext cx="6984776" cy="397800"/>
        </a:xfrm>
        <a:prstGeom prst="roundRect">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Clr>
              <a:srgbClr val="424242">
                <a:alpha val="100000"/>
              </a:srgbClr>
            </a:buClr>
            <a:buFont typeface="Calibri"/>
            <a:buNone/>
          </a:pPr>
          <a:r>
            <a:rPr lang="fr-FR" sz="1700" b="1" kern="1200" dirty="0">
              <a:latin typeface="Times New Roman" panose="02020603050405020304" pitchFamily="18" charset="0"/>
              <a:cs typeface="Times New Roman" panose="02020603050405020304" pitchFamily="18" charset="0"/>
            </a:rPr>
            <a:t>Objective</a:t>
          </a:r>
          <a:endParaRPr lang="fr-CM" sz="1700" b="1" kern="1200" dirty="0">
            <a:latin typeface="Times New Roman" panose="02020603050405020304" pitchFamily="18" charset="0"/>
            <a:cs typeface="Times New Roman" panose="02020603050405020304" pitchFamily="18" charset="0"/>
          </a:endParaRPr>
        </a:p>
      </dsp:txBody>
      <dsp:txXfrm>
        <a:off x="19419" y="64415"/>
        <a:ext cx="6945938" cy="358962"/>
      </dsp:txXfrm>
    </dsp:sp>
    <dsp:sp modelId="{B6F41273-3084-4B05-AC32-FEFA7D2F705B}">
      <dsp:nvSpPr>
        <dsp:cNvPr id="0" name=""/>
        <dsp:cNvSpPr/>
      </dsp:nvSpPr>
      <dsp:spPr>
        <a:xfrm>
          <a:off x="0" y="491756"/>
          <a:ext cx="6984776" cy="397800"/>
        </a:xfrm>
        <a:prstGeom prst="roundRect">
          <a:avLst/>
        </a:prstGeom>
        <a:solidFill>
          <a:schemeClr val="accent1">
            <a:shade val="80000"/>
            <a:hueOff val="43980"/>
            <a:satOff val="-1965"/>
            <a:lumOff val="4553"/>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Clr>
              <a:srgbClr val="424242">
                <a:alpha val="100000"/>
              </a:srgbClr>
            </a:buClr>
            <a:buFont typeface="Calibri"/>
            <a:buNone/>
          </a:pPr>
          <a:r>
            <a:rPr lang="fr-FR" sz="1700" b="1" kern="1200" dirty="0">
              <a:latin typeface="Times New Roman" panose="02020603050405020304" pitchFamily="18" charset="0"/>
              <a:cs typeface="Times New Roman" panose="02020603050405020304" pitchFamily="18" charset="0"/>
            </a:rPr>
            <a:t>Tools</a:t>
          </a:r>
          <a:endParaRPr lang="fr-CM" sz="1700" b="1" kern="1200" dirty="0">
            <a:latin typeface="Times New Roman" panose="02020603050405020304" pitchFamily="18" charset="0"/>
            <a:cs typeface="Times New Roman" panose="02020603050405020304" pitchFamily="18" charset="0"/>
          </a:endParaRPr>
        </a:p>
      </dsp:txBody>
      <dsp:txXfrm>
        <a:off x="19419" y="511175"/>
        <a:ext cx="6945938" cy="358962"/>
      </dsp:txXfrm>
    </dsp:sp>
    <dsp:sp modelId="{A25B1200-DD5D-4B5D-B0AB-0D083F0897E6}">
      <dsp:nvSpPr>
        <dsp:cNvPr id="0" name=""/>
        <dsp:cNvSpPr/>
      </dsp:nvSpPr>
      <dsp:spPr>
        <a:xfrm>
          <a:off x="0" y="938516"/>
          <a:ext cx="6984776" cy="397800"/>
        </a:xfrm>
        <a:prstGeom prst="roundRect">
          <a:avLst/>
        </a:prstGeom>
        <a:solidFill>
          <a:schemeClr val="accent1">
            <a:shade val="80000"/>
            <a:hueOff val="87960"/>
            <a:satOff val="-3931"/>
            <a:lumOff val="9105"/>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Clr>
              <a:srgbClr val="424242">
                <a:alpha val="100000"/>
              </a:srgbClr>
            </a:buClr>
            <a:buFont typeface="Calibri"/>
            <a:buNone/>
          </a:pPr>
          <a:r>
            <a:rPr lang="en-US" sz="1700" b="1" u="none" strike="noStrike" kern="1200" cap="none" spc="0" dirty="0">
              <a:latin typeface="Times New Roman"/>
            </a:rPr>
            <a:t>Data Cleaning &amp; Preprocessing</a:t>
          </a:r>
          <a:endParaRPr lang="fr-CM" sz="1700" kern="1200" dirty="0"/>
        </a:p>
      </dsp:txBody>
      <dsp:txXfrm>
        <a:off x="19419" y="957935"/>
        <a:ext cx="6945938" cy="358962"/>
      </dsp:txXfrm>
    </dsp:sp>
    <dsp:sp modelId="{CFA9B257-0402-45A9-906E-D4EA4502801B}">
      <dsp:nvSpPr>
        <dsp:cNvPr id="0" name=""/>
        <dsp:cNvSpPr/>
      </dsp:nvSpPr>
      <dsp:spPr>
        <a:xfrm>
          <a:off x="0" y="1385276"/>
          <a:ext cx="6984776" cy="397800"/>
        </a:xfrm>
        <a:prstGeom prst="roundRect">
          <a:avLst/>
        </a:prstGeom>
        <a:solidFill>
          <a:schemeClr val="accent1">
            <a:shade val="80000"/>
            <a:hueOff val="131939"/>
            <a:satOff val="-5896"/>
            <a:lumOff val="1365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none" strike="noStrike" kern="1200" cap="none" spc="0" dirty="0">
              <a:latin typeface="Times New Roman"/>
            </a:rPr>
            <a:t>Exploratory Data Analysis (EDA)</a:t>
          </a:r>
        </a:p>
      </dsp:txBody>
      <dsp:txXfrm>
        <a:off x="19419" y="1404695"/>
        <a:ext cx="6945938" cy="358962"/>
      </dsp:txXfrm>
    </dsp:sp>
    <dsp:sp modelId="{19299808-217D-4F78-BD2F-573FB95DE3C0}">
      <dsp:nvSpPr>
        <dsp:cNvPr id="0" name=""/>
        <dsp:cNvSpPr/>
      </dsp:nvSpPr>
      <dsp:spPr>
        <a:xfrm>
          <a:off x="0" y="1832036"/>
          <a:ext cx="6984776" cy="397800"/>
        </a:xfrm>
        <a:prstGeom prst="roundRect">
          <a:avLst/>
        </a:prstGeom>
        <a:solidFill>
          <a:schemeClr val="accent1">
            <a:shade val="80000"/>
            <a:hueOff val="175919"/>
            <a:satOff val="-7861"/>
            <a:lumOff val="1821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none" strike="noStrike" kern="1200" cap="none" spc="0" dirty="0">
              <a:latin typeface="Times New Roman"/>
            </a:rPr>
            <a:t>Advanced Data Analysis</a:t>
          </a:r>
        </a:p>
      </dsp:txBody>
      <dsp:txXfrm>
        <a:off x="19419" y="1851455"/>
        <a:ext cx="6945938" cy="358962"/>
      </dsp:txXfrm>
    </dsp:sp>
    <dsp:sp modelId="{F326F2D2-4060-4D38-90CA-671C23347684}">
      <dsp:nvSpPr>
        <dsp:cNvPr id="0" name=""/>
        <dsp:cNvSpPr/>
      </dsp:nvSpPr>
      <dsp:spPr>
        <a:xfrm>
          <a:off x="0" y="2278796"/>
          <a:ext cx="6984776" cy="397800"/>
        </a:xfrm>
        <a:prstGeom prst="roundRect">
          <a:avLst/>
        </a:prstGeom>
        <a:solidFill>
          <a:schemeClr val="accent1">
            <a:shade val="80000"/>
            <a:hueOff val="219899"/>
            <a:satOff val="-9827"/>
            <a:lumOff val="22763"/>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none" strike="noStrike" kern="1200" cap="none" spc="0" dirty="0">
              <a:latin typeface="Times New Roman"/>
            </a:rPr>
            <a:t>Dashboard</a:t>
          </a:r>
        </a:p>
      </dsp:txBody>
      <dsp:txXfrm>
        <a:off x="19419" y="2298215"/>
        <a:ext cx="6945938" cy="358962"/>
      </dsp:txXfrm>
    </dsp:sp>
    <dsp:sp modelId="{41F41EAC-08CE-4FBA-9AE6-B6911390BACD}">
      <dsp:nvSpPr>
        <dsp:cNvPr id="0" name=""/>
        <dsp:cNvSpPr/>
      </dsp:nvSpPr>
      <dsp:spPr>
        <a:xfrm>
          <a:off x="0" y="2725555"/>
          <a:ext cx="6984776" cy="397800"/>
        </a:xfrm>
        <a:prstGeom prst="roundRect">
          <a:avLst/>
        </a:prstGeom>
        <a:solidFill>
          <a:schemeClr val="accent1">
            <a:shade val="80000"/>
            <a:hueOff val="263879"/>
            <a:satOff val="-11792"/>
            <a:lumOff val="27316"/>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none" strike="noStrike" kern="1200" cap="none" spc="0" dirty="0">
              <a:latin typeface="Times New Roman"/>
            </a:rPr>
            <a:t>Strategic Recommendations</a:t>
          </a:r>
        </a:p>
      </dsp:txBody>
      <dsp:txXfrm>
        <a:off x="19419" y="2744974"/>
        <a:ext cx="6945938" cy="3589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5B1200-DD5D-4B5D-B0AB-0D083F0897E6}">
      <dsp:nvSpPr>
        <dsp:cNvPr id="0" name=""/>
        <dsp:cNvSpPr/>
      </dsp:nvSpPr>
      <dsp:spPr>
        <a:xfrm>
          <a:off x="0" y="13678"/>
          <a:ext cx="7560840" cy="926639"/>
        </a:xfrm>
        <a:prstGeom prst="roundRect">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Clr>
              <a:srgbClr val="424242">
                <a:alpha val="100000"/>
              </a:srgbClr>
            </a:buClr>
            <a:buFont typeface="Calibri"/>
            <a:buNone/>
          </a:pPr>
          <a:r>
            <a:rPr lang="en-US" sz="2400" kern="1200" dirty="0"/>
            <a:t>Clean and preprocess the raw </a:t>
          </a:r>
          <a:r>
            <a:rPr lang="en-US" sz="2400" kern="1200" dirty="0" err="1"/>
            <a:t>TfL</a:t>
          </a:r>
          <a:r>
            <a:rPr lang="en-US" sz="2400" kern="1200" dirty="0"/>
            <a:t> data to ensure data quality and consistency. </a:t>
          </a:r>
          <a:endParaRPr lang="fr-CM" sz="2400" kern="1200" dirty="0"/>
        </a:p>
      </dsp:txBody>
      <dsp:txXfrm>
        <a:off x="45235" y="58913"/>
        <a:ext cx="7470370" cy="836169"/>
      </dsp:txXfrm>
    </dsp:sp>
    <dsp:sp modelId="{4921EA77-C272-478D-AA92-7867A6456BB9}">
      <dsp:nvSpPr>
        <dsp:cNvPr id="0" name=""/>
        <dsp:cNvSpPr/>
      </dsp:nvSpPr>
      <dsp:spPr>
        <a:xfrm>
          <a:off x="0" y="1009438"/>
          <a:ext cx="7560840" cy="926639"/>
        </a:xfrm>
        <a:prstGeom prst="roundRect">
          <a:avLst/>
        </a:prstGeom>
        <a:solidFill>
          <a:schemeClr val="accent1">
            <a:shade val="80000"/>
            <a:hueOff val="87960"/>
            <a:satOff val="-3931"/>
            <a:lumOff val="9105"/>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Clr>
              <a:srgbClr val="424242">
                <a:alpha val="100000"/>
              </a:srgbClr>
            </a:buClr>
            <a:buFont typeface="Calibri"/>
            <a:buNone/>
          </a:pPr>
          <a:r>
            <a:rPr lang="en-US" sz="2400" kern="1200" dirty="0"/>
            <a:t> Uncover patterns and trends in station usage across London. </a:t>
          </a:r>
          <a:endParaRPr lang="fr-CM" sz="2400" kern="1200" dirty="0"/>
        </a:p>
      </dsp:txBody>
      <dsp:txXfrm>
        <a:off x="45235" y="1054673"/>
        <a:ext cx="7470370" cy="836169"/>
      </dsp:txXfrm>
    </dsp:sp>
    <dsp:sp modelId="{41130CD7-69B2-4A46-9D82-1B2FB5BBD491}">
      <dsp:nvSpPr>
        <dsp:cNvPr id="0" name=""/>
        <dsp:cNvSpPr/>
      </dsp:nvSpPr>
      <dsp:spPr>
        <a:xfrm>
          <a:off x="0" y="2005198"/>
          <a:ext cx="7560840" cy="926639"/>
        </a:xfrm>
        <a:prstGeom prst="roundRect">
          <a:avLst/>
        </a:prstGeom>
        <a:solidFill>
          <a:schemeClr val="accent1">
            <a:shade val="80000"/>
            <a:hueOff val="175919"/>
            <a:satOff val="-7861"/>
            <a:lumOff val="1821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Clr>
              <a:srgbClr val="424242">
                <a:alpha val="100000"/>
              </a:srgbClr>
            </a:buClr>
            <a:buFont typeface="Calibri"/>
            <a:buNone/>
          </a:pPr>
          <a:r>
            <a:rPr lang="en-US" sz="2400" kern="1200" dirty="0"/>
            <a:t>Identify operational hotspots and capacity stress points.</a:t>
          </a:r>
          <a:endParaRPr lang="fr-CM" sz="2400" kern="1200" dirty="0"/>
        </a:p>
      </dsp:txBody>
      <dsp:txXfrm>
        <a:off x="45235" y="2050433"/>
        <a:ext cx="7470370" cy="836169"/>
      </dsp:txXfrm>
    </dsp:sp>
    <dsp:sp modelId="{69D90283-2CAD-4EDA-A81D-FFCCA26CD463}">
      <dsp:nvSpPr>
        <dsp:cNvPr id="0" name=""/>
        <dsp:cNvSpPr/>
      </dsp:nvSpPr>
      <dsp:spPr>
        <a:xfrm>
          <a:off x="0" y="3000957"/>
          <a:ext cx="7560840" cy="926639"/>
        </a:xfrm>
        <a:prstGeom prst="roundRect">
          <a:avLst/>
        </a:prstGeom>
        <a:solidFill>
          <a:schemeClr val="accent1">
            <a:shade val="80000"/>
            <a:hueOff val="263879"/>
            <a:satOff val="-11792"/>
            <a:lumOff val="27316"/>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Clr>
              <a:srgbClr val="424242">
                <a:alpha val="100000"/>
              </a:srgbClr>
            </a:buClr>
            <a:buFont typeface="Calibri"/>
            <a:buNone/>
          </a:pPr>
          <a:r>
            <a:rPr lang="en-US" sz="2400" kern="1200" dirty="0"/>
            <a:t>Evaluate the distribution of passenger traffic across the network.</a:t>
          </a:r>
          <a:endParaRPr lang="fr-CM" sz="2400" kern="1200" dirty="0"/>
        </a:p>
      </dsp:txBody>
      <dsp:txXfrm>
        <a:off x="45235" y="3046192"/>
        <a:ext cx="7470370" cy="8361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110D74-1DDB-4799-90D8-5D4EDD2DD5BF}">
      <dsp:nvSpPr>
        <dsp:cNvPr id="0" name=""/>
        <dsp:cNvSpPr/>
      </dsp:nvSpPr>
      <dsp:spPr>
        <a:xfrm>
          <a:off x="0" y="339280"/>
          <a:ext cx="6096000" cy="428400"/>
        </a:xfrm>
        <a:prstGeom prst="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2D48A-6A72-4BB3-AB9A-D2BE5A3F8CD0}">
      <dsp:nvSpPr>
        <dsp:cNvPr id="0" name=""/>
        <dsp:cNvSpPr/>
      </dsp:nvSpPr>
      <dsp:spPr>
        <a:xfrm>
          <a:off x="304800" y="88360"/>
          <a:ext cx="4267200" cy="50184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755650">
            <a:lnSpc>
              <a:spcPct val="90000"/>
            </a:lnSpc>
            <a:spcBef>
              <a:spcPct val="0"/>
            </a:spcBef>
            <a:spcAft>
              <a:spcPct val="35000"/>
            </a:spcAft>
            <a:buNone/>
          </a:pPr>
          <a:r>
            <a:rPr lang="en-US" sz="1700" u="none" strike="noStrike" kern="1200" cap="none" spc="0">
              <a:latin typeface="Times New Roman"/>
            </a:rPr>
            <a:t>Import Libraries and Load Data</a:t>
          </a:r>
          <a:endParaRPr lang="fr-CM" sz="1700" kern="1200" dirty="0"/>
        </a:p>
      </dsp:txBody>
      <dsp:txXfrm>
        <a:off x="329298" y="112858"/>
        <a:ext cx="4218204" cy="452844"/>
      </dsp:txXfrm>
    </dsp:sp>
    <dsp:sp modelId="{62182C04-157B-4D56-BFA2-10AC75950512}">
      <dsp:nvSpPr>
        <dsp:cNvPr id="0" name=""/>
        <dsp:cNvSpPr/>
      </dsp:nvSpPr>
      <dsp:spPr>
        <a:xfrm>
          <a:off x="0" y="1110400"/>
          <a:ext cx="6096000" cy="428400"/>
        </a:xfrm>
        <a:prstGeom prst="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9E65A5-8B5C-4F4F-91F9-19030F3608E4}">
      <dsp:nvSpPr>
        <dsp:cNvPr id="0" name=""/>
        <dsp:cNvSpPr/>
      </dsp:nvSpPr>
      <dsp:spPr>
        <a:xfrm>
          <a:off x="304800" y="859480"/>
          <a:ext cx="4267200" cy="50184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755650">
            <a:lnSpc>
              <a:spcPct val="90000"/>
            </a:lnSpc>
            <a:spcBef>
              <a:spcPct val="0"/>
            </a:spcBef>
            <a:spcAft>
              <a:spcPct val="35000"/>
            </a:spcAft>
            <a:buNone/>
          </a:pPr>
          <a:r>
            <a:rPr lang="en-US" sz="1700" u="none" strike="noStrike" kern="1200" cap="none" spc="0">
              <a:latin typeface="Times New Roman"/>
            </a:rPr>
            <a:t>Check for Missing Values</a:t>
          </a:r>
          <a:endParaRPr lang="fr-CM" sz="1700" kern="1200" dirty="0"/>
        </a:p>
      </dsp:txBody>
      <dsp:txXfrm>
        <a:off x="329298" y="883978"/>
        <a:ext cx="4218204" cy="452844"/>
      </dsp:txXfrm>
    </dsp:sp>
    <dsp:sp modelId="{EFCB3F39-5148-419F-BFD0-EE63ED97AE66}">
      <dsp:nvSpPr>
        <dsp:cNvPr id="0" name=""/>
        <dsp:cNvSpPr/>
      </dsp:nvSpPr>
      <dsp:spPr>
        <a:xfrm>
          <a:off x="0" y="1881521"/>
          <a:ext cx="6096000" cy="428400"/>
        </a:xfrm>
        <a:prstGeom prst="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807458-05F2-46A3-948F-8D151EDCFC9E}">
      <dsp:nvSpPr>
        <dsp:cNvPr id="0" name=""/>
        <dsp:cNvSpPr/>
      </dsp:nvSpPr>
      <dsp:spPr>
        <a:xfrm>
          <a:off x="304800" y="1630600"/>
          <a:ext cx="4267200" cy="50184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755650">
            <a:lnSpc>
              <a:spcPct val="90000"/>
            </a:lnSpc>
            <a:spcBef>
              <a:spcPct val="0"/>
            </a:spcBef>
            <a:spcAft>
              <a:spcPct val="35000"/>
            </a:spcAft>
            <a:buNone/>
          </a:pPr>
          <a:r>
            <a:rPr lang="en-US" sz="1700" u="none" strike="noStrike" kern="1200" cap="none" spc="0" dirty="0">
              <a:latin typeface="Times New Roman"/>
            </a:rPr>
            <a:t>Check for Duplicates and Remove Them</a:t>
          </a:r>
          <a:endParaRPr lang="fr-CM" sz="1700" kern="1200" dirty="0"/>
        </a:p>
      </dsp:txBody>
      <dsp:txXfrm>
        <a:off x="329298" y="1655098"/>
        <a:ext cx="4218204" cy="452844"/>
      </dsp:txXfrm>
    </dsp:sp>
    <dsp:sp modelId="{67016735-367E-424F-A157-7380BB7B1320}">
      <dsp:nvSpPr>
        <dsp:cNvPr id="0" name=""/>
        <dsp:cNvSpPr/>
      </dsp:nvSpPr>
      <dsp:spPr>
        <a:xfrm>
          <a:off x="0" y="2652640"/>
          <a:ext cx="6096000" cy="428400"/>
        </a:xfrm>
        <a:prstGeom prst="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170EF33-8E76-499D-BB69-711A24ABB6E4}">
      <dsp:nvSpPr>
        <dsp:cNvPr id="0" name=""/>
        <dsp:cNvSpPr/>
      </dsp:nvSpPr>
      <dsp:spPr>
        <a:xfrm>
          <a:off x="304800" y="2401720"/>
          <a:ext cx="4267200" cy="50184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755650">
            <a:lnSpc>
              <a:spcPct val="90000"/>
            </a:lnSpc>
            <a:spcBef>
              <a:spcPct val="0"/>
            </a:spcBef>
            <a:spcAft>
              <a:spcPct val="35000"/>
            </a:spcAft>
            <a:buNone/>
          </a:pPr>
          <a:r>
            <a:rPr lang="fr-CM" sz="1700" b="0" i="0" kern="1200" dirty="0"/>
            <a:t>Data Transformation and </a:t>
          </a:r>
          <a:r>
            <a:rPr lang="fr-CM" sz="1700" b="0" i="0" kern="1200" dirty="0" err="1"/>
            <a:t>Typing</a:t>
          </a:r>
          <a:endParaRPr lang="fr-CM" sz="1700" b="0" kern="1200" dirty="0"/>
        </a:p>
      </dsp:txBody>
      <dsp:txXfrm>
        <a:off x="329298" y="2426218"/>
        <a:ext cx="4218204" cy="452844"/>
      </dsp:txXfrm>
    </dsp:sp>
    <dsp:sp modelId="{A1581FFD-E384-43AD-B5DD-202DD6067C2B}">
      <dsp:nvSpPr>
        <dsp:cNvPr id="0" name=""/>
        <dsp:cNvSpPr/>
      </dsp:nvSpPr>
      <dsp:spPr>
        <a:xfrm>
          <a:off x="0" y="3423761"/>
          <a:ext cx="6096000" cy="428400"/>
        </a:xfrm>
        <a:prstGeom prst="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67090D0-3FAA-4310-A211-DF62CF6E055D}">
      <dsp:nvSpPr>
        <dsp:cNvPr id="0" name=""/>
        <dsp:cNvSpPr/>
      </dsp:nvSpPr>
      <dsp:spPr>
        <a:xfrm>
          <a:off x="304800" y="3172841"/>
          <a:ext cx="4267200" cy="50184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755650">
            <a:lnSpc>
              <a:spcPct val="90000"/>
            </a:lnSpc>
            <a:spcBef>
              <a:spcPct val="0"/>
            </a:spcBef>
            <a:spcAft>
              <a:spcPct val="35000"/>
            </a:spcAft>
            <a:buNone/>
          </a:pPr>
          <a:r>
            <a:rPr lang="en-US" sz="1700" u="none" strike="noStrike" kern="1200" cap="none" spc="0" dirty="0">
              <a:latin typeface="Times New Roman"/>
            </a:rPr>
            <a:t>Save the cleaned data</a:t>
          </a:r>
          <a:endParaRPr lang="fr-CM" sz="1700" kern="1200" dirty="0"/>
        </a:p>
      </dsp:txBody>
      <dsp:txXfrm>
        <a:off x="329298" y="3197339"/>
        <a:ext cx="4218204"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925F24-0EF7-408A-AD52-81173B447AA1}">
      <dsp:nvSpPr>
        <dsp:cNvPr id="0" name=""/>
        <dsp:cNvSpPr/>
      </dsp:nvSpPr>
      <dsp:spPr>
        <a:xfrm>
          <a:off x="0" y="43380"/>
          <a:ext cx="7315200" cy="74880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u="none" strike="noStrike" kern="1200" cap="none" spc="0" dirty="0">
              <a:solidFill>
                <a:schemeClr val="bg1"/>
              </a:solidFill>
              <a:latin typeface="Times New Roman"/>
            </a:rPr>
            <a:t>Station and Mode Analysis</a:t>
          </a:r>
          <a:endParaRPr lang="en-GB" sz="3200" kern="1200" dirty="0">
            <a:solidFill>
              <a:schemeClr val="bg1"/>
            </a:solidFill>
          </a:endParaRPr>
        </a:p>
      </dsp:txBody>
      <dsp:txXfrm>
        <a:off x="36553" y="79933"/>
        <a:ext cx="7242094" cy="675694"/>
      </dsp:txXfrm>
    </dsp:sp>
    <dsp:sp modelId="{8BC06042-10AD-4FF3-B2CD-26DD4FB056BA}">
      <dsp:nvSpPr>
        <dsp:cNvPr id="0" name=""/>
        <dsp:cNvSpPr/>
      </dsp:nvSpPr>
      <dsp:spPr>
        <a:xfrm>
          <a:off x="0" y="792180"/>
          <a:ext cx="731520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258"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u="none" strike="noStrike" kern="1200" cap="none" spc="0" dirty="0">
              <a:solidFill>
                <a:srgbClr val="424242">
                  <a:alpha val="100000"/>
                </a:srgbClr>
              </a:solidFill>
              <a:latin typeface="Times New Roman"/>
            </a:rPr>
            <a:t>Stations and Their Characteristics: </a:t>
          </a:r>
        </a:p>
        <a:p>
          <a:pPr marL="228600" lvl="1" indent="-228600" algn="l" defTabSz="1111250">
            <a:lnSpc>
              <a:spcPct val="90000"/>
            </a:lnSpc>
            <a:spcBef>
              <a:spcPct val="0"/>
            </a:spcBef>
            <a:spcAft>
              <a:spcPct val="20000"/>
            </a:spcAft>
            <a:buChar char="•"/>
          </a:pPr>
          <a:r>
            <a:rPr lang="en-US" sz="2500" u="none" strike="noStrike" kern="1200" cap="none" spc="0" dirty="0">
              <a:solidFill>
                <a:srgbClr val="424242">
                  <a:alpha val="100000"/>
                </a:srgbClr>
              </a:solidFill>
              <a:latin typeface="Times New Roman"/>
            </a:rPr>
            <a:t>Transport Modes:</a:t>
          </a:r>
          <a:endParaRPr lang="en-US" sz="2500" kern="1200" dirty="0">
            <a:solidFill>
              <a:srgbClr val="424242">
                <a:alpha val="100000"/>
              </a:srgbClr>
            </a:solidFill>
            <a:latin typeface="Times New Roman"/>
          </a:endParaRPr>
        </a:p>
      </dsp:txBody>
      <dsp:txXfrm>
        <a:off x="0" y="792180"/>
        <a:ext cx="7315200" cy="828000"/>
      </dsp:txXfrm>
    </dsp:sp>
    <dsp:sp modelId="{63288FD0-B721-49AD-AE2C-9FA95723DE46}">
      <dsp:nvSpPr>
        <dsp:cNvPr id="0" name=""/>
        <dsp:cNvSpPr/>
      </dsp:nvSpPr>
      <dsp:spPr>
        <a:xfrm>
          <a:off x="0" y="1620180"/>
          <a:ext cx="7315200" cy="74880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u="none" strike="noStrike" kern="1200" cap="none" spc="0" dirty="0">
              <a:solidFill>
                <a:schemeClr val="bg1"/>
              </a:solidFill>
              <a:latin typeface="Times New Roman"/>
            </a:rPr>
            <a:t>Traffic Patterns and Temporal Analysis</a:t>
          </a:r>
          <a:endParaRPr lang="en-US" sz="3200" kern="1200" dirty="0">
            <a:solidFill>
              <a:schemeClr val="bg1"/>
            </a:solidFill>
            <a:latin typeface="Times New Roman"/>
          </a:endParaRPr>
        </a:p>
      </dsp:txBody>
      <dsp:txXfrm>
        <a:off x="36553" y="1656733"/>
        <a:ext cx="7242094" cy="675694"/>
      </dsp:txXfrm>
    </dsp:sp>
    <dsp:sp modelId="{389759A6-081F-4764-9F2C-20E2BD9C26E6}">
      <dsp:nvSpPr>
        <dsp:cNvPr id="0" name=""/>
        <dsp:cNvSpPr/>
      </dsp:nvSpPr>
      <dsp:spPr>
        <a:xfrm>
          <a:off x="0" y="2368980"/>
          <a:ext cx="731520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258"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u="none" strike="noStrike" kern="1200" cap="none" spc="0" dirty="0">
              <a:solidFill>
                <a:srgbClr val="424242">
                  <a:alpha val="100000"/>
                </a:srgbClr>
              </a:solidFill>
              <a:latin typeface="Times New Roman"/>
            </a:rPr>
            <a:t>Daily and Weekly Variations: </a:t>
          </a:r>
        </a:p>
        <a:p>
          <a:pPr marL="228600" lvl="1" indent="-228600" algn="l" defTabSz="1111250">
            <a:lnSpc>
              <a:spcPct val="90000"/>
            </a:lnSpc>
            <a:spcBef>
              <a:spcPct val="0"/>
            </a:spcBef>
            <a:spcAft>
              <a:spcPct val="20000"/>
            </a:spcAft>
            <a:buChar char="•"/>
          </a:pPr>
          <a:r>
            <a:rPr lang="en-US" sz="2500" u="none" strike="noStrike" kern="1200" cap="none" spc="0">
              <a:solidFill>
                <a:srgbClr val="424242">
                  <a:alpha val="100000"/>
                </a:srgbClr>
              </a:solidFill>
              <a:latin typeface="Times New Roman"/>
            </a:rPr>
            <a:t>Seasonal and Peak Times</a:t>
          </a:r>
          <a:endParaRPr lang="en-GB" sz="2500" kern="1200"/>
        </a:p>
      </dsp:txBody>
      <dsp:txXfrm>
        <a:off x="0" y="2368980"/>
        <a:ext cx="7315200" cy="828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9A2ECD-04A5-4EE9-821A-5BB13E122427}">
      <dsp:nvSpPr>
        <dsp:cNvPr id="0" name=""/>
        <dsp:cNvSpPr/>
      </dsp:nvSpPr>
      <dsp:spPr>
        <a:xfrm>
          <a:off x="660531" y="0"/>
          <a:ext cx="7486019" cy="40640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7B972E-1CE5-4390-87F3-DE45E65AD6B6}">
      <dsp:nvSpPr>
        <dsp:cNvPr id="0" name=""/>
        <dsp:cNvSpPr/>
      </dsp:nvSpPr>
      <dsp:spPr>
        <a:xfrm>
          <a:off x="4407" y="1219199"/>
          <a:ext cx="4291732" cy="162560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u="none" strike="noStrike" kern="1200" cap="none" spc="0" dirty="0">
              <a:solidFill>
                <a:schemeClr val="bg1"/>
              </a:solidFill>
              <a:latin typeface="Times New Roman"/>
            </a:rPr>
            <a:t>Inter-relationships and Correlations</a:t>
          </a:r>
          <a:endParaRPr lang="en-GB" sz="3700" kern="1200" dirty="0">
            <a:solidFill>
              <a:schemeClr val="bg1"/>
            </a:solidFill>
          </a:endParaRPr>
        </a:p>
      </dsp:txBody>
      <dsp:txXfrm>
        <a:off x="83762" y="1298554"/>
        <a:ext cx="4133022" cy="1466890"/>
      </dsp:txXfrm>
    </dsp:sp>
    <dsp:sp modelId="{DA038629-8ED1-477A-A8C3-09563E2A95FB}">
      <dsp:nvSpPr>
        <dsp:cNvPr id="0" name=""/>
        <dsp:cNvSpPr/>
      </dsp:nvSpPr>
      <dsp:spPr>
        <a:xfrm>
          <a:off x="4510941" y="1219199"/>
          <a:ext cx="4291732" cy="162560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u="none" strike="noStrike" kern="1200" cap="none" spc="0" dirty="0">
              <a:solidFill>
                <a:schemeClr val="bg1"/>
              </a:solidFill>
              <a:latin typeface="Times New Roman"/>
            </a:rPr>
            <a:t>Contextual and Operational Insights </a:t>
          </a:r>
        </a:p>
      </dsp:txBody>
      <dsp:txXfrm>
        <a:off x="4590296" y="1298554"/>
        <a:ext cx="4133022" cy="146689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674EC-0832-4B53-A138-72051D2E20B2}" type="datetimeFigureOut">
              <a:rPr lang="en-GB" smtClean="0"/>
              <a:t>14/04/2025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C6F58-44E7-4E09-BB63-6CBDC9CC3E1F}" type="slidenum">
              <a:rPr lang="en-GB" smtClean="0"/>
              <a:t>‹N°›</a:t>
            </a:fld>
            <a:endParaRPr lang="en-GB"/>
          </a:p>
        </p:txBody>
      </p:sp>
    </p:spTree>
    <p:extLst>
      <p:ext uri="{BB962C8B-B14F-4D97-AF65-F5344CB8AC3E}">
        <p14:creationId xmlns:p14="http://schemas.microsoft.com/office/powerpoint/2010/main" val="644183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59CC6F58-44E7-4E09-BB63-6CBDC9CC3E1F}" type="slidenum">
              <a:rPr lang="en-GB" smtClean="0"/>
              <a:t>16</a:t>
            </a:fld>
            <a:endParaRPr lang="en-GB"/>
          </a:p>
        </p:txBody>
      </p:sp>
    </p:spTree>
    <p:extLst>
      <p:ext uri="{BB962C8B-B14F-4D97-AF65-F5344CB8AC3E}">
        <p14:creationId xmlns:p14="http://schemas.microsoft.com/office/powerpoint/2010/main" val="496544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We calculate expected weekly totals (average * 7, though note that days might not be uniform) and compare with the actual totals.</a:t>
            </a:r>
            <a:endParaRPr lang="en-GB" dirty="0"/>
          </a:p>
        </p:txBody>
      </p:sp>
      <p:sp>
        <p:nvSpPr>
          <p:cNvPr id="4" name="Espace réservé du numéro de diapositive 3"/>
          <p:cNvSpPr>
            <a:spLocks noGrp="1"/>
          </p:cNvSpPr>
          <p:nvPr>
            <p:ph type="sldNum" sz="quarter" idx="5"/>
          </p:nvPr>
        </p:nvSpPr>
        <p:spPr/>
        <p:txBody>
          <a:bodyPr/>
          <a:lstStyle/>
          <a:p>
            <a:fld id="{59CC6F58-44E7-4E09-BB63-6CBDC9CC3E1F}" type="slidenum">
              <a:rPr lang="en-GB" smtClean="0"/>
              <a:t>22</a:t>
            </a:fld>
            <a:endParaRPr lang="en-GB"/>
          </a:p>
        </p:txBody>
      </p:sp>
    </p:spTree>
    <p:extLst>
      <p:ext uri="{BB962C8B-B14F-4D97-AF65-F5344CB8AC3E}">
        <p14:creationId xmlns:p14="http://schemas.microsoft.com/office/powerpoint/2010/main" val="2507599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We achieve this by grouping the data and comparing average traffic measures across the groups</a:t>
            </a:r>
            <a:endParaRPr lang="en-GB" dirty="0"/>
          </a:p>
        </p:txBody>
      </p:sp>
      <p:sp>
        <p:nvSpPr>
          <p:cNvPr id="4" name="Espace réservé du numéro de diapositive 3"/>
          <p:cNvSpPr>
            <a:spLocks noGrp="1"/>
          </p:cNvSpPr>
          <p:nvPr>
            <p:ph type="sldNum" sz="quarter" idx="5"/>
          </p:nvPr>
        </p:nvSpPr>
        <p:spPr/>
        <p:txBody>
          <a:bodyPr/>
          <a:lstStyle/>
          <a:p>
            <a:fld id="{59CC6F58-44E7-4E09-BB63-6CBDC9CC3E1F}" type="slidenum">
              <a:rPr lang="en-GB" smtClean="0"/>
              <a:t>29</a:t>
            </a:fld>
            <a:endParaRPr lang="en-GB"/>
          </a:p>
        </p:txBody>
      </p:sp>
    </p:spTree>
    <p:extLst>
      <p:ext uri="{BB962C8B-B14F-4D97-AF65-F5344CB8AC3E}">
        <p14:creationId xmlns:p14="http://schemas.microsoft.com/office/powerpoint/2010/main" val="1278026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 This information is crucial for service planning (e.g. more capacity may be needed for the busier modes). If one mode is handling significantly more passengers than others, resource allocation (e.g. additional trains, staffing, maintenance schedules) can be adjusted accordingly.</a:t>
            </a:r>
            <a:endParaRPr lang="en-GB" dirty="0"/>
          </a:p>
        </p:txBody>
      </p:sp>
      <p:sp>
        <p:nvSpPr>
          <p:cNvPr id="4" name="Espace réservé du numéro de diapositive 3"/>
          <p:cNvSpPr>
            <a:spLocks noGrp="1"/>
          </p:cNvSpPr>
          <p:nvPr>
            <p:ph type="sldNum" sz="quarter" idx="5"/>
          </p:nvPr>
        </p:nvSpPr>
        <p:spPr/>
        <p:txBody>
          <a:bodyPr/>
          <a:lstStyle/>
          <a:p>
            <a:fld id="{59CC6F58-44E7-4E09-BB63-6CBDC9CC3E1F}" type="slidenum">
              <a:rPr lang="en-GB" smtClean="0"/>
              <a:t>31</a:t>
            </a:fld>
            <a:endParaRPr lang="en-GB"/>
          </a:p>
        </p:txBody>
      </p:sp>
    </p:spTree>
    <p:extLst>
      <p:ext uri="{BB962C8B-B14F-4D97-AF65-F5344CB8AC3E}">
        <p14:creationId xmlns:p14="http://schemas.microsoft.com/office/powerpoint/2010/main" val="2666076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This analysis can reveal:- Peak days (e.g. if </a:t>
            </a:r>
            <a:r>
              <a:rPr lang="en-US" dirty="0" err="1">
                <a:latin typeface="Times New Roman" panose="02020603050405020304" pitchFamily="18" charset="0"/>
                <a:cs typeface="Times New Roman" panose="02020603050405020304" pitchFamily="18" charset="0"/>
              </a:rPr>
              <a:t>weeddays</a:t>
            </a:r>
            <a:r>
              <a:rPr lang="en-US" dirty="0">
                <a:latin typeface="Times New Roman" panose="02020603050405020304" pitchFamily="18" charset="0"/>
                <a:cs typeface="Times New Roman" panose="02020603050405020304" pitchFamily="18" charset="0"/>
              </a:rPr>
              <a:t> consistently show higher traffic, or weekends reflect lower usage).- Impact of events such as strikes or public </a:t>
            </a:r>
            <a:r>
              <a:rPr lang="en-US" dirty="0" err="1">
                <a:latin typeface="Times New Roman" panose="02020603050405020304" pitchFamily="18" charset="0"/>
                <a:cs typeface="Times New Roman" panose="02020603050405020304" pitchFamily="18" charset="0"/>
              </a:rPr>
              <a:t>holidays.By</a:t>
            </a:r>
            <a:r>
              <a:rPr lang="en-US" dirty="0">
                <a:latin typeface="Times New Roman" panose="02020603050405020304" pitchFamily="18" charset="0"/>
                <a:cs typeface="Times New Roman" panose="02020603050405020304" pitchFamily="18" charset="0"/>
              </a:rPr>
              <a:t> understanding which days experience unusual surges or drops, scheduling, and resource allocation can be </a:t>
            </a:r>
            <a:r>
              <a:rPr lang="en-US" dirty="0" err="1">
                <a:latin typeface="Times New Roman" panose="02020603050405020304" pitchFamily="18" charset="0"/>
                <a:cs typeface="Times New Roman" panose="02020603050405020304" pitchFamily="18" charset="0"/>
              </a:rPr>
              <a:t>optimised</a:t>
            </a:r>
            <a:r>
              <a:rPr lang="en-US" dirty="0">
                <a:latin typeface="Times New Roman" panose="02020603050405020304" pitchFamily="18" charset="0"/>
                <a:cs typeface="Times New Roman" panose="02020603050405020304" pitchFamily="18" charset="0"/>
              </a:rPr>
              <a:t>.</a:t>
            </a:r>
            <a:endParaRPr lang="en-GB" dirty="0"/>
          </a:p>
        </p:txBody>
      </p:sp>
      <p:sp>
        <p:nvSpPr>
          <p:cNvPr id="4" name="Espace réservé du numéro de diapositive 3"/>
          <p:cNvSpPr>
            <a:spLocks noGrp="1"/>
          </p:cNvSpPr>
          <p:nvPr>
            <p:ph type="sldNum" sz="quarter" idx="5"/>
          </p:nvPr>
        </p:nvSpPr>
        <p:spPr/>
        <p:txBody>
          <a:bodyPr/>
          <a:lstStyle/>
          <a:p>
            <a:fld id="{59CC6F58-44E7-4E09-BB63-6CBDC9CC3E1F}" type="slidenum">
              <a:rPr lang="en-GB" smtClean="0"/>
              <a:t>32</a:t>
            </a:fld>
            <a:endParaRPr lang="en-GB"/>
          </a:p>
        </p:txBody>
      </p:sp>
    </p:spTree>
    <p:extLst>
      <p:ext uri="{BB962C8B-B14F-4D97-AF65-F5344CB8AC3E}">
        <p14:creationId xmlns:p14="http://schemas.microsoft.com/office/powerpoint/2010/main" val="94336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can help identify any discrepancies or inconsistencies.</a:t>
            </a:r>
            <a:endParaRPr lang="en-GB" dirty="0"/>
          </a:p>
        </p:txBody>
      </p:sp>
      <p:sp>
        <p:nvSpPr>
          <p:cNvPr id="4" name="Espace réservé du numéro de diapositive 3"/>
          <p:cNvSpPr>
            <a:spLocks noGrp="1"/>
          </p:cNvSpPr>
          <p:nvPr>
            <p:ph type="sldNum" sz="quarter" idx="5"/>
          </p:nvPr>
        </p:nvSpPr>
        <p:spPr/>
        <p:txBody>
          <a:bodyPr/>
          <a:lstStyle/>
          <a:p>
            <a:fld id="{59CC6F58-44E7-4E09-BB63-6CBDC9CC3E1F}" type="slidenum">
              <a:rPr lang="en-GB" smtClean="0"/>
              <a:t>33</a:t>
            </a:fld>
            <a:endParaRPr lang="en-GB"/>
          </a:p>
        </p:txBody>
      </p:sp>
    </p:spTree>
    <p:extLst>
      <p:ext uri="{BB962C8B-B14F-4D97-AF65-F5344CB8AC3E}">
        <p14:creationId xmlns:p14="http://schemas.microsoft.com/office/powerpoint/2010/main" val="2724796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334900" y="2314324"/>
            <a:ext cx="8447150" cy="2478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435894" y="765324"/>
            <a:ext cx="8245162" cy="1106260"/>
          </a:xfrm>
          <a:effectLst/>
        </p:spPr>
        <p:txBody>
          <a:bodyPr anchor="b">
            <a:normAutofit/>
          </a:bodyPr>
          <a:lstStyle>
            <a:lvl1pPr>
              <a:defRPr sz="27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435895" y="1871584"/>
            <a:ext cx="8245160" cy="442741"/>
          </a:xfrm>
        </p:spPr>
        <p:txBody>
          <a:bodyPr anchor="t">
            <a:normAutofit/>
          </a:bodyPr>
          <a:lstStyle>
            <a:lvl1pPr marL="0" indent="0" algn="l">
              <a:buNone/>
              <a:defRPr sz="1200" cap="all">
                <a:solidFill>
                  <a:schemeClr val="accent2"/>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5704463" y="4467103"/>
            <a:ext cx="2133600" cy="273844"/>
          </a:xfrm>
        </p:spPr>
        <p:txBody>
          <a:bodyPr/>
          <a:lstStyle>
            <a:lvl1pPr>
              <a:defRPr>
                <a:solidFill>
                  <a:schemeClr val="accent1">
                    <a:lumMod val="75000"/>
                    <a:lumOff val="25000"/>
                  </a:schemeClr>
                </a:solidFill>
              </a:defRPr>
            </a:lvl1pPr>
          </a:lstStyle>
          <a:p>
            <a:fld id="{D5139345-370C-46CD-BCE4-3F80A6B55E0A}" type="datetimeFigureOut">
              <a:rPr lang="fr-CM" smtClean="0"/>
              <a:t>14/04/2025</a:t>
            </a:fld>
            <a:endParaRPr lang="fr-CM"/>
          </a:p>
        </p:txBody>
      </p:sp>
      <p:sp>
        <p:nvSpPr>
          <p:cNvPr id="5" name="Footer Placeholder 4"/>
          <p:cNvSpPr>
            <a:spLocks noGrp="1"/>
          </p:cNvSpPr>
          <p:nvPr>
            <p:ph type="ftr" sz="quarter" idx="11"/>
          </p:nvPr>
        </p:nvSpPr>
        <p:spPr>
          <a:xfrm>
            <a:off x="435894" y="4463859"/>
            <a:ext cx="5187908" cy="273844"/>
          </a:xfrm>
        </p:spPr>
        <p:txBody>
          <a:bodyPr/>
          <a:lstStyle>
            <a:lvl1pPr>
              <a:defRPr>
                <a:solidFill>
                  <a:schemeClr val="accent1">
                    <a:lumMod val="75000"/>
                    <a:lumOff val="25000"/>
                  </a:schemeClr>
                </a:solidFill>
              </a:defRPr>
            </a:lvl1pPr>
          </a:lstStyle>
          <a:p>
            <a:endParaRPr lang="fr-CM"/>
          </a:p>
        </p:txBody>
      </p:sp>
      <p:sp>
        <p:nvSpPr>
          <p:cNvPr id="6" name="Slide Number Placeholder 5"/>
          <p:cNvSpPr>
            <a:spLocks noGrp="1"/>
          </p:cNvSpPr>
          <p:nvPr>
            <p:ph type="sldNum" sz="quarter" idx="12"/>
          </p:nvPr>
        </p:nvSpPr>
        <p:spPr>
          <a:xfrm>
            <a:off x="7918725" y="4467103"/>
            <a:ext cx="762330" cy="273844"/>
          </a:xfrm>
        </p:spPr>
        <p:txBody>
          <a:bodyPr/>
          <a:lstStyle>
            <a:lvl1pPr>
              <a:defRPr>
                <a:solidFill>
                  <a:schemeClr val="accent1">
                    <a:lumMod val="75000"/>
                    <a:lumOff val="25000"/>
                  </a:schemeClr>
                </a:solidFill>
              </a:defRPr>
            </a:lvl1pPr>
          </a:lstStyle>
          <a:p>
            <a:fld id="{E17BD6D4-FC2D-4C4B-A938-30CB18290053}" type="slidenum">
              <a:rPr lang="fr-CM" smtClean="0"/>
              <a:t>‹N°›</a:t>
            </a:fld>
            <a:endParaRPr lang="fr-CM"/>
          </a:p>
        </p:txBody>
      </p:sp>
    </p:spTree>
    <p:extLst>
      <p:ext uri="{BB962C8B-B14F-4D97-AF65-F5344CB8AC3E}">
        <p14:creationId xmlns:p14="http://schemas.microsoft.com/office/powerpoint/2010/main" val="481201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4" y="526617"/>
            <a:ext cx="8272212" cy="760350"/>
          </a:xfrm>
        </p:spPr>
        <p:txBody>
          <a:bodyPr/>
          <a:lstStyle/>
          <a:p>
            <a:r>
              <a:rPr lang="fr-FR"/>
              <a:t>Modifiez le style du titre</a:t>
            </a:r>
            <a:endParaRPr lang="en-US" dirty="0"/>
          </a:p>
        </p:txBody>
      </p:sp>
      <p:sp>
        <p:nvSpPr>
          <p:cNvPr id="3" name="Content Placeholder 2"/>
          <p:cNvSpPr>
            <a:spLocks noGrp="1"/>
          </p:cNvSpPr>
          <p:nvPr>
            <p:ph idx="1"/>
          </p:nvPr>
        </p:nvSpPr>
        <p:spPr>
          <a:xfrm>
            <a:off x="435895" y="1635373"/>
            <a:ext cx="8272211" cy="275872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5139345-370C-46CD-BCE4-3F80A6B55E0A}" type="datetimeFigureOut">
              <a:rPr lang="fr-CM" smtClean="0"/>
              <a:t>14/04/2025</a:t>
            </a:fld>
            <a:endParaRPr lang="fr-CM"/>
          </a:p>
        </p:txBody>
      </p:sp>
      <p:sp>
        <p:nvSpPr>
          <p:cNvPr id="5" name="Footer Placeholder 4"/>
          <p:cNvSpPr>
            <a:spLocks noGrp="1"/>
          </p:cNvSpPr>
          <p:nvPr>
            <p:ph type="ftr" sz="quarter" idx="11"/>
          </p:nvPr>
        </p:nvSpPr>
        <p:spPr/>
        <p:txBody>
          <a:bodyPr/>
          <a:lstStyle/>
          <a:p>
            <a:endParaRPr lang="fr-CM"/>
          </a:p>
        </p:txBody>
      </p:sp>
      <p:sp>
        <p:nvSpPr>
          <p:cNvPr id="6" name="Slide Number Placeholder 5"/>
          <p:cNvSpPr>
            <a:spLocks noGrp="1"/>
          </p:cNvSpPr>
          <p:nvPr>
            <p:ph type="sldNum" sz="quarter" idx="12"/>
          </p:nvPr>
        </p:nvSpPr>
        <p:spPr>
          <a:xfrm>
            <a:off x="7918725" y="4467103"/>
            <a:ext cx="789381" cy="273844"/>
          </a:xfrm>
        </p:spPr>
        <p:txBody>
          <a:bodyPr/>
          <a:lstStyle/>
          <a:p>
            <a:fld id="{E17BD6D4-FC2D-4C4B-A938-30CB18290053}" type="slidenum">
              <a:rPr lang="fr-CM" smtClean="0"/>
              <a:t>‹N°›</a:t>
            </a:fld>
            <a:endParaRPr lang="fr-CM"/>
          </a:p>
        </p:txBody>
      </p:sp>
    </p:spTree>
    <p:extLst>
      <p:ext uri="{BB962C8B-B14F-4D97-AF65-F5344CB8AC3E}">
        <p14:creationId xmlns:p14="http://schemas.microsoft.com/office/powerpoint/2010/main" val="628117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8" name="Rectangle 7"/>
          <p:cNvSpPr>
            <a:spLocks noChangeAspect="1"/>
          </p:cNvSpPr>
          <p:nvPr/>
        </p:nvSpPr>
        <p:spPr>
          <a:xfrm>
            <a:off x="335863" y="3856481"/>
            <a:ext cx="8468145"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2282933"/>
            <a:ext cx="8272211" cy="1123130"/>
          </a:xfrm>
        </p:spPr>
        <p:txBody>
          <a:bodyPr anchor="b">
            <a:normAutofit/>
          </a:bodyPr>
          <a:lstStyle>
            <a:lvl1pPr algn="l">
              <a:defRPr sz="2700" b="0" cap="all">
                <a:solidFill>
                  <a:schemeClr val="accent1"/>
                </a:solidFill>
              </a:defRPr>
            </a:lvl1pPr>
          </a:lstStyle>
          <a:p>
            <a:r>
              <a:rPr lang="fr-FR"/>
              <a:t>Modifiez le style du titre</a:t>
            </a:r>
            <a:endParaRPr lang="en-US" dirty="0"/>
          </a:p>
        </p:txBody>
      </p:sp>
      <p:sp>
        <p:nvSpPr>
          <p:cNvPr id="3" name="Text Placeholder 2"/>
          <p:cNvSpPr>
            <a:spLocks noGrp="1"/>
          </p:cNvSpPr>
          <p:nvPr>
            <p:ph type="body" idx="1"/>
          </p:nvPr>
        </p:nvSpPr>
        <p:spPr>
          <a:xfrm>
            <a:off x="435895" y="3406063"/>
            <a:ext cx="8272211" cy="450417"/>
          </a:xfrm>
        </p:spPr>
        <p:txBody>
          <a:bodyPr anchor="t">
            <a:normAutofit/>
          </a:bodyPr>
          <a:lstStyle>
            <a:lvl1pPr marL="0" indent="0" algn="l">
              <a:buNone/>
              <a:defRPr sz="1350" cap="all">
                <a:solidFill>
                  <a:schemeClr val="accent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D5139345-370C-46CD-BCE4-3F80A6B55E0A}" type="datetimeFigureOut">
              <a:rPr lang="fr-CM" smtClean="0"/>
              <a:t>14/04/2025</a:t>
            </a:fld>
            <a:endParaRPr lang="fr-CM"/>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r-CM"/>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E17BD6D4-FC2D-4C4B-A938-30CB18290053}" type="slidenum">
              <a:rPr lang="fr-CM" smtClean="0"/>
              <a:t>‹N°›</a:t>
            </a:fld>
            <a:endParaRPr lang="fr-CM"/>
          </a:p>
        </p:txBody>
      </p:sp>
    </p:spTree>
    <p:extLst>
      <p:ext uri="{BB962C8B-B14F-4D97-AF65-F5344CB8AC3E}">
        <p14:creationId xmlns:p14="http://schemas.microsoft.com/office/powerpoint/2010/main" val="881491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Rectangle 7"/>
          <p:cNvSpPr>
            <a:spLocks noChangeAspect="1"/>
          </p:cNvSpPr>
          <p:nvPr/>
        </p:nvSpPr>
        <p:spPr>
          <a:xfrm>
            <a:off x="334487"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547244"/>
            <a:ext cx="8272212" cy="741249"/>
          </a:xfrm>
        </p:spPr>
        <p:txBody>
          <a:bodyPr/>
          <a:lstStyle/>
          <a:p>
            <a:r>
              <a:rPr lang="fr-FR"/>
              <a:t>Modifiez le style du titre</a:t>
            </a:r>
            <a:endParaRPr lang="en-US" dirty="0"/>
          </a:p>
        </p:txBody>
      </p:sp>
      <p:sp>
        <p:nvSpPr>
          <p:cNvPr id="3" name="Content Placeholder 2"/>
          <p:cNvSpPr>
            <a:spLocks noGrp="1"/>
          </p:cNvSpPr>
          <p:nvPr>
            <p:ph sz="half" idx="1"/>
          </p:nvPr>
        </p:nvSpPr>
        <p:spPr>
          <a:xfrm>
            <a:off x="435895" y="1671003"/>
            <a:ext cx="4066793" cy="2724785"/>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41313" y="1671003"/>
            <a:ext cx="4066794" cy="2724785"/>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5139345-370C-46CD-BCE4-3F80A6B55E0A}" type="datetimeFigureOut">
              <a:rPr lang="fr-CM" smtClean="0"/>
              <a:t>14/04/2025</a:t>
            </a:fld>
            <a:endParaRPr lang="fr-CM"/>
          </a:p>
        </p:txBody>
      </p:sp>
      <p:sp>
        <p:nvSpPr>
          <p:cNvPr id="6" name="Footer Placeholder 5"/>
          <p:cNvSpPr>
            <a:spLocks noGrp="1"/>
          </p:cNvSpPr>
          <p:nvPr>
            <p:ph type="ftr" sz="quarter" idx="11"/>
          </p:nvPr>
        </p:nvSpPr>
        <p:spPr/>
        <p:txBody>
          <a:bodyPr/>
          <a:lstStyle/>
          <a:p>
            <a:endParaRPr lang="fr-CM"/>
          </a:p>
        </p:txBody>
      </p:sp>
      <p:sp>
        <p:nvSpPr>
          <p:cNvPr id="7" name="Slide Number Placeholder 6"/>
          <p:cNvSpPr>
            <a:spLocks noGrp="1"/>
          </p:cNvSpPr>
          <p:nvPr>
            <p:ph type="sldNum" sz="quarter" idx="12"/>
          </p:nvPr>
        </p:nvSpPr>
        <p:spPr/>
        <p:txBody>
          <a:bodyPr/>
          <a:lstStyle/>
          <a:p>
            <a:fld id="{E17BD6D4-FC2D-4C4B-A938-30CB18290053}" type="slidenum">
              <a:rPr lang="fr-CM" smtClean="0"/>
              <a:t>‹N°›</a:t>
            </a:fld>
            <a:endParaRPr lang="fr-CM"/>
          </a:p>
        </p:txBody>
      </p:sp>
    </p:spTree>
    <p:extLst>
      <p:ext uri="{BB962C8B-B14F-4D97-AF65-F5344CB8AC3E}">
        <p14:creationId xmlns:p14="http://schemas.microsoft.com/office/powerpoint/2010/main" val="2315588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1" name="Rectangle 10"/>
          <p:cNvSpPr>
            <a:spLocks noChangeAspect="1"/>
          </p:cNvSpPr>
          <p:nvPr/>
        </p:nvSpPr>
        <p:spPr>
          <a:xfrm>
            <a:off x="334487"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435895" y="547244"/>
            <a:ext cx="8272212" cy="741249"/>
          </a:xfrm>
        </p:spPr>
        <p:txBody>
          <a:bodyPr/>
          <a:lstStyle/>
          <a:p>
            <a:r>
              <a:rPr lang="fr-FR"/>
              <a:t>Modifiez le style du titre</a:t>
            </a:r>
            <a:endParaRPr lang="en-US" dirty="0"/>
          </a:p>
        </p:txBody>
      </p:sp>
      <p:sp>
        <p:nvSpPr>
          <p:cNvPr id="3" name="Text Placeholder 2"/>
          <p:cNvSpPr>
            <a:spLocks noGrp="1"/>
          </p:cNvSpPr>
          <p:nvPr>
            <p:ph type="body" idx="1"/>
          </p:nvPr>
        </p:nvSpPr>
        <p:spPr>
          <a:xfrm>
            <a:off x="665415" y="1688169"/>
            <a:ext cx="3815306" cy="402004"/>
          </a:xfrm>
        </p:spPr>
        <p:txBody>
          <a:bodyPr anchor="b">
            <a:noAutofit/>
          </a:bodyPr>
          <a:lstStyle>
            <a:lvl1pPr marL="0" indent="0">
              <a:buNone/>
              <a:defRPr sz="1650" b="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435896" y="2194540"/>
            <a:ext cx="4044825" cy="220124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892802" y="1688169"/>
            <a:ext cx="3815305" cy="415030"/>
          </a:xfrm>
        </p:spPr>
        <p:txBody>
          <a:bodyPr anchor="b">
            <a:noAutofit/>
          </a:bodyPr>
          <a:lstStyle>
            <a:lvl1pPr marL="0" indent="0">
              <a:buNone/>
              <a:defRPr sz="1650" b="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663282" y="2194540"/>
            <a:ext cx="4044825" cy="220124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5139345-370C-46CD-BCE4-3F80A6B55E0A}" type="datetimeFigureOut">
              <a:rPr lang="fr-CM" smtClean="0"/>
              <a:t>14/04/2025</a:t>
            </a:fld>
            <a:endParaRPr lang="fr-CM"/>
          </a:p>
        </p:txBody>
      </p:sp>
      <p:sp>
        <p:nvSpPr>
          <p:cNvPr id="8" name="Footer Placeholder 7"/>
          <p:cNvSpPr>
            <a:spLocks noGrp="1"/>
          </p:cNvSpPr>
          <p:nvPr>
            <p:ph type="ftr" sz="quarter" idx="11"/>
          </p:nvPr>
        </p:nvSpPr>
        <p:spPr/>
        <p:txBody>
          <a:bodyPr/>
          <a:lstStyle/>
          <a:p>
            <a:endParaRPr lang="fr-CM"/>
          </a:p>
        </p:txBody>
      </p:sp>
      <p:sp>
        <p:nvSpPr>
          <p:cNvPr id="9" name="Slide Number Placeholder 8"/>
          <p:cNvSpPr>
            <a:spLocks noGrp="1"/>
          </p:cNvSpPr>
          <p:nvPr>
            <p:ph type="sldNum" sz="quarter" idx="12"/>
          </p:nvPr>
        </p:nvSpPr>
        <p:spPr/>
        <p:txBody>
          <a:bodyPr/>
          <a:lstStyle/>
          <a:p>
            <a:fld id="{E17BD6D4-FC2D-4C4B-A938-30CB18290053}" type="slidenum">
              <a:rPr lang="fr-CM" smtClean="0"/>
              <a:t>‹N°›</a:t>
            </a:fld>
            <a:endParaRPr lang="fr-CM"/>
          </a:p>
        </p:txBody>
      </p:sp>
    </p:spTree>
    <p:extLst>
      <p:ext uri="{BB962C8B-B14F-4D97-AF65-F5344CB8AC3E}">
        <p14:creationId xmlns:p14="http://schemas.microsoft.com/office/powerpoint/2010/main" val="2609476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7" name="Rectangle 6"/>
          <p:cNvSpPr>
            <a:spLocks noChangeAspect="1"/>
          </p:cNvSpPr>
          <p:nvPr/>
        </p:nvSpPr>
        <p:spPr>
          <a:xfrm>
            <a:off x="330512"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431921" y="547244"/>
            <a:ext cx="8272212" cy="741249"/>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5139345-370C-46CD-BCE4-3F80A6B55E0A}" type="datetimeFigureOut">
              <a:rPr lang="fr-CM" smtClean="0"/>
              <a:t>14/04/2025</a:t>
            </a:fld>
            <a:endParaRPr lang="fr-CM"/>
          </a:p>
        </p:txBody>
      </p:sp>
      <p:sp>
        <p:nvSpPr>
          <p:cNvPr id="4" name="Footer Placeholder 3"/>
          <p:cNvSpPr>
            <a:spLocks noGrp="1"/>
          </p:cNvSpPr>
          <p:nvPr>
            <p:ph type="ftr" sz="quarter" idx="11"/>
          </p:nvPr>
        </p:nvSpPr>
        <p:spPr/>
        <p:txBody>
          <a:bodyPr/>
          <a:lstStyle/>
          <a:p>
            <a:endParaRPr lang="fr-CM"/>
          </a:p>
        </p:txBody>
      </p:sp>
      <p:sp>
        <p:nvSpPr>
          <p:cNvPr id="5" name="Slide Number Placeholder 4"/>
          <p:cNvSpPr>
            <a:spLocks noGrp="1"/>
          </p:cNvSpPr>
          <p:nvPr>
            <p:ph type="sldNum" sz="quarter" idx="12"/>
          </p:nvPr>
        </p:nvSpPr>
        <p:spPr/>
        <p:txBody>
          <a:bodyPr/>
          <a:lstStyle/>
          <a:p>
            <a:fld id="{E17BD6D4-FC2D-4C4B-A938-30CB18290053}" type="slidenum">
              <a:rPr lang="fr-CM" smtClean="0"/>
              <a:t>‹N°›</a:t>
            </a:fld>
            <a:endParaRPr lang="fr-CM"/>
          </a:p>
        </p:txBody>
      </p:sp>
    </p:spTree>
    <p:extLst>
      <p:ext uri="{BB962C8B-B14F-4D97-AF65-F5344CB8AC3E}">
        <p14:creationId xmlns:p14="http://schemas.microsoft.com/office/powerpoint/2010/main" val="4262134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39345-370C-46CD-BCE4-3F80A6B55E0A}" type="datetimeFigureOut">
              <a:rPr lang="fr-CM" smtClean="0"/>
              <a:t>14/04/2025</a:t>
            </a:fld>
            <a:endParaRPr lang="fr-CM"/>
          </a:p>
        </p:txBody>
      </p:sp>
      <p:sp>
        <p:nvSpPr>
          <p:cNvPr id="3" name="Footer Placeholder 2"/>
          <p:cNvSpPr>
            <a:spLocks noGrp="1"/>
          </p:cNvSpPr>
          <p:nvPr>
            <p:ph type="ftr" sz="quarter" idx="11"/>
          </p:nvPr>
        </p:nvSpPr>
        <p:spPr/>
        <p:txBody>
          <a:bodyPr/>
          <a:lstStyle/>
          <a:p>
            <a:endParaRPr lang="fr-CM"/>
          </a:p>
        </p:txBody>
      </p:sp>
      <p:sp>
        <p:nvSpPr>
          <p:cNvPr id="4" name="Slide Number Placeholder 3"/>
          <p:cNvSpPr>
            <a:spLocks noGrp="1"/>
          </p:cNvSpPr>
          <p:nvPr>
            <p:ph type="sldNum" sz="quarter" idx="12"/>
          </p:nvPr>
        </p:nvSpPr>
        <p:spPr/>
        <p:txBody>
          <a:bodyPr/>
          <a:lstStyle/>
          <a:p>
            <a:fld id="{E17BD6D4-FC2D-4C4B-A938-30CB18290053}" type="slidenum">
              <a:rPr lang="fr-CM" smtClean="0"/>
              <a:t>‹N°›</a:t>
            </a:fld>
            <a:endParaRPr lang="fr-CM"/>
          </a:p>
        </p:txBody>
      </p:sp>
    </p:spTree>
    <p:extLst>
      <p:ext uri="{BB962C8B-B14F-4D97-AF65-F5344CB8AC3E}">
        <p14:creationId xmlns:p14="http://schemas.microsoft.com/office/powerpoint/2010/main" val="3729449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335863" y="3856480"/>
            <a:ext cx="8473650" cy="9560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4" y="3946722"/>
            <a:ext cx="3682084" cy="517136"/>
          </a:xfrm>
        </p:spPr>
        <p:txBody>
          <a:bodyPr anchor="ctr"/>
          <a:lstStyle>
            <a:lvl1pPr algn="l">
              <a:defRPr sz="1500" b="0">
                <a:solidFill>
                  <a:schemeClr val="accent1">
                    <a:lumMod val="75000"/>
                    <a:lumOff val="25000"/>
                  </a:schemeClr>
                </a:solidFill>
              </a:defRPr>
            </a:lvl1pPr>
          </a:lstStyle>
          <a:p>
            <a:r>
              <a:rPr lang="fr-FR"/>
              <a:t>Modifiez le style du titre</a:t>
            </a:r>
            <a:endParaRPr lang="en-US" dirty="0"/>
          </a:p>
        </p:txBody>
      </p:sp>
      <p:sp>
        <p:nvSpPr>
          <p:cNvPr id="3" name="Content Placeholder 2"/>
          <p:cNvSpPr>
            <a:spLocks noGrp="1"/>
          </p:cNvSpPr>
          <p:nvPr>
            <p:ph idx="1"/>
          </p:nvPr>
        </p:nvSpPr>
        <p:spPr>
          <a:xfrm>
            <a:off x="335862" y="450900"/>
            <a:ext cx="8469630" cy="3153600"/>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305618" y="3946723"/>
            <a:ext cx="4402490" cy="517136"/>
          </a:xfrm>
        </p:spPr>
        <p:txBody>
          <a:bodyPr anchor="ctr">
            <a:normAutofit/>
          </a:bodyPr>
          <a:lstStyle>
            <a:lvl1pPr marL="0" indent="0" algn="r">
              <a:buNone/>
              <a:defRPr sz="825">
                <a:solidFill>
                  <a:schemeClr val="bg1"/>
                </a:solidFill>
              </a:defRPr>
            </a:lvl1pPr>
            <a:lvl2pPr marL="342900" indent="0">
              <a:buNone/>
              <a:defRPr sz="825"/>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D5139345-370C-46CD-BCE4-3F80A6B55E0A}" type="datetimeFigureOut">
              <a:rPr lang="fr-CM" smtClean="0"/>
              <a:t>14/04/2025</a:t>
            </a:fld>
            <a:endParaRPr lang="fr-CM"/>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fr-CM"/>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E17BD6D4-FC2D-4C4B-A938-30CB18290053}" type="slidenum">
              <a:rPr lang="fr-CM" smtClean="0"/>
              <a:t>‹N°›</a:t>
            </a:fld>
            <a:endParaRPr lang="fr-CM"/>
          </a:p>
        </p:txBody>
      </p:sp>
    </p:spTree>
    <p:extLst>
      <p:ext uri="{BB962C8B-B14F-4D97-AF65-F5344CB8AC3E}">
        <p14:creationId xmlns:p14="http://schemas.microsoft.com/office/powerpoint/2010/main" val="1556432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35895" y="3520042"/>
            <a:ext cx="8272212" cy="425054"/>
          </a:xfrm>
        </p:spPr>
        <p:txBody>
          <a:bodyPr anchor="b">
            <a:normAutofit/>
          </a:bodyPr>
          <a:lstStyle>
            <a:lvl1pPr algn="l">
              <a:defRPr sz="1800" b="0">
                <a:solidFill>
                  <a:schemeClr val="accent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335863" y="449794"/>
            <a:ext cx="8468144" cy="266793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4" name="Text Placeholder 3"/>
          <p:cNvSpPr>
            <a:spLocks noGrp="1"/>
          </p:cNvSpPr>
          <p:nvPr>
            <p:ph type="body" sz="half" idx="2"/>
          </p:nvPr>
        </p:nvSpPr>
        <p:spPr>
          <a:xfrm>
            <a:off x="435894" y="3945096"/>
            <a:ext cx="8272213" cy="449003"/>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5139345-370C-46CD-BCE4-3F80A6B55E0A}" type="datetimeFigureOut">
              <a:rPr lang="fr-CM" smtClean="0"/>
              <a:t>14/04/2025</a:t>
            </a:fld>
            <a:endParaRPr lang="fr-CM"/>
          </a:p>
        </p:txBody>
      </p:sp>
      <p:sp>
        <p:nvSpPr>
          <p:cNvPr id="6" name="Footer Placeholder 5"/>
          <p:cNvSpPr>
            <a:spLocks noGrp="1"/>
          </p:cNvSpPr>
          <p:nvPr>
            <p:ph type="ftr" sz="quarter" idx="11"/>
          </p:nvPr>
        </p:nvSpPr>
        <p:spPr/>
        <p:txBody>
          <a:bodyPr/>
          <a:lstStyle/>
          <a:p>
            <a:endParaRPr lang="fr-CM"/>
          </a:p>
        </p:txBody>
      </p:sp>
      <p:sp>
        <p:nvSpPr>
          <p:cNvPr id="7" name="Slide Number Placeholder 6"/>
          <p:cNvSpPr>
            <a:spLocks noGrp="1"/>
          </p:cNvSpPr>
          <p:nvPr>
            <p:ph type="sldNum" sz="quarter" idx="12"/>
          </p:nvPr>
        </p:nvSpPr>
        <p:spPr/>
        <p:txBody>
          <a:bodyPr/>
          <a:lstStyle/>
          <a:p>
            <a:fld id="{E17BD6D4-FC2D-4C4B-A938-30CB18290053}" type="slidenum">
              <a:rPr lang="fr-CM" smtClean="0"/>
              <a:t>‹N°›</a:t>
            </a:fld>
            <a:endParaRPr lang="fr-CM"/>
          </a:p>
        </p:txBody>
      </p:sp>
    </p:spTree>
    <p:extLst>
      <p:ext uri="{BB962C8B-B14F-4D97-AF65-F5344CB8AC3E}">
        <p14:creationId xmlns:p14="http://schemas.microsoft.com/office/powerpoint/2010/main" val="1463598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8" name="Rectangle 7"/>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435894" y="526617"/>
            <a:ext cx="8272212" cy="760350"/>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5139345-370C-46CD-BCE4-3F80A6B55E0A}" type="datetimeFigureOut">
              <a:rPr lang="fr-CM" smtClean="0"/>
              <a:t>14/04/2025</a:t>
            </a:fld>
            <a:endParaRPr lang="fr-CM"/>
          </a:p>
        </p:txBody>
      </p:sp>
      <p:sp>
        <p:nvSpPr>
          <p:cNvPr id="5" name="Footer Placeholder 4"/>
          <p:cNvSpPr>
            <a:spLocks noGrp="1"/>
          </p:cNvSpPr>
          <p:nvPr>
            <p:ph type="ftr" sz="quarter" idx="11"/>
          </p:nvPr>
        </p:nvSpPr>
        <p:spPr/>
        <p:txBody>
          <a:bodyPr/>
          <a:lstStyle/>
          <a:p>
            <a:endParaRPr lang="fr-CM"/>
          </a:p>
        </p:txBody>
      </p:sp>
      <p:sp>
        <p:nvSpPr>
          <p:cNvPr id="6" name="Slide Number Placeholder 5"/>
          <p:cNvSpPr>
            <a:spLocks noGrp="1"/>
          </p:cNvSpPr>
          <p:nvPr>
            <p:ph type="sldNum" sz="quarter" idx="12"/>
          </p:nvPr>
        </p:nvSpPr>
        <p:spPr/>
        <p:txBody>
          <a:bodyPr/>
          <a:lstStyle/>
          <a:p>
            <a:fld id="{E17BD6D4-FC2D-4C4B-A938-30CB18290053}" type="slidenum">
              <a:rPr lang="fr-CM" smtClean="0"/>
              <a:t>‹N°›</a:t>
            </a:fld>
            <a:endParaRPr lang="fr-CM"/>
          </a:p>
        </p:txBody>
      </p:sp>
    </p:spTree>
    <p:extLst>
      <p:ext uri="{BB962C8B-B14F-4D97-AF65-F5344CB8AC3E}">
        <p14:creationId xmlns:p14="http://schemas.microsoft.com/office/powerpoint/2010/main" val="3100938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6629401" y="449794"/>
            <a:ext cx="2180113" cy="436271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1" y="506795"/>
            <a:ext cx="1503123" cy="388730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581193" y="506795"/>
            <a:ext cx="5922209" cy="3887305"/>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745255" y="4467103"/>
            <a:ext cx="996106" cy="273844"/>
          </a:xfrm>
        </p:spPr>
        <p:txBody>
          <a:bodyPr/>
          <a:lstStyle>
            <a:lvl1pPr>
              <a:defRPr>
                <a:solidFill>
                  <a:schemeClr val="accent1">
                    <a:lumMod val="75000"/>
                    <a:lumOff val="25000"/>
                  </a:schemeClr>
                </a:solidFill>
              </a:defRPr>
            </a:lvl1pPr>
          </a:lstStyle>
          <a:p>
            <a:fld id="{D5139345-370C-46CD-BCE4-3F80A6B55E0A}" type="datetimeFigureOut">
              <a:rPr lang="fr-CM" smtClean="0"/>
              <a:t>14/04/2025</a:t>
            </a:fld>
            <a:endParaRPr lang="fr-CM"/>
          </a:p>
        </p:txBody>
      </p:sp>
      <p:sp>
        <p:nvSpPr>
          <p:cNvPr id="5" name="Footer Placeholder 4"/>
          <p:cNvSpPr>
            <a:spLocks noGrp="1"/>
          </p:cNvSpPr>
          <p:nvPr>
            <p:ph type="ftr" sz="quarter" idx="11"/>
          </p:nvPr>
        </p:nvSpPr>
        <p:spPr>
          <a:xfrm>
            <a:off x="581193" y="4463859"/>
            <a:ext cx="5922209" cy="273844"/>
          </a:xfrm>
        </p:spPr>
        <p:txBody>
          <a:bodyPr/>
          <a:lstStyle/>
          <a:p>
            <a:endParaRPr lang="fr-CM"/>
          </a:p>
        </p:txBody>
      </p:sp>
      <p:sp>
        <p:nvSpPr>
          <p:cNvPr id="6" name="Slide Number Placeholder 5"/>
          <p:cNvSpPr>
            <a:spLocks noGrp="1"/>
          </p:cNvSpPr>
          <p:nvPr>
            <p:ph type="sldNum" sz="quarter" idx="12"/>
          </p:nvPr>
        </p:nvSpPr>
        <p:spPr>
          <a:xfrm>
            <a:off x="7834962" y="4467103"/>
            <a:ext cx="873146" cy="273844"/>
          </a:xfrm>
        </p:spPr>
        <p:txBody>
          <a:bodyPr/>
          <a:lstStyle>
            <a:lvl1pPr>
              <a:defRPr>
                <a:solidFill>
                  <a:schemeClr val="accent1">
                    <a:lumMod val="75000"/>
                    <a:lumOff val="25000"/>
                  </a:schemeClr>
                </a:solidFill>
              </a:defRPr>
            </a:lvl1pPr>
          </a:lstStyle>
          <a:p>
            <a:fld id="{E17BD6D4-FC2D-4C4B-A938-30CB18290053}" type="slidenum">
              <a:rPr lang="fr-CM" smtClean="0"/>
              <a:t>‹N°›</a:t>
            </a:fld>
            <a:endParaRPr lang="fr-CM"/>
          </a:p>
        </p:txBody>
      </p:sp>
    </p:spTree>
    <p:extLst>
      <p:ext uri="{BB962C8B-B14F-4D97-AF65-F5344CB8AC3E}">
        <p14:creationId xmlns:p14="http://schemas.microsoft.com/office/powerpoint/2010/main" val="18230507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p:spTree>
      <p:nvGrpSpPr>
        <p:cNvPr id="1" name=""/>
        <p:cNvGrpSpPr/>
        <p:nvPr/>
      </p:nvGrpSpPr>
      <p:grpSpPr>
        <a:xfrm>
          <a:off x="0" y="0"/>
          <a:ext cx="9144000" cy="5143500"/>
          <a:chOff x="0" y="0"/>
          <a:chExt cx="9144000" cy="5143500"/>
        </a:xfrm>
      </p:grpSpPr>
    </p:spTree>
    <p:extLst>
      <p:ext uri="{BB962C8B-B14F-4D97-AF65-F5344CB8AC3E}">
        <p14:creationId xmlns:p14="http://schemas.microsoft.com/office/powerpoint/2010/main" val="1863592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USTOM_1">
    <p:spTree>
      <p:nvGrpSpPr>
        <p:cNvPr id="1" name=""/>
        <p:cNvGrpSpPr/>
        <p:nvPr/>
      </p:nvGrpSpPr>
      <p:grpSpPr>
        <a:xfrm>
          <a:off x="0" y="0"/>
          <a:ext cx="9144000" cy="5143500"/>
          <a:chOff x="0" y="0"/>
          <a:chExt cx="9144000" cy="5143500"/>
        </a:xfrm>
      </p:grpSpPr>
    </p:spTree>
    <p:extLst>
      <p:ext uri="{BB962C8B-B14F-4D97-AF65-F5344CB8AC3E}">
        <p14:creationId xmlns:p14="http://schemas.microsoft.com/office/powerpoint/2010/main" val="24287644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USTOM_1_1">
    <p:spTree>
      <p:nvGrpSpPr>
        <p:cNvPr id="1" name=""/>
        <p:cNvGrpSpPr/>
        <p:nvPr/>
      </p:nvGrpSpPr>
      <p:grpSpPr>
        <a:xfrm>
          <a:off x="0" y="0"/>
          <a:ext cx="9144000" cy="5143500"/>
          <a:chOff x="0" y="0"/>
          <a:chExt cx="9144000" cy="5143500"/>
        </a:xfrm>
      </p:grpSpPr>
    </p:spTree>
    <p:extLst>
      <p:ext uri="{BB962C8B-B14F-4D97-AF65-F5344CB8AC3E}">
        <p14:creationId xmlns:p14="http://schemas.microsoft.com/office/powerpoint/2010/main" val="799875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USTOM_1_1_1_1_1">
    <p:spTree>
      <p:nvGrpSpPr>
        <p:cNvPr id="1" name=""/>
        <p:cNvGrpSpPr/>
        <p:nvPr/>
      </p:nvGrpSpPr>
      <p:grpSpPr>
        <a:xfrm>
          <a:off x="0" y="0"/>
          <a:ext cx="9144000" cy="5143500"/>
          <a:chOff x="0" y="0"/>
          <a:chExt cx="9144000" cy="5143500"/>
        </a:xfrm>
      </p:grpSpPr>
    </p:spTree>
    <p:extLst>
      <p:ext uri="{BB962C8B-B14F-4D97-AF65-F5344CB8AC3E}">
        <p14:creationId xmlns:p14="http://schemas.microsoft.com/office/powerpoint/2010/main" val="132566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USTOM_1_1_1_1_1_1">
    <p:spTree>
      <p:nvGrpSpPr>
        <p:cNvPr id="1" name=""/>
        <p:cNvGrpSpPr/>
        <p:nvPr/>
      </p:nvGrpSpPr>
      <p:grpSpPr>
        <a:xfrm>
          <a:off x="0" y="0"/>
          <a:ext cx="9144000" cy="5143500"/>
          <a:chOff x="0" y="0"/>
          <a:chExt cx="9144000" cy="5143500"/>
        </a:xfrm>
      </p:grpSpPr>
    </p:spTree>
    <p:extLst>
      <p:ext uri="{BB962C8B-B14F-4D97-AF65-F5344CB8AC3E}">
        <p14:creationId xmlns:p14="http://schemas.microsoft.com/office/powerpoint/2010/main" val="34512837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USTOM_1_1_1_1_1_1_1">
    <p:spTree>
      <p:nvGrpSpPr>
        <p:cNvPr id="1" name=""/>
        <p:cNvGrpSpPr/>
        <p:nvPr/>
      </p:nvGrpSpPr>
      <p:grpSpPr>
        <a:xfrm>
          <a:off x="0" y="0"/>
          <a:ext cx="9144000" cy="5143500"/>
          <a:chOff x="0" y="0"/>
          <a:chExt cx="9144000" cy="5143500"/>
        </a:xfrm>
      </p:grpSpPr>
    </p:spTree>
    <p:extLst>
      <p:ext uri="{BB962C8B-B14F-4D97-AF65-F5344CB8AC3E}">
        <p14:creationId xmlns:p14="http://schemas.microsoft.com/office/powerpoint/2010/main" val="646362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CUSTOM_1_1_1">
    <p:spTree>
      <p:nvGrpSpPr>
        <p:cNvPr id="1" name=""/>
        <p:cNvGrpSpPr/>
        <p:nvPr/>
      </p:nvGrpSpPr>
      <p:grpSpPr>
        <a:xfrm>
          <a:off x="0" y="0"/>
          <a:ext cx="9144000" cy="5143500"/>
          <a:chOff x="0" y="0"/>
          <a:chExt cx="9144000" cy="5143500"/>
        </a:xfrm>
      </p:grpSpPr>
    </p:spTree>
    <p:extLst>
      <p:ext uri="{BB962C8B-B14F-4D97-AF65-F5344CB8AC3E}">
        <p14:creationId xmlns:p14="http://schemas.microsoft.com/office/powerpoint/2010/main" val="2381203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4" y="528843"/>
            <a:ext cx="8272212" cy="892166"/>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435894" y="1752002"/>
            <a:ext cx="8272212" cy="2642096"/>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704464" y="4467103"/>
            <a:ext cx="2133599" cy="273844"/>
          </a:xfrm>
          <a:prstGeom prst="rect">
            <a:avLst/>
          </a:prstGeom>
        </p:spPr>
        <p:txBody>
          <a:bodyPr vert="horz" lIns="91440" tIns="45720" rIns="91440" bIns="45720" rtlCol="0" anchor="ctr"/>
          <a:lstStyle>
            <a:lvl1pPr algn="r">
              <a:defRPr sz="675">
                <a:solidFill>
                  <a:schemeClr val="accent2"/>
                </a:solidFill>
              </a:defRPr>
            </a:lvl1pPr>
          </a:lstStyle>
          <a:p>
            <a:fld id="{D5139345-370C-46CD-BCE4-3F80A6B55E0A}" type="datetimeFigureOut">
              <a:rPr lang="fr-CM" smtClean="0"/>
              <a:t>14/04/2025</a:t>
            </a:fld>
            <a:endParaRPr lang="fr-CM"/>
          </a:p>
        </p:txBody>
      </p:sp>
      <p:sp>
        <p:nvSpPr>
          <p:cNvPr id="5" name="Footer Placeholder 4"/>
          <p:cNvSpPr>
            <a:spLocks noGrp="1"/>
          </p:cNvSpPr>
          <p:nvPr>
            <p:ph type="ftr" sz="quarter" idx="3"/>
          </p:nvPr>
        </p:nvSpPr>
        <p:spPr>
          <a:xfrm>
            <a:off x="435894" y="4463859"/>
            <a:ext cx="5187908" cy="273844"/>
          </a:xfrm>
          <a:prstGeom prst="rect">
            <a:avLst/>
          </a:prstGeom>
        </p:spPr>
        <p:txBody>
          <a:bodyPr vert="horz" lIns="91440" tIns="45720" rIns="91440" bIns="45720" rtlCol="0" anchor="ctr"/>
          <a:lstStyle>
            <a:lvl1pPr algn="l">
              <a:defRPr sz="675" cap="all">
                <a:solidFill>
                  <a:schemeClr val="accent2"/>
                </a:solidFill>
              </a:defRPr>
            </a:lvl1pPr>
          </a:lstStyle>
          <a:p>
            <a:endParaRPr lang="fr-CM"/>
          </a:p>
        </p:txBody>
      </p:sp>
      <p:sp>
        <p:nvSpPr>
          <p:cNvPr id="6" name="Slide Number Placeholder 5"/>
          <p:cNvSpPr>
            <a:spLocks noGrp="1"/>
          </p:cNvSpPr>
          <p:nvPr>
            <p:ph type="sldNum" sz="quarter" idx="4"/>
          </p:nvPr>
        </p:nvSpPr>
        <p:spPr>
          <a:xfrm>
            <a:off x="7918725" y="4467103"/>
            <a:ext cx="789383" cy="273844"/>
          </a:xfrm>
          <a:prstGeom prst="rect">
            <a:avLst/>
          </a:prstGeom>
        </p:spPr>
        <p:txBody>
          <a:bodyPr vert="horz" lIns="91440" tIns="45720" rIns="91440" bIns="45720" rtlCol="0" anchor="ctr"/>
          <a:lstStyle>
            <a:lvl1pPr algn="r">
              <a:defRPr sz="675">
                <a:solidFill>
                  <a:schemeClr val="accent2"/>
                </a:solidFill>
              </a:defRPr>
            </a:lvl1pPr>
          </a:lstStyle>
          <a:p>
            <a:fld id="{E17BD6D4-FC2D-4C4B-A938-30CB18290053}" type="slidenum">
              <a:rPr lang="fr-CM" smtClean="0"/>
              <a:t>‹N°›</a:t>
            </a:fld>
            <a:endParaRPr lang="fr-CM"/>
          </a:p>
        </p:txBody>
      </p:sp>
      <p:sp>
        <p:nvSpPr>
          <p:cNvPr id="9" name="Rectangle 8"/>
          <p:cNvSpPr/>
          <p:nvPr/>
        </p:nvSpPr>
        <p:spPr>
          <a:xfrm>
            <a:off x="334901" y="342900"/>
            <a:ext cx="2777490" cy="712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6031610" y="340232"/>
            <a:ext cx="2777490" cy="739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181373" y="342900"/>
            <a:ext cx="2777490" cy="6858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128529228"/>
      </p:ext>
    </p:extLst>
  </p:cSld>
  <p:clrMap bg1="lt1" tx1="dk1" bg2="lt2" tx2="dk2" accent1="accent1" accent2="accent2" accent3="accent3" accent4="accent4" accent5="accent5" accent6="accent6" hlink="hlink" folHlink="folHlink"/>
  <p:sldLayoutIdLst>
    <p:sldLayoutId id="2432786559" r:id="rId1"/>
    <p:sldLayoutId id="2432786560" r:id="rId2"/>
    <p:sldLayoutId id="2432786561" r:id="rId3"/>
    <p:sldLayoutId id="2432786562" r:id="rId4"/>
    <p:sldLayoutId id="2432786563" r:id="rId5"/>
    <p:sldLayoutId id="2432786564" r:id="rId6"/>
    <p:sldLayoutId id="2432786565" r:id="rId7"/>
    <p:sldLayoutId id="2432786566" r:id="rId8"/>
    <p:sldLayoutId id="2432786567" r:id="rId9"/>
    <p:sldLayoutId id="2432786568" r:id="rId10"/>
    <p:sldLayoutId id="2432786569" r:id="rId11"/>
    <p:sldLayoutId id="2432786570" r:id="rId12"/>
    <p:sldLayoutId id="2432786571" r:id="rId13"/>
    <p:sldLayoutId id="2432786572" r:id="rId14"/>
    <p:sldLayoutId id="2432786573" r:id="rId15"/>
    <p:sldLayoutId id="2432786574" r:id="rId16"/>
    <p:sldLayoutId id="2432786576" r:id="rId17"/>
    <p:sldLayoutId id="2432786577" r:id="rId18"/>
  </p:sldLayoutIdLst>
  <p:txStyles>
    <p:title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500" indent="-229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350" kern="1200">
          <a:solidFill>
            <a:schemeClr val="tx2"/>
          </a:solidFill>
          <a:latin typeface="+mn-lt"/>
          <a:ea typeface="+mn-ea"/>
          <a:cs typeface="+mn-cs"/>
        </a:defRPr>
      </a:lvl1pPr>
      <a:lvl2pPr marL="472500" indent="-229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2pPr>
      <a:lvl3pPr marL="675000" indent="-202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050" kern="1200">
          <a:solidFill>
            <a:schemeClr val="tx2"/>
          </a:solidFill>
          <a:latin typeface="+mn-lt"/>
          <a:ea typeface="+mn-ea"/>
          <a:cs typeface="+mn-cs"/>
        </a:defRPr>
      </a:lvl3pPr>
      <a:lvl4pPr marL="931500" indent="-175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4pPr>
      <a:lvl5pPr marL="1201500" indent="-175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5pPr>
      <a:lvl6pPr marL="142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4.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40.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543050"/>
          <a:ext cx="8229600" cy="3143250"/>
          <a:chOff x="914400" y="1543050"/>
          <a:chExt cx="8229600" cy="3143250"/>
        </a:xfrm>
      </p:grpSpPr>
      <p:sp>
        <p:nvSpPr>
          <p:cNvPr id="2" name="ZoneTexte 1"/>
          <p:cNvSpPr txBox="1"/>
          <p:nvPr/>
        </p:nvSpPr>
        <p:spPr>
          <a:xfrm>
            <a:off x="1403648" y="1419622"/>
            <a:ext cx="5839544" cy="1323439"/>
          </a:xfrm>
          <a:prstGeom prst="rect">
            <a:avLst/>
          </a:prstGeom>
          <a:noFill/>
        </p:spPr>
        <p:txBody>
          <a:bodyPr vert="horz" wrap="square" lIns="91440" tIns="45720" rIns="91440" bIns="45720" rtlCol="0" anchor="t" anchorCtr="0">
            <a:spAutoFit/>
          </a:bodyPr>
          <a:lstStyle/>
          <a:p>
            <a:pPr marL="0" marR="0" lvl="0" indent="0" algn="ctr" rtl="0" fontAlgn="t">
              <a:lnSpc>
                <a:spcPct val="100000"/>
              </a:lnSpc>
              <a:spcBef>
                <a:spcPts val="0"/>
              </a:spcBef>
              <a:spcAft>
                <a:spcPts val="0"/>
              </a:spcAft>
            </a:pPr>
            <a:r>
              <a:rPr lang="fr-CM" sz="4000" dirty="0"/>
              <a:t>Transport for London (</a:t>
            </a:r>
            <a:r>
              <a:rPr lang="fr-CM" sz="4000" dirty="0" err="1"/>
              <a:t>TfL</a:t>
            </a:r>
            <a:r>
              <a:rPr lang="fr-CM" sz="4000" dirty="0"/>
              <a:t>) Data </a:t>
            </a:r>
            <a:r>
              <a:rPr lang="fr-CM" sz="4000" dirty="0" err="1"/>
              <a:t>Analysis</a:t>
            </a:r>
            <a:endParaRPr lang="en-US" sz="4000" b="1" u="none" strike="noStrike" cap="none" spc="0" dirty="0">
              <a:solidFill>
                <a:srgbClr val="121212">
                  <a:alpha val="100000"/>
                </a:srgbClr>
              </a:solidFill>
              <a:latin typeface="Times New Roman"/>
            </a:endParaRPr>
          </a:p>
        </p:txBody>
      </p:sp>
      <p:sp>
        <p:nvSpPr>
          <p:cNvPr id="3" name="ZoneTexte 2"/>
          <p:cNvSpPr txBox="1"/>
          <p:nvPr/>
        </p:nvSpPr>
        <p:spPr>
          <a:xfrm>
            <a:off x="914400" y="2743061"/>
            <a:ext cx="7315200" cy="707886"/>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2000" b="1" u="none" strike="noStrike" cap="none" spc="0" dirty="0">
                <a:solidFill>
                  <a:srgbClr val="424242">
                    <a:alpha val="100000"/>
                  </a:srgbClr>
                </a:solidFill>
                <a:latin typeface="Times New Roman"/>
              </a:rPr>
              <a:t>A Comprehensive Analysis of </a:t>
            </a:r>
            <a:r>
              <a:rPr lang="en-US" sz="2000" b="1" u="none" strike="noStrike" cap="none" spc="0" dirty="0" err="1">
                <a:solidFill>
                  <a:srgbClr val="424242">
                    <a:alpha val="100000"/>
                  </a:srgbClr>
                </a:solidFill>
                <a:latin typeface="Times New Roman"/>
              </a:rPr>
              <a:t>TfL</a:t>
            </a:r>
            <a:r>
              <a:rPr lang="en-US" sz="2000" b="1" u="none" strike="noStrike" cap="none" spc="0" dirty="0">
                <a:solidFill>
                  <a:srgbClr val="424242">
                    <a:alpha val="100000"/>
                  </a:srgbClr>
                </a:solidFill>
                <a:latin typeface="Times New Roman"/>
              </a:rPr>
              <a:t> Data Using Python, </a:t>
            </a:r>
            <a:r>
              <a:rPr lang="en-US" sz="2000" b="1" dirty="0">
                <a:solidFill>
                  <a:srgbClr val="424242">
                    <a:alpha val="100000"/>
                  </a:srgbClr>
                </a:solidFill>
                <a:latin typeface="Times New Roman"/>
              </a:rPr>
              <a:t>Tableau</a:t>
            </a:r>
            <a:r>
              <a:rPr lang="en-US" sz="2000" b="1" u="none" strike="noStrike" cap="none" spc="0" dirty="0">
                <a:solidFill>
                  <a:srgbClr val="424242">
                    <a:alpha val="100000"/>
                  </a:srgbClr>
                </a:solidFill>
                <a:latin typeface="Times New Roman"/>
              </a:rPr>
              <a:t> and Power BI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4200525"/>
          <a:chOff x="914400" y="1028700"/>
          <a:chExt cx="8229600" cy="4200525"/>
        </a:xfrm>
      </p:grpSpPr>
      <p:sp>
        <p:nvSpPr>
          <p:cNvPr id="2" name="ZoneTexte 1"/>
          <p:cNvSpPr txBox="1"/>
          <p:nvPr/>
        </p:nvSpPr>
        <p:spPr>
          <a:xfrm>
            <a:off x="1828800" y="1028700"/>
            <a:ext cx="5486400" cy="57150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4000" b="1" u="none" strike="noStrike" cap="none" spc="0" dirty="0">
                <a:solidFill>
                  <a:srgbClr val="424242">
                    <a:alpha val="100000"/>
                  </a:srgbClr>
                </a:solidFill>
                <a:latin typeface="Times New Roman"/>
              </a:rPr>
              <a:t>Introduction</a:t>
            </a:r>
          </a:p>
        </p:txBody>
      </p:sp>
      <p:sp>
        <p:nvSpPr>
          <p:cNvPr id="3" name="ZoneTexte 2"/>
          <p:cNvSpPr txBox="1"/>
          <p:nvPr/>
        </p:nvSpPr>
        <p:spPr>
          <a:xfrm>
            <a:off x="629308" y="2082385"/>
            <a:ext cx="7885384" cy="978729"/>
          </a:xfrm>
          <a:prstGeom prst="rect">
            <a:avLst/>
          </a:prstGeom>
          <a:noFill/>
        </p:spPr>
        <p:txBody>
          <a:bodyPr vert="horz" wrap="square" lIns="91440" tIns="45720" rIns="91440" bIns="45720" rtlCol="0" anchor="t" anchorCtr="0">
            <a:spAutoFit/>
          </a:bodyPr>
          <a:lstStyle/>
          <a:p>
            <a:pPr marL="0" marR="0" lvl="0" indent="0" rtl="0" fontAlgn="t">
              <a:lnSpc>
                <a:spcPct val="120000"/>
              </a:lnSpc>
              <a:spcBef>
                <a:spcPts val="0"/>
              </a:spcBef>
              <a:spcAft>
                <a:spcPts val="0"/>
              </a:spcAft>
            </a:pPr>
            <a:r>
              <a:rPr lang="en-US" sz="2400" u="none" strike="noStrike" cap="none" spc="0" dirty="0">
                <a:solidFill>
                  <a:srgbClr val="424242">
                    <a:alpha val="100000"/>
                  </a:srgbClr>
                </a:solidFill>
                <a:latin typeface="Times New Roman"/>
              </a:rPr>
              <a:t>This report presents a detailed analysis of the 2021 </a:t>
            </a:r>
            <a:r>
              <a:rPr lang="en-US" sz="2400" u="none" strike="noStrike" cap="none" spc="0" dirty="0" err="1">
                <a:solidFill>
                  <a:srgbClr val="424242">
                    <a:alpha val="100000"/>
                  </a:srgbClr>
                </a:solidFill>
                <a:latin typeface="Times New Roman"/>
              </a:rPr>
              <a:t>Annualised</a:t>
            </a:r>
            <a:r>
              <a:rPr lang="en-US" sz="2400" u="none" strike="noStrike" cap="none" spc="0" dirty="0">
                <a:solidFill>
                  <a:srgbClr val="424242">
                    <a:alpha val="100000"/>
                  </a:srgbClr>
                </a:solidFill>
                <a:latin typeface="Times New Roman"/>
              </a:rPr>
              <a:t> Entry and Exit dataset provided by </a:t>
            </a:r>
            <a:r>
              <a:rPr lang="en-US" sz="2400" u="none" strike="noStrike" cap="none" spc="0" dirty="0" err="1">
                <a:solidFill>
                  <a:srgbClr val="424242">
                    <a:alpha val="100000"/>
                  </a:srgbClr>
                </a:solidFill>
                <a:latin typeface="Times New Roman"/>
              </a:rPr>
              <a:t>TfL</a:t>
            </a:r>
            <a:r>
              <a:rPr lang="en-US" sz="2400" u="none" strike="noStrike" cap="none" spc="0" dirty="0">
                <a:solidFill>
                  <a:srgbClr val="424242">
                    <a:alpha val="100000"/>
                  </a:srgbClr>
                </a:solidFill>
                <a:latin typeface="Times New Roman"/>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6296025"/>
          <a:chOff x="914400" y="1028700"/>
          <a:chExt cx="8229600" cy="6296025"/>
        </a:xfrm>
      </p:grpSpPr>
      <p:sp>
        <p:nvSpPr>
          <p:cNvPr id="2" name="ZoneTexte 1"/>
          <p:cNvSpPr txBox="1"/>
          <p:nvPr/>
        </p:nvSpPr>
        <p:spPr>
          <a:xfrm>
            <a:off x="914400" y="102870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a:solidFill>
                  <a:srgbClr val="121212">
                    <a:alpha val="100000"/>
                  </a:srgbClr>
                </a:solidFill>
                <a:latin typeface="Times New Roman"/>
              </a:rPr>
              <a:t>Table of contents</a:t>
            </a:r>
          </a:p>
        </p:txBody>
      </p:sp>
      <p:graphicFrame>
        <p:nvGraphicFramePr>
          <p:cNvPr id="4" name="Diagramme 3">
            <a:extLst>
              <a:ext uri="{FF2B5EF4-FFF2-40B4-BE49-F238E27FC236}">
                <a16:creationId xmlns:a16="http://schemas.microsoft.com/office/drawing/2014/main" id="{1AAEE908-DDDC-50BB-74F1-22E318FE6103}"/>
              </a:ext>
            </a:extLst>
          </p:cNvPr>
          <p:cNvGraphicFramePr/>
          <p:nvPr>
            <p:extLst>
              <p:ext uri="{D42A27DB-BD31-4B8C-83A1-F6EECF244321}">
                <p14:modId xmlns:p14="http://schemas.microsoft.com/office/powerpoint/2010/main" val="471347823"/>
              </p:ext>
            </p:extLst>
          </p:nvPr>
        </p:nvGraphicFramePr>
        <p:xfrm>
          <a:off x="971600" y="1563638"/>
          <a:ext cx="6984776" cy="3168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C54000E2-21CE-B2BA-0F9F-CF580A71C2F6}"/>
              </a:ext>
            </a:extLst>
          </p:cNvPr>
          <p:cNvSpPr txBox="1"/>
          <p:nvPr/>
        </p:nvSpPr>
        <p:spPr>
          <a:xfrm>
            <a:off x="179512" y="483518"/>
            <a:ext cx="7315200" cy="52322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a:rPr>
              <a:t>Objectives </a:t>
            </a:r>
          </a:p>
        </p:txBody>
      </p:sp>
      <p:graphicFrame>
        <p:nvGraphicFramePr>
          <p:cNvPr id="5" name="Diagramme 4">
            <a:extLst>
              <a:ext uri="{FF2B5EF4-FFF2-40B4-BE49-F238E27FC236}">
                <a16:creationId xmlns:a16="http://schemas.microsoft.com/office/drawing/2014/main" id="{7BBAB852-E504-95B2-4400-245749380C0E}"/>
              </a:ext>
            </a:extLst>
          </p:cNvPr>
          <p:cNvGraphicFramePr/>
          <p:nvPr>
            <p:extLst>
              <p:ext uri="{D42A27DB-BD31-4B8C-83A1-F6EECF244321}">
                <p14:modId xmlns:p14="http://schemas.microsoft.com/office/powerpoint/2010/main" val="2815923034"/>
              </p:ext>
            </p:extLst>
          </p:nvPr>
        </p:nvGraphicFramePr>
        <p:xfrm>
          <a:off x="683568" y="1006738"/>
          <a:ext cx="7560840" cy="3941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9201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400C0-81AE-07DB-B20A-8BAE87A08E14}"/>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DD1538A7-82F3-D298-100B-A7BD906F97E6}"/>
              </a:ext>
            </a:extLst>
          </p:cNvPr>
          <p:cNvSpPr txBox="1"/>
          <p:nvPr/>
        </p:nvSpPr>
        <p:spPr>
          <a:xfrm>
            <a:off x="611560" y="699542"/>
            <a:ext cx="7315200" cy="52322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2800" b="1" u="none" strike="noStrike" cap="none" spc="0" dirty="0">
                <a:solidFill>
                  <a:srgbClr val="121212">
                    <a:alpha val="100000"/>
                  </a:srgbClr>
                </a:solidFill>
                <a:latin typeface="Times New Roman"/>
              </a:rPr>
              <a:t>Tools </a:t>
            </a:r>
          </a:p>
        </p:txBody>
      </p:sp>
      <p:pic>
        <p:nvPicPr>
          <p:cNvPr id="1028" name="Picture 4" descr="Jupyter Logo PNG Vector (SVG) Free Download">
            <a:extLst>
              <a:ext uri="{FF2B5EF4-FFF2-40B4-BE49-F238E27FC236}">
                <a16:creationId xmlns:a16="http://schemas.microsoft.com/office/drawing/2014/main" id="{B1FD1D25-1B42-895F-7B00-9D3A25528A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6214" y="1871700"/>
            <a:ext cx="1691047" cy="169104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8603555-3F8F-9F8C-1336-BD53D97108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1499" y="1871700"/>
            <a:ext cx="1872208" cy="187220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ower BI - Microsoft Logo PNG Vector (SVG) Free Download">
            <a:extLst>
              <a:ext uri="{FF2B5EF4-FFF2-40B4-BE49-F238E27FC236}">
                <a16:creationId xmlns:a16="http://schemas.microsoft.com/office/drawing/2014/main" id="{A6A9F5EC-1F71-6DD2-BF2D-658125B0AB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1445389"/>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A6B7D6CF-FD69-6993-23B9-7A834E4B40D7}"/>
              </a:ext>
            </a:extLst>
          </p:cNvPr>
          <p:cNvSpPr txBox="1"/>
          <p:nvPr/>
        </p:nvSpPr>
        <p:spPr>
          <a:xfrm>
            <a:off x="418330" y="3770571"/>
            <a:ext cx="1586410" cy="523220"/>
          </a:xfrm>
          <a:prstGeom prst="rect">
            <a:avLst/>
          </a:prstGeom>
          <a:noFill/>
        </p:spPr>
        <p:txBody>
          <a:bodyPr vert="horz" wrap="square" lIns="91440" tIns="45720" rIns="91440" bIns="45720" rtlCol="0" anchor="t" anchorCtr="0">
            <a:spAutoFit/>
          </a:bodyPr>
          <a:lstStyle/>
          <a:p>
            <a:pPr marL="0" marR="0" lvl="0" indent="0" algn="ctr" rtl="0" fontAlgn="t">
              <a:lnSpc>
                <a:spcPct val="100000"/>
              </a:lnSpc>
              <a:spcBef>
                <a:spcPts val="0"/>
              </a:spcBef>
              <a:spcAft>
                <a:spcPts val="0"/>
              </a:spcAft>
            </a:pPr>
            <a:r>
              <a:rPr lang="en-US" sz="2800" dirty="0">
                <a:solidFill>
                  <a:srgbClr val="121212">
                    <a:alpha val="100000"/>
                  </a:srgbClr>
                </a:solidFill>
                <a:latin typeface="Times New Roman"/>
              </a:rPr>
              <a:t>Tableau</a:t>
            </a:r>
            <a:endParaRPr lang="en-US" sz="2800" u="none" strike="noStrike" cap="none" spc="0" dirty="0">
              <a:solidFill>
                <a:srgbClr val="121212">
                  <a:alpha val="100000"/>
                </a:srgbClr>
              </a:solidFill>
              <a:latin typeface="Times New Roman"/>
            </a:endParaRPr>
          </a:p>
        </p:txBody>
      </p:sp>
      <p:sp>
        <p:nvSpPr>
          <p:cNvPr id="8" name="ZoneTexte 7">
            <a:extLst>
              <a:ext uri="{FF2B5EF4-FFF2-40B4-BE49-F238E27FC236}">
                <a16:creationId xmlns:a16="http://schemas.microsoft.com/office/drawing/2014/main" id="{9FB5C522-9EB1-6495-8B44-2FA7B9FF049A}"/>
              </a:ext>
            </a:extLst>
          </p:cNvPr>
          <p:cNvSpPr txBox="1"/>
          <p:nvPr/>
        </p:nvSpPr>
        <p:spPr>
          <a:xfrm>
            <a:off x="2498532" y="3734631"/>
            <a:ext cx="1586410" cy="954107"/>
          </a:xfrm>
          <a:prstGeom prst="rect">
            <a:avLst/>
          </a:prstGeom>
          <a:noFill/>
        </p:spPr>
        <p:txBody>
          <a:bodyPr vert="horz" wrap="square" lIns="91440" tIns="45720" rIns="91440" bIns="45720" rtlCol="0" anchor="t" anchorCtr="0">
            <a:spAutoFit/>
          </a:bodyPr>
          <a:lstStyle/>
          <a:p>
            <a:pPr marL="0" marR="0" lvl="0" indent="0" algn="ctr" rtl="0" fontAlgn="t">
              <a:lnSpc>
                <a:spcPct val="100000"/>
              </a:lnSpc>
              <a:spcBef>
                <a:spcPts val="0"/>
              </a:spcBef>
              <a:spcAft>
                <a:spcPts val="0"/>
              </a:spcAft>
            </a:pPr>
            <a:r>
              <a:rPr lang="en-US" sz="2800" u="none" strike="noStrike" cap="none" spc="0" dirty="0" err="1">
                <a:solidFill>
                  <a:srgbClr val="121212">
                    <a:alpha val="100000"/>
                  </a:srgbClr>
                </a:solidFill>
                <a:latin typeface="Times New Roman"/>
              </a:rPr>
              <a:t>Jupyter</a:t>
            </a:r>
            <a:r>
              <a:rPr lang="en-US" sz="2800" u="none" strike="noStrike" cap="none" spc="0" dirty="0">
                <a:solidFill>
                  <a:srgbClr val="121212">
                    <a:alpha val="100000"/>
                  </a:srgbClr>
                </a:solidFill>
                <a:latin typeface="Times New Roman"/>
              </a:rPr>
              <a:t> Notebook</a:t>
            </a:r>
            <a:r>
              <a:rPr lang="en-US" sz="2800" b="1" u="none" strike="noStrike" cap="none" spc="0" dirty="0">
                <a:solidFill>
                  <a:srgbClr val="121212">
                    <a:alpha val="100000"/>
                  </a:srgbClr>
                </a:solidFill>
                <a:latin typeface="Times New Roman"/>
              </a:rPr>
              <a:t> </a:t>
            </a:r>
          </a:p>
        </p:txBody>
      </p:sp>
      <p:sp>
        <p:nvSpPr>
          <p:cNvPr id="9" name="ZoneTexte 8">
            <a:extLst>
              <a:ext uri="{FF2B5EF4-FFF2-40B4-BE49-F238E27FC236}">
                <a16:creationId xmlns:a16="http://schemas.microsoft.com/office/drawing/2014/main" id="{A81AF5C7-3B97-0C91-5C94-73AC9F4E803E}"/>
              </a:ext>
            </a:extLst>
          </p:cNvPr>
          <p:cNvSpPr txBox="1"/>
          <p:nvPr/>
        </p:nvSpPr>
        <p:spPr>
          <a:xfrm>
            <a:off x="4715884" y="3770571"/>
            <a:ext cx="1296144" cy="523220"/>
          </a:xfrm>
          <a:prstGeom prst="rect">
            <a:avLst/>
          </a:prstGeom>
          <a:noFill/>
        </p:spPr>
        <p:txBody>
          <a:bodyPr vert="horz" wrap="square" lIns="91440" tIns="45720" rIns="91440" bIns="45720" rtlCol="0" anchor="t" anchorCtr="0">
            <a:spAutoFit/>
          </a:bodyPr>
          <a:lstStyle/>
          <a:p>
            <a:pPr marL="0" marR="0" lvl="0" indent="0" algn="ctr" rtl="0" fontAlgn="t">
              <a:lnSpc>
                <a:spcPct val="100000"/>
              </a:lnSpc>
              <a:spcBef>
                <a:spcPts val="0"/>
              </a:spcBef>
              <a:spcAft>
                <a:spcPts val="0"/>
              </a:spcAft>
            </a:pPr>
            <a:r>
              <a:rPr lang="en-US" sz="2800" u="none" strike="noStrike" cap="none" spc="0" dirty="0">
                <a:solidFill>
                  <a:srgbClr val="121212">
                    <a:alpha val="100000"/>
                  </a:srgbClr>
                </a:solidFill>
                <a:latin typeface="Times New Roman"/>
              </a:rPr>
              <a:t>Python</a:t>
            </a:r>
            <a:r>
              <a:rPr lang="en-US" sz="2800" b="1" u="none" strike="noStrike" cap="none" spc="0" dirty="0">
                <a:solidFill>
                  <a:srgbClr val="121212">
                    <a:alpha val="100000"/>
                  </a:srgbClr>
                </a:solidFill>
                <a:latin typeface="Times New Roman"/>
              </a:rPr>
              <a:t> </a:t>
            </a:r>
          </a:p>
        </p:txBody>
      </p:sp>
      <p:sp>
        <p:nvSpPr>
          <p:cNvPr id="10" name="ZoneTexte 9">
            <a:extLst>
              <a:ext uri="{FF2B5EF4-FFF2-40B4-BE49-F238E27FC236}">
                <a16:creationId xmlns:a16="http://schemas.microsoft.com/office/drawing/2014/main" id="{23D88BF3-259D-2168-AC46-CB5455561BE4}"/>
              </a:ext>
            </a:extLst>
          </p:cNvPr>
          <p:cNvSpPr txBox="1"/>
          <p:nvPr/>
        </p:nvSpPr>
        <p:spPr>
          <a:xfrm>
            <a:off x="6986860" y="3661361"/>
            <a:ext cx="1689596" cy="523220"/>
          </a:xfrm>
          <a:prstGeom prst="rect">
            <a:avLst/>
          </a:prstGeom>
          <a:noFill/>
        </p:spPr>
        <p:txBody>
          <a:bodyPr vert="horz" wrap="square" lIns="91440" tIns="45720" rIns="91440" bIns="45720" rtlCol="0" anchor="t" anchorCtr="0">
            <a:spAutoFit/>
          </a:bodyPr>
          <a:lstStyle/>
          <a:p>
            <a:pPr marL="0" marR="0" lvl="0" indent="0" algn="ctr" rtl="0" fontAlgn="t">
              <a:lnSpc>
                <a:spcPct val="100000"/>
              </a:lnSpc>
              <a:spcBef>
                <a:spcPts val="0"/>
              </a:spcBef>
              <a:spcAft>
                <a:spcPts val="0"/>
              </a:spcAft>
            </a:pPr>
            <a:r>
              <a:rPr lang="en-US" sz="2800" u="none" strike="noStrike" cap="none" spc="0" dirty="0">
                <a:solidFill>
                  <a:srgbClr val="121212">
                    <a:alpha val="100000"/>
                  </a:srgbClr>
                </a:solidFill>
                <a:latin typeface="Times New Roman"/>
              </a:rPr>
              <a:t>Power BI</a:t>
            </a:r>
            <a:r>
              <a:rPr lang="en-US" sz="2800" b="1" u="none" strike="noStrike" cap="none" spc="0" dirty="0">
                <a:solidFill>
                  <a:srgbClr val="121212">
                    <a:alpha val="100000"/>
                  </a:srgbClr>
                </a:solidFill>
                <a:latin typeface="Times New Roman"/>
              </a:rPr>
              <a:t> </a:t>
            </a:r>
          </a:p>
        </p:txBody>
      </p:sp>
      <p:pic>
        <p:nvPicPr>
          <p:cNvPr id="5" name="Image 4">
            <a:extLst>
              <a:ext uri="{FF2B5EF4-FFF2-40B4-BE49-F238E27FC236}">
                <a16:creationId xmlns:a16="http://schemas.microsoft.com/office/drawing/2014/main" id="{AFBEA26F-F389-4772-A02A-B7CEFE265D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8329" y="2174222"/>
            <a:ext cx="1374731" cy="1305994"/>
          </a:xfrm>
          <a:prstGeom prst="rect">
            <a:avLst/>
          </a:prstGeom>
        </p:spPr>
      </p:pic>
    </p:spTree>
    <p:extLst>
      <p:ext uri="{BB962C8B-B14F-4D97-AF65-F5344CB8AC3E}">
        <p14:creationId xmlns:p14="http://schemas.microsoft.com/office/powerpoint/2010/main" val="4232882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2" name="ZoneTexte 1"/>
          <p:cNvSpPr txBox="1"/>
          <p:nvPr/>
        </p:nvSpPr>
        <p:spPr>
          <a:xfrm>
            <a:off x="179512" y="483518"/>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a:rPr>
              <a:t>Data Cleaning &amp; Preprocessing</a:t>
            </a:r>
          </a:p>
        </p:txBody>
      </p:sp>
      <p:graphicFrame>
        <p:nvGraphicFramePr>
          <p:cNvPr id="4" name="Diagramme 3">
            <a:extLst>
              <a:ext uri="{FF2B5EF4-FFF2-40B4-BE49-F238E27FC236}">
                <a16:creationId xmlns:a16="http://schemas.microsoft.com/office/drawing/2014/main" id="{A00A07BB-0F7D-FEAF-810E-F03430A1CAAA}"/>
              </a:ext>
            </a:extLst>
          </p:cNvPr>
          <p:cNvGraphicFramePr/>
          <p:nvPr>
            <p:extLst>
              <p:ext uri="{D42A27DB-BD31-4B8C-83A1-F6EECF244321}">
                <p14:modId xmlns:p14="http://schemas.microsoft.com/office/powerpoint/2010/main" val="1449112176"/>
              </p:ext>
            </p:extLst>
          </p:nvPr>
        </p:nvGraphicFramePr>
        <p:xfrm>
          <a:off x="1691680" y="1079500"/>
          <a:ext cx="6096000" cy="39405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228975"/>
          <a:chOff x="914400" y="1028700"/>
          <a:chExt cx="8229600" cy="3228975"/>
        </a:xfrm>
      </p:grpSpPr>
      <p:sp>
        <p:nvSpPr>
          <p:cNvPr id="2" name="ZoneTexte 1"/>
          <p:cNvSpPr txBox="1"/>
          <p:nvPr/>
        </p:nvSpPr>
        <p:spPr>
          <a:xfrm>
            <a:off x="0" y="41151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a:rPr>
              <a:t>Import Libraries and Load Data</a:t>
            </a:r>
          </a:p>
        </p:txBody>
      </p:sp>
      <p:sp>
        <p:nvSpPr>
          <p:cNvPr id="3" name="ZoneTexte 2"/>
          <p:cNvSpPr txBox="1"/>
          <p:nvPr/>
        </p:nvSpPr>
        <p:spPr>
          <a:xfrm>
            <a:off x="13722" y="811560"/>
            <a:ext cx="8806749" cy="1015663"/>
          </a:xfrm>
          <a:prstGeom prst="rect">
            <a:avLst/>
          </a:prstGeom>
          <a:noFill/>
        </p:spPr>
        <p:txBody>
          <a:bodyPr vert="horz" wrap="square" lIns="91440" tIns="45720" rIns="91440" bIns="45720" rtlCol="0" anchorCtr="0">
            <a:spAutoFit/>
          </a:bodyPr>
          <a:lstStyle/>
          <a:p>
            <a:pPr marL="0" marR="0" lvl="0" indent="0" algn="l" rtl="0" fontAlgn="base">
              <a:lnSpc>
                <a:spcPct val="100000"/>
              </a:lnSpc>
              <a:spcBef>
                <a:spcPts val="0"/>
              </a:spcBef>
              <a:spcAft>
                <a:spcPts val="0"/>
              </a:spcAft>
            </a:pPr>
            <a:r>
              <a:rPr lang="en-US" sz="2000" u="none" strike="noStrike" cap="none" spc="0" dirty="0">
                <a:solidFill>
                  <a:srgbClr val="424242">
                    <a:alpha val="100000"/>
                  </a:srgbClr>
                </a:solidFill>
                <a:latin typeface="Times New Roman"/>
              </a:rPr>
              <a:t>Import libraries such as Pandas, NumPy, and Matplotlib to facilitate data manipulation, numerical operations, and visualization respectively. Load the </a:t>
            </a:r>
            <a:r>
              <a:rPr lang="en-US" sz="2000" u="none" strike="noStrike" cap="none" spc="0" dirty="0" err="1">
                <a:solidFill>
                  <a:srgbClr val="424242">
                    <a:alpha val="100000"/>
                  </a:srgbClr>
                </a:solidFill>
                <a:latin typeface="Times New Roman"/>
              </a:rPr>
              <a:t>TfL</a:t>
            </a:r>
            <a:r>
              <a:rPr lang="en-US" sz="2000" u="none" strike="noStrike" cap="none" spc="0" dirty="0">
                <a:solidFill>
                  <a:srgbClr val="424242">
                    <a:alpha val="100000"/>
                  </a:srgbClr>
                </a:solidFill>
                <a:latin typeface="Times New Roman"/>
              </a:rPr>
              <a:t> dataset using Pandas' </a:t>
            </a:r>
            <a:r>
              <a:rPr lang="en-US" sz="2000" u="none" strike="noStrike" cap="none" spc="0" dirty="0" err="1">
                <a:solidFill>
                  <a:srgbClr val="424242">
                    <a:alpha val="100000"/>
                  </a:srgbClr>
                </a:solidFill>
                <a:latin typeface="Times New Roman"/>
              </a:rPr>
              <a:t>read_</a:t>
            </a:r>
            <a:r>
              <a:rPr lang="en-US" sz="2000" dirty="0" err="1">
                <a:solidFill>
                  <a:srgbClr val="424242">
                    <a:alpha val="100000"/>
                  </a:srgbClr>
                </a:solidFill>
                <a:latin typeface="Times New Roman"/>
              </a:rPr>
              <a:t>excel</a:t>
            </a:r>
            <a:r>
              <a:rPr lang="en-US" sz="2000" u="none" strike="noStrike" cap="none" spc="0" dirty="0">
                <a:solidFill>
                  <a:srgbClr val="424242">
                    <a:alpha val="100000"/>
                  </a:srgbClr>
                </a:solidFill>
                <a:latin typeface="Times New Roman"/>
              </a:rPr>
              <a:t> function to create a </a:t>
            </a:r>
            <a:r>
              <a:rPr lang="en-US" sz="2000" u="none" strike="noStrike" cap="none" spc="0" dirty="0" err="1">
                <a:solidFill>
                  <a:srgbClr val="424242">
                    <a:alpha val="100000"/>
                  </a:srgbClr>
                </a:solidFill>
                <a:latin typeface="Times New Roman"/>
              </a:rPr>
              <a:t>DataFrame</a:t>
            </a:r>
            <a:r>
              <a:rPr lang="en-US" sz="2000" u="none" strike="noStrike" cap="none" spc="0" dirty="0">
                <a:solidFill>
                  <a:srgbClr val="424242">
                    <a:alpha val="100000"/>
                  </a:srgbClr>
                </a:solidFill>
                <a:latin typeface="Times New Roman"/>
              </a:rPr>
              <a:t> for analysis.</a:t>
            </a:r>
          </a:p>
        </p:txBody>
      </p:sp>
      <p:pic>
        <p:nvPicPr>
          <p:cNvPr id="4" name="Image 3">
            <a:extLst>
              <a:ext uri="{FF2B5EF4-FFF2-40B4-BE49-F238E27FC236}">
                <a16:creationId xmlns:a16="http://schemas.microsoft.com/office/drawing/2014/main" id="{F6E54898-4CE5-4461-B565-CB111D3D9F18}"/>
              </a:ext>
            </a:extLst>
          </p:cNvPr>
          <p:cNvPicPr>
            <a:picLocks noChangeAspect="1"/>
          </p:cNvPicPr>
          <p:nvPr/>
        </p:nvPicPr>
        <p:blipFill rotWithShape="1">
          <a:blip r:embed="rId2">
            <a:extLst>
              <a:ext uri="{28A0092B-C50C-407E-A947-70E740481C1C}">
                <a14:useLocalDpi xmlns:a14="http://schemas.microsoft.com/office/drawing/2010/main" val="0"/>
              </a:ext>
            </a:extLst>
          </a:blip>
          <a:srcRect l="9051" t="41106" r="20075" b="7013"/>
          <a:stretch/>
        </p:blipFill>
        <p:spPr>
          <a:xfrm>
            <a:off x="683569" y="1923678"/>
            <a:ext cx="7776861" cy="30243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5DE79-9E7E-C867-C72D-A10450FE7429}"/>
            </a:ext>
          </a:extLst>
        </p:cNvPr>
        <p:cNvGrpSpPr/>
        <p:nvPr/>
      </p:nvGrpSpPr>
      <p:grpSpPr>
        <a:xfrm>
          <a:off x="914400" y="1028700"/>
          <a:ext cx="8229600" cy="3228975"/>
          <a:chOff x="914400" y="1028700"/>
          <a:chExt cx="8229600" cy="3228975"/>
        </a:xfrm>
      </p:grpSpPr>
      <p:pic>
        <p:nvPicPr>
          <p:cNvPr id="4" name="Image 3">
            <a:extLst>
              <a:ext uri="{FF2B5EF4-FFF2-40B4-BE49-F238E27FC236}">
                <a16:creationId xmlns:a16="http://schemas.microsoft.com/office/drawing/2014/main" id="{6C90B367-03A3-4F4E-916D-E75E9C191BBB}"/>
              </a:ext>
            </a:extLst>
          </p:cNvPr>
          <p:cNvPicPr>
            <a:picLocks noChangeAspect="1"/>
          </p:cNvPicPr>
          <p:nvPr/>
        </p:nvPicPr>
        <p:blipFill rotWithShape="1">
          <a:blip r:embed="rId2">
            <a:extLst>
              <a:ext uri="{28A0092B-C50C-407E-A947-70E740481C1C}">
                <a14:useLocalDpi xmlns:a14="http://schemas.microsoft.com/office/drawing/2010/main" val="0"/>
              </a:ext>
            </a:extLst>
          </a:blip>
          <a:srcRect l="9051" t="41106" r="16137" b="17389"/>
          <a:stretch/>
        </p:blipFill>
        <p:spPr>
          <a:xfrm>
            <a:off x="539552" y="98612"/>
            <a:ext cx="7920880" cy="2334576"/>
          </a:xfrm>
          <a:prstGeom prst="rect">
            <a:avLst/>
          </a:prstGeom>
        </p:spPr>
      </p:pic>
      <p:pic>
        <p:nvPicPr>
          <p:cNvPr id="5" name="Image 4">
            <a:extLst>
              <a:ext uri="{FF2B5EF4-FFF2-40B4-BE49-F238E27FC236}">
                <a16:creationId xmlns:a16="http://schemas.microsoft.com/office/drawing/2014/main" id="{7C8F72F8-9F05-4345-98F4-0ADAA390D7E2}"/>
              </a:ext>
            </a:extLst>
          </p:cNvPr>
          <p:cNvPicPr>
            <a:picLocks noChangeAspect="1"/>
          </p:cNvPicPr>
          <p:nvPr/>
        </p:nvPicPr>
        <p:blipFill rotWithShape="1">
          <a:blip r:embed="rId3">
            <a:extLst>
              <a:ext uri="{28A0092B-C50C-407E-A947-70E740481C1C}">
                <a14:useLocalDpi xmlns:a14="http://schemas.microsoft.com/office/drawing/2010/main" val="0"/>
              </a:ext>
            </a:extLst>
          </a:blip>
          <a:srcRect l="9051" t="39624" r="11413"/>
          <a:stretch/>
        </p:blipFill>
        <p:spPr>
          <a:xfrm>
            <a:off x="683568" y="2653461"/>
            <a:ext cx="7776864" cy="2410793"/>
          </a:xfrm>
          <a:prstGeom prst="rect">
            <a:avLst/>
          </a:prstGeom>
        </p:spPr>
      </p:pic>
    </p:spTree>
    <p:extLst>
      <p:ext uri="{BB962C8B-B14F-4D97-AF65-F5344CB8AC3E}">
        <p14:creationId xmlns:p14="http://schemas.microsoft.com/office/powerpoint/2010/main" val="975326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514725"/>
          <a:chOff x="914400" y="1028700"/>
          <a:chExt cx="8229600" cy="3514725"/>
        </a:xfrm>
      </p:grpSpPr>
      <p:sp>
        <p:nvSpPr>
          <p:cNvPr id="2" name="ZoneTexte 1"/>
          <p:cNvSpPr txBox="1"/>
          <p:nvPr/>
        </p:nvSpPr>
        <p:spPr>
          <a:xfrm>
            <a:off x="179512" y="41151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a:rPr>
              <a:t>Check for Missing Values</a:t>
            </a:r>
          </a:p>
        </p:txBody>
      </p:sp>
      <p:sp>
        <p:nvSpPr>
          <p:cNvPr id="3" name="ZoneTexte 2"/>
          <p:cNvSpPr txBox="1"/>
          <p:nvPr/>
        </p:nvSpPr>
        <p:spPr>
          <a:xfrm>
            <a:off x="107504" y="857250"/>
            <a:ext cx="9036496" cy="1323439"/>
          </a:xfrm>
          <a:prstGeom prst="rect">
            <a:avLst/>
          </a:prstGeom>
          <a:noFill/>
        </p:spPr>
        <p:txBody>
          <a:bodyPr vert="horz" wrap="square" lIns="91440" tIns="45720" rIns="91440" bIns="45720" rtlCol="0" anchorCtr="0">
            <a:spAutoFit/>
          </a:bodyPr>
          <a:lstStyle/>
          <a:p>
            <a:pPr marL="0" marR="0" lvl="0" indent="0" algn="l" rtl="0" fontAlgn="base">
              <a:lnSpc>
                <a:spcPct val="100000"/>
              </a:lnSpc>
              <a:spcBef>
                <a:spcPts val="0"/>
              </a:spcBef>
              <a:spcAft>
                <a:spcPts val="0"/>
              </a:spcAft>
            </a:pPr>
            <a:r>
              <a:rPr lang="en-US" sz="2000" u="none" strike="noStrike" cap="none" spc="0" dirty="0">
                <a:solidFill>
                  <a:srgbClr val="424242">
                    <a:alpha val="100000"/>
                  </a:srgbClr>
                </a:solidFill>
                <a:latin typeface="Times New Roman"/>
              </a:rPr>
              <a:t>Check for missing values in the dataset by using functions like </a:t>
            </a:r>
            <a:r>
              <a:rPr lang="en-US" sz="2000" u="none" strike="noStrike" cap="none" spc="0" dirty="0" err="1">
                <a:solidFill>
                  <a:srgbClr val="424242">
                    <a:alpha val="100000"/>
                  </a:srgbClr>
                </a:solidFill>
                <a:latin typeface="Times New Roman"/>
              </a:rPr>
              <a:t>isnull</a:t>
            </a:r>
            <a:r>
              <a:rPr lang="en-US" sz="2000" u="none" strike="noStrike" cap="none" spc="0" dirty="0">
                <a:solidFill>
                  <a:srgbClr val="424242">
                    <a:alpha val="100000"/>
                  </a:srgbClr>
                </a:solidFill>
                <a:latin typeface="Times New Roman"/>
              </a:rPr>
              <a:t>() in Pandas, which returns a </a:t>
            </a:r>
            <a:r>
              <a:rPr lang="en-US" sz="2000" u="none" strike="noStrike" cap="none" spc="0" dirty="0" err="1">
                <a:solidFill>
                  <a:srgbClr val="424242">
                    <a:alpha val="100000"/>
                  </a:srgbClr>
                </a:solidFill>
                <a:latin typeface="Times New Roman"/>
              </a:rPr>
              <a:t>boolean</a:t>
            </a:r>
            <a:r>
              <a:rPr lang="en-US" sz="2000" u="none" strike="noStrike" cap="none" spc="0" dirty="0">
                <a:solidFill>
                  <a:srgbClr val="424242">
                    <a:alpha val="100000"/>
                  </a:srgbClr>
                </a:solidFill>
                <a:latin typeface="Times New Roman"/>
              </a:rPr>
              <a:t> </a:t>
            </a:r>
            <a:r>
              <a:rPr lang="en-US" sz="2000" u="none" strike="noStrike" cap="none" spc="0" dirty="0" err="1">
                <a:solidFill>
                  <a:srgbClr val="424242">
                    <a:alpha val="100000"/>
                  </a:srgbClr>
                </a:solidFill>
                <a:latin typeface="Times New Roman"/>
              </a:rPr>
              <a:t>DataFrame</a:t>
            </a:r>
            <a:r>
              <a:rPr lang="en-US" sz="2000" u="none" strike="noStrike" cap="none" spc="0" dirty="0">
                <a:solidFill>
                  <a:srgbClr val="424242">
                    <a:alpha val="100000"/>
                  </a:srgbClr>
                </a:solidFill>
                <a:latin typeface="Times New Roman"/>
              </a:rPr>
              <a:t> indicating the presence of missing values. Summarize the total count of missing values for each column to identify which variables need attention for data cleaning.</a:t>
            </a:r>
          </a:p>
        </p:txBody>
      </p:sp>
      <p:pic>
        <p:nvPicPr>
          <p:cNvPr id="4" name="Image 3">
            <a:extLst>
              <a:ext uri="{FF2B5EF4-FFF2-40B4-BE49-F238E27FC236}">
                <a16:creationId xmlns:a16="http://schemas.microsoft.com/office/drawing/2014/main" id="{39E18E4F-B148-4C24-AF75-9DD6E0CAD1A3}"/>
              </a:ext>
            </a:extLst>
          </p:cNvPr>
          <p:cNvPicPr>
            <a:picLocks noChangeAspect="1"/>
          </p:cNvPicPr>
          <p:nvPr/>
        </p:nvPicPr>
        <p:blipFill rotWithShape="1">
          <a:blip r:embed="rId2">
            <a:extLst>
              <a:ext uri="{28A0092B-C50C-407E-A947-70E740481C1C}">
                <a14:useLocalDpi xmlns:a14="http://schemas.microsoft.com/office/drawing/2010/main" val="0"/>
              </a:ext>
            </a:extLst>
          </a:blip>
          <a:srcRect l="9051" t="41106" r="5900"/>
          <a:stretch/>
        </p:blipFill>
        <p:spPr>
          <a:xfrm>
            <a:off x="737320" y="2180689"/>
            <a:ext cx="7776864" cy="286092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AA1F9-1BD9-9DA7-0A45-83646043495C}"/>
            </a:ext>
          </a:extLst>
        </p:cNvPr>
        <p:cNvGrpSpPr/>
        <p:nvPr/>
      </p:nvGrpSpPr>
      <p:grpSpPr>
        <a:xfrm>
          <a:off x="914400" y="1028700"/>
          <a:ext cx="8229600" cy="3514725"/>
          <a:chOff x="914400" y="1028700"/>
          <a:chExt cx="8229600" cy="3514725"/>
        </a:xfrm>
      </p:grpSpPr>
      <p:sp>
        <p:nvSpPr>
          <p:cNvPr id="2" name="ZoneTexte 1">
            <a:extLst>
              <a:ext uri="{FF2B5EF4-FFF2-40B4-BE49-F238E27FC236}">
                <a16:creationId xmlns:a16="http://schemas.microsoft.com/office/drawing/2014/main" id="{BA9C49F3-0259-DC39-6BAB-C366264E333F}"/>
              </a:ext>
            </a:extLst>
          </p:cNvPr>
          <p:cNvSpPr txBox="1"/>
          <p:nvPr/>
        </p:nvSpPr>
        <p:spPr>
          <a:xfrm>
            <a:off x="914400" y="102870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a:solidFill>
                  <a:srgbClr val="121212">
                    <a:alpha val="100000"/>
                  </a:srgbClr>
                </a:solidFill>
                <a:latin typeface="Times New Roman"/>
              </a:rPr>
              <a:t>Check for Missing Values</a:t>
            </a:r>
          </a:p>
        </p:txBody>
      </p:sp>
      <p:pic>
        <p:nvPicPr>
          <p:cNvPr id="8" name="Image 7">
            <a:extLst>
              <a:ext uri="{FF2B5EF4-FFF2-40B4-BE49-F238E27FC236}">
                <a16:creationId xmlns:a16="http://schemas.microsoft.com/office/drawing/2014/main" id="{53993694-3CE0-45FC-AE25-08BAB30536F7}"/>
              </a:ext>
            </a:extLst>
          </p:cNvPr>
          <p:cNvPicPr>
            <a:picLocks noChangeAspect="1"/>
          </p:cNvPicPr>
          <p:nvPr/>
        </p:nvPicPr>
        <p:blipFill rotWithShape="1">
          <a:blip r:embed="rId2">
            <a:extLst>
              <a:ext uri="{28A0092B-C50C-407E-A947-70E740481C1C}">
                <a14:useLocalDpi xmlns:a14="http://schemas.microsoft.com/office/drawing/2010/main" val="0"/>
              </a:ext>
            </a:extLst>
          </a:blip>
          <a:srcRect l="9838" t="39623" r="6688" b="5531"/>
          <a:stretch/>
        </p:blipFill>
        <p:spPr>
          <a:xfrm>
            <a:off x="683568" y="1851670"/>
            <a:ext cx="7632848" cy="2664297"/>
          </a:xfrm>
          <a:prstGeom prst="rect">
            <a:avLst/>
          </a:prstGeom>
        </p:spPr>
      </p:pic>
    </p:spTree>
    <p:extLst>
      <p:ext uri="{BB962C8B-B14F-4D97-AF65-F5344CB8AC3E}">
        <p14:creationId xmlns:p14="http://schemas.microsoft.com/office/powerpoint/2010/main" val="621651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514725"/>
          <a:chOff x="914400" y="1028700"/>
          <a:chExt cx="8229600" cy="3514725"/>
        </a:xfrm>
      </p:grpSpPr>
      <p:sp>
        <p:nvSpPr>
          <p:cNvPr id="2" name="ZoneTexte 1"/>
          <p:cNvSpPr txBox="1"/>
          <p:nvPr/>
        </p:nvSpPr>
        <p:spPr>
          <a:xfrm>
            <a:off x="179512" y="41151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a:rPr>
              <a:t>Check for Duplicates and Remove Them</a:t>
            </a:r>
          </a:p>
        </p:txBody>
      </p:sp>
      <p:sp>
        <p:nvSpPr>
          <p:cNvPr id="3" name="ZoneTexte 2"/>
          <p:cNvSpPr txBox="1"/>
          <p:nvPr/>
        </p:nvSpPr>
        <p:spPr>
          <a:xfrm>
            <a:off x="213034" y="880940"/>
            <a:ext cx="8930966" cy="1323439"/>
          </a:xfrm>
          <a:prstGeom prst="rect">
            <a:avLst/>
          </a:prstGeom>
          <a:noFill/>
        </p:spPr>
        <p:txBody>
          <a:bodyPr vert="horz" wrap="square" lIns="91440" tIns="45720" rIns="91440" bIns="45720" rtlCol="0" anchorCtr="0">
            <a:spAutoFit/>
          </a:bodyPr>
          <a:lstStyle/>
          <a:p>
            <a:pPr marL="0" marR="0" lvl="0" indent="0" algn="l" rtl="0" fontAlgn="base">
              <a:lnSpc>
                <a:spcPct val="100000"/>
              </a:lnSpc>
              <a:spcBef>
                <a:spcPts val="0"/>
              </a:spcBef>
              <a:spcAft>
                <a:spcPts val="0"/>
              </a:spcAft>
            </a:pPr>
            <a:r>
              <a:rPr lang="en-US" sz="2000" u="none" strike="noStrike" cap="none" spc="0" dirty="0">
                <a:solidFill>
                  <a:srgbClr val="424242">
                    <a:alpha val="100000"/>
                  </a:srgbClr>
                </a:solidFill>
                <a:latin typeface="Times New Roman"/>
              </a:rPr>
              <a:t>Check for duplicates in the dataset using the duplicated() function in Pandas, which identifies any rows that are exact copies of others. To ensure data integrity, remove these duplicate entries by applying the </a:t>
            </a:r>
            <a:r>
              <a:rPr lang="en-US" sz="2000" u="none" strike="noStrike" cap="none" spc="0" dirty="0" err="1">
                <a:solidFill>
                  <a:srgbClr val="424242">
                    <a:alpha val="100000"/>
                  </a:srgbClr>
                </a:solidFill>
                <a:latin typeface="Times New Roman"/>
              </a:rPr>
              <a:t>drop_duplicates</a:t>
            </a:r>
            <a:r>
              <a:rPr lang="en-US" sz="2000" u="none" strike="noStrike" cap="none" spc="0" dirty="0">
                <a:solidFill>
                  <a:srgbClr val="424242">
                    <a:alpha val="100000"/>
                  </a:srgbClr>
                </a:solidFill>
                <a:latin typeface="Times New Roman"/>
              </a:rPr>
              <a:t>() function, keeping only unique records necessary for accurate analysis.</a:t>
            </a:r>
          </a:p>
        </p:txBody>
      </p:sp>
      <p:pic>
        <p:nvPicPr>
          <p:cNvPr id="4" name="Image 3">
            <a:extLst>
              <a:ext uri="{FF2B5EF4-FFF2-40B4-BE49-F238E27FC236}">
                <a16:creationId xmlns:a16="http://schemas.microsoft.com/office/drawing/2014/main" id="{08E30A81-4FA2-4F21-A88F-ABC560005AFE}"/>
              </a:ext>
            </a:extLst>
          </p:cNvPr>
          <p:cNvPicPr>
            <a:picLocks noChangeAspect="1"/>
          </p:cNvPicPr>
          <p:nvPr/>
        </p:nvPicPr>
        <p:blipFill rotWithShape="1">
          <a:blip r:embed="rId2">
            <a:extLst>
              <a:ext uri="{28A0092B-C50C-407E-A947-70E740481C1C}">
                <a14:useLocalDpi xmlns:a14="http://schemas.microsoft.com/office/drawing/2010/main" val="0"/>
              </a:ext>
            </a:extLst>
          </a:blip>
          <a:srcRect l="9051" t="41106" r="7475" b="2565"/>
          <a:stretch/>
        </p:blipFill>
        <p:spPr>
          <a:xfrm>
            <a:off x="755576" y="2355726"/>
            <a:ext cx="7632848" cy="27363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514725"/>
          <a:chOff x="914400" y="1028700"/>
          <a:chExt cx="8229600" cy="3514725"/>
        </a:xfrm>
      </p:grpSpPr>
      <p:sp>
        <p:nvSpPr>
          <p:cNvPr id="2" name="ZoneTexte 1"/>
          <p:cNvSpPr txBox="1"/>
          <p:nvPr/>
        </p:nvSpPr>
        <p:spPr>
          <a:xfrm>
            <a:off x="179512" y="339502"/>
            <a:ext cx="7315200" cy="52322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a:rPr>
              <a:t>Data Transformation and Typing</a:t>
            </a:r>
          </a:p>
        </p:txBody>
      </p:sp>
      <p:sp>
        <p:nvSpPr>
          <p:cNvPr id="3" name="ZoneTexte 2"/>
          <p:cNvSpPr txBox="1"/>
          <p:nvPr/>
        </p:nvSpPr>
        <p:spPr>
          <a:xfrm>
            <a:off x="203190" y="771550"/>
            <a:ext cx="8761298" cy="707886"/>
          </a:xfrm>
          <a:prstGeom prst="rect">
            <a:avLst/>
          </a:prstGeom>
          <a:noFill/>
        </p:spPr>
        <p:txBody>
          <a:bodyPr vert="horz" wrap="square" lIns="91440" tIns="45720" rIns="91440" bIns="45720" rtlCol="0" anchorCtr="0">
            <a:spAutoFit/>
          </a:bodyPr>
          <a:lstStyle/>
          <a:p>
            <a:pPr marL="0" marR="0" lvl="0" indent="0" algn="l" rtl="0" fontAlgn="base">
              <a:lnSpc>
                <a:spcPct val="100000"/>
              </a:lnSpc>
              <a:spcBef>
                <a:spcPts val="0"/>
              </a:spcBef>
              <a:spcAft>
                <a:spcPts val="0"/>
              </a:spcAft>
            </a:pPr>
            <a:r>
              <a:rPr lang="en-US" sz="2000" u="none" strike="noStrike" cap="none" spc="0" dirty="0">
                <a:solidFill>
                  <a:srgbClr val="424242">
                    <a:alpha val="100000"/>
                  </a:srgbClr>
                </a:solidFill>
                <a:latin typeface="Times New Roman"/>
              </a:rPr>
              <a:t>Verify if the type of the field correspond to the data. Transform data by applying some manipulation techniques to ensure uniformity in data representation.</a:t>
            </a:r>
          </a:p>
        </p:txBody>
      </p:sp>
      <p:pic>
        <p:nvPicPr>
          <p:cNvPr id="4" name="Image 3">
            <a:extLst>
              <a:ext uri="{FF2B5EF4-FFF2-40B4-BE49-F238E27FC236}">
                <a16:creationId xmlns:a16="http://schemas.microsoft.com/office/drawing/2014/main" id="{4F2143CD-C02B-4274-9934-6DCB8F7122C1}"/>
              </a:ext>
            </a:extLst>
          </p:cNvPr>
          <p:cNvPicPr>
            <a:picLocks noChangeAspect="1"/>
          </p:cNvPicPr>
          <p:nvPr/>
        </p:nvPicPr>
        <p:blipFill rotWithShape="1">
          <a:blip r:embed="rId2">
            <a:extLst>
              <a:ext uri="{28A0092B-C50C-407E-A947-70E740481C1C}">
                <a14:useLocalDpi xmlns:a14="http://schemas.microsoft.com/office/drawing/2010/main" val="0"/>
              </a:ext>
            </a:extLst>
          </a:blip>
          <a:srcRect l="9051" t="57412" r="10626" b="1083"/>
          <a:stretch/>
        </p:blipFill>
        <p:spPr>
          <a:xfrm>
            <a:off x="243805" y="2211710"/>
            <a:ext cx="8656389" cy="23762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514725"/>
          <a:chOff x="914400" y="1028700"/>
          <a:chExt cx="8229600" cy="3514725"/>
        </a:xfrm>
      </p:grpSpPr>
      <p:sp>
        <p:nvSpPr>
          <p:cNvPr id="2" name="ZoneTexte 1"/>
          <p:cNvSpPr txBox="1"/>
          <p:nvPr/>
        </p:nvSpPr>
        <p:spPr>
          <a:xfrm>
            <a:off x="179512" y="41151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121212">
                    <a:alpha val="100000"/>
                  </a:srgbClr>
                </a:solidFill>
                <a:latin typeface="Times New Roman"/>
              </a:rPr>
              <a:t>Save the cleaned data</a:t>
            </a:r>
          </a:p>
        </p:txBody>
      </p:sp>
      <p:sp>
        <p:nvSpPr>
          <p:cNvPr id="3" name="ZoneTexte 2"/>
          <p:cNvSpPr txBox="1"/>
          <p:nvPr/>
        </p:nvSpPr>
        <p:spPr>
          <a:xfrm>
            <a:off x="182194" y="940534"/>
            <a:ext cx="8854301" cy="1323439"/>
          </a:xfrm>
          <a:prstGeom prst="rect">
            <a:avLst/>
          </a:prstGeom>
          <a:noFill/>
        </p:spPr>
        <p:txBody>
          <a:bodyPr vert="horz" wrap="square" lIns="91440" tIns="45720" rIns="91440" bIns="45720" rtlCol="0" anchorCtr="0">
            <a:spAutoFit/>
          </a:bodyPr>
          <a:lstStyle/>
          <a:p>
            <a:pPr marL="0" marR="0" lvl="0" indent="0" algn="l" rtl="0" fontAlgn="base">
              <a:lnSpc>
                <a:spcPct val="100000"/>
              </a:lnSpc>
              <a:spcBef>
                <a:spcPts val="0"/>
              </a:spcBef>
              <a:spcAft>
                <a:spcPts val="0"/>
              </a:spcAft>
            </a:pPr>
            <a:r>
              <a:rPr lang="en-US" sz="2000" u="none" strike="noStrike" cap="none" spc="0" dirty="0">
                <a:solidFill>
                  <a:srgbClr val="424242">
                    <a:alpha val="100000"/>
                  </a:srgbClr>
                </a:solidFill>
                <a:latin typeface="Times New Roman"/>
              </a:rPr>
              <a:t>Save the cleaned data by using the </a:t>
            </a:r>
            <a:r>
              <a:rPr lang="en-US" sz="2000" u="none" strike="noStrike" cap="none" spc="0" dirty="0" err="1">
                <a:solidFill>
                  <a:srgbClr val="424242">
                    <a:alpha val="100000"/>
                  </a:srgbClr>
                </a:solidFill>
                <a:latin typeface="Times New Roman"/>
              </a:rPr>
              <a:t>to_</a:t>
            </a:r>
            <a:r>
              <a:rPr lang="en-US" sz="2000" dirty="0" err="1">
                <a:solidFill>
                  <a:srgbClr val="424242">
                    <a:alpha val="100000"/>
                  </a:srgbClr>
                </a:solidFill>
                <a:latin typeface="Times New Roman"/>
              </a:rPr>
              <a:t>excel</a:t>
            </a:r>
            <a:r>
              <a:rPr lang="en-US" sz="2000" u="none" strike="noStrike" cap="none" spc="0" dirty="0">
                <a:solidFill>
                  <a:srgbClr val="424242">
                    <a:alpha val="100000"/>
                  </a:srgbClr>
                </a:solidFill>
                <a:latin typeface="Times New Roman"/>
              </a:rPr>
              <a:t>() function in Pandas, specifying the desired file path and name. Ensure to set parameters like index=False to avoid saving the </a:t>
            </a:r>
            <a:r>
              <a:rPr lang="en-US" sz="2000" u="none" strike="noStrike" cap="none" spc="0" dirty="0" err="1">
                <a:solidFill>
                  <a:srgbClr val="424242">
                    <a:alpha val="100000"/>
                  </a:srgbClr>
                </a:solidFill>
                <a:latin typeface="Times New Roman"/>
              </a:rPr>
              <a:t>DataFrame</a:t>
            </a:r>
            <a:r>
              <a:rPr lang="en-US" sz="2000" u="none" strike="noStrike" cap="none" spc="0" dirty="0">
                <a:solidFill>
                  <a:srgbClr val="424242">
                    <a:alpha val="100000"/>
                  </a:srgbClr>
                </a:solidFill>
                <a:latin typeface="Times New Roman"/>
              </a:rPr>
              <a:t> index as a separate column. This step allows for easy retrieval and use of the cleaned dataset for future analysis or reporting.</a:t>
            </a:r>
          </a:p>
        </p:txBody>
      </p:sp>
      <p:pic>
        <p:nvPicPr>
          <p:cNvPr id="4" name="Image 3">
            <a:extLst>
              <a:ext uri="{FF2B5EF4-FFF2-40B4-BE49-F238E27FC236}">
                <a16:creationId xmlns:a16="http://schemas.microsoft.com/office/drawing/2014/main" id="{A9B608F6-69C2-47C0-B889-D963D0283909}"/>
              </a:ext>
            </a:extLst>
          </p:cNvPr>
          <p:cNvPicPr>
            <a:picLocks noChangeAspect="1"/>
          </p:cNvPicPr>
          <p:nvPr/>
        </p:nvPicPr>
        <p:blipFill rotWithShape="1">
          <a:blip r:embed="rId2">
            <a:extLst>
              <a:ext uri="{28A0092B-C50C-407E-A947-70E740481C1C}">
                <a14:useLocalDpi xmlns:a14="http://schemas.microsoft.com/office/drawing/2010/main" val="0"/>
              </a:ext>
            </a:extLst>
          </a:blip>
          <a:srcRect l="9051" t="64823" r="25588" b="24801"/>
          <a:stretch/>
        </p:blipFill>
        <p:spPr>
          <a:xfrm>
            <a:off x="611560" y="2816137"/>
            <a:ext cx="8064896" cy="680173"/>
          </a:xfrm>
          <a:prstGeom prst="rect">
            <a:avLst/>
          </a:prstGeom>
        </p:spPr>
      </p:pic>
    </p:spTree>
    <p:extLst>
      <p:ext uri="{BB962C8B-B14F-4D97-AF65-F5344CB8AC3E}">
        <p14:creationId xmlns:p14="http://schemas.microsoft.com/office/powerpoint/2010/main" val="3403683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019425"/>
          <a:chOff x="914400" y="1028700"/>
          <a:chExt cx="8229600" cy="3019425"/>
        </a:xfrm>
      </p:grpSpPr>
      <p:sp>
        <p:nvSpPr>
          <p:cNvPr id="2" name="ZoneTexte 1"/>
          <p:cNvSpPr txBox="1"/>
          <p:nvPr/>
        </p:nvSpPr>
        <p:spPr>
          <a:xfrm>
            <a:off x="179512" y="483518"/>
            <a:ext cx="7315200" cy="584775"/>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3200" b="1" u="none" strike="noStrike" cap="none" spc="0" dirty="0">
                <a:solidFill>
                  <a:srgbClr val="121212">
                    <a:alpha val="100000"/>
                  </a:srgbClr>
                </a:solidFill>
                <a:latin typeface="Times New Roman"/>
              </a:rPr>
              <a:t>Exploratory Data Analysis (EDA)</a:t>
            </a:r>
          </a:p>
        </p:txBody>
      </p:sp>
      <p:graphicFrame>
        <p:nvGraphicFramePr>
          <p:cNvPr id="4" name="Diagramme 3">
            <a:extLst>
              <a:ext uri="{FF2B5EF4-FFF2-40B4-BE49-F238E27FC236}">
                <a16:creationId xmlns:a16="http://schemas.microsoft.com/office/drawing/2014/main" id="{79934F0F-50EB-491F-9B17-89241303F3C7}"/>
              </a:ext>
            </a:extLst>
          </p:cNvPr>
          <p:cNvGraphicFramePr/>
          <p:nvPr>
            <p:extLst>
              <p:ext uri="{D42A27DB-BD31-4B8C-83A1-F6EECF244321}">
                <p14:modId xmlns:p14="http://schemas.microsoft.com/office/powerpoint/2010/main" val="3745936710"/>
              </p:ext>
            </p:extLst>
          </p:nvPr>
        </p:nvGraphicFramePr>
        <p:xfrm>
          <a:off x="914400" y="1397597"/>
          <a:ext cx="7315200" cy="3240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4086225"/>
          <a:chOff x="914400" y="1028700"/>
          <a:chExt cx="8229600" cy="4086225"/>
        </a:xfrm>
      </p:grpSpPr>
      <p:sp>
        <p:nvSpPr>
          <p:cNvPr id="2" name="ZoneTexte 1"/>
          <p:cNvSpPr txBox="1"/>
          <p:nvPr/>
        </p:nvSpPr>
        <p:spPr>
          <a:xfrm>
            <a:off x="179512" y="483518"/>
            <a:ext cx="7315200" cy="523220"/>
          </a:xfrm>
          <a:prstGeom prst="rect">
            <a:avLst/>
          </a:prstGeom>
          <a:noFill/>
        </p:spPr>
        <p:txBody>
          <a:bodyPr vert="horz" lIns="91440" tIns="45720" rIns="91440" bIns="45720" rtlCol="0" anchor="t" anchorCtr="0">
            <a:spAutoFit/>
          </a:bodyPr>
          <a:lstStyle/>
          <a:p>
            <a:pPr marL="0" marR="0" lvl="0" indent="0" algn="l" rtl="0" fontAlgn="base">
              <a:lnSpc>
                <a:spcPct val="100000"/>
              </a:lnSpc>
              <a:spcBef>
                <a:spcPts val="0"/>
              </a:spcBef>
              <a:spcAft>
                <a:spcPts val="0"/>
              </a:spcAft>
            </a:pPr>
            <a:r>
              <a:rPr lang="en-US" sz="2800" u="none" strike="noStrike" cap="none" spc="0" dirty="0">
                <a:solidFill>
                  <a:srgbClr val="424242">
                    <a:alpha val="100000"/>
                  </a:srgbClr>
                </a:solidFill>
                <a:latin typeface="Times New Roman"/>
              </a:rPr>
              <a:t>A - Station and Mode Analysis</a:t>
            </a:r>
          </a:p>
        </p:txBody>
      </p:sp>
      <p:sp>
        <p:nvSpPr>
          <p:cNvPr id="3" name="ZoneTexte 2"/>
          <p:cNvSpPr txBox="1"/>
          <p:nvPr/>
        </p:nvSpPr>
        <p:spPr>
          <a:xfrm>
            <a:off x="467544" y="2006139"/>
            <a:ext cx="7315200" cy="1938992"/>
          </a:xfrm>
          <a:prstGeom prst="rect">
            <a:avLst/>
          </a:prstGeom>
          <a:noFill/>
        </p:spPr>
        <p:txBody>
          <a:bodyPr vert="horz" lIns="91440" tIns="45720" rIns="91440" bIns="45720" rtlCol="0" anchorCtr="0">
            <a:spAutoFit/>
          </a:bodyPr>
          <a:lstStyle/>
          <a:p>
            <a:pPr marR="0" lvl="0" algn="l" rtl="0" fontAlgn="base">
              <a:lnSpc>
                <a:spcPct val="100000"/>
              </a:lnSpc>
              <a:spcBef>
                <a:spcPts val="0"/>
              </a:spcBef>
              <a:spcAft>
                <a:spcPts val="0"/>
              </a:spcAft>
            </a:pPr>
            <a:r>
              <a:rPr lang="en-US" sz="2000" u="none" strike="noStrike" cap="none" spc="0" dirty="0">
                <a:solidFill>
                  <a:srgbClr val="424242">
                    <a:alpha val="100000"/>
                  </a:srgbClr>
                </a:solidFill>
                <a:latin typeface="Times New Roman"/>
              </a:rPr>
              <a:t>Questions to answer :</a:t>
            </a:r>
          </a:p>
          <a:p>
            <a:pPr marL="342900" marR="0" lvl="0" indent="-342900" algn="l" rtl="0" fontAlgn="base">
              <a:lnSpc>
                <a:spcPct val="100000"/>
              </a:lnSpc>
              <a:spcBef>
                <a:spcPts val="0"/>
              </a:spcBef>
              <a:spcAft>
                <a:spcPts val="0"/>
              </a:spcAft>
              <a:buFontTx/>
              <a:buChar char="-"/>
            </a:pPr>
            <a:r>
              <a:rPr lang="en-US" sz="2000" u="none" strike="noStrike" cap="none" spc="0" dirty="0">
                <a:solidFill>
                  <a:srgbClr val="424242">
                    <a:alpha val="100000"/>
                  </a:srgbClr>
                </a:solidFill>
                <a:latin typeface="Times New Roman"/>
              </a:rPr>
              <a:t>How many unique stations are present in the data?</a:t>
            </a:r>
          </a:p>
          <a:p>
            <a:pPr marL="342900" marR="0" lvl="0" indent="-342900" algn="l" rtl="0" fontAlgn="base">
              <a:lnSpc>
                <a:spcPct val="100000"/>
              </a:lnSpc>
              <a:spcBef>
                <a:spcPts val="0"/>
              </a:spcBef>
              <a:spcAft>
                <a:spcPts val="0"/>
              </a:spcAft>
              <a:buFontTx/>
              <a:buChar char="-"/>
            </a:pPr>
            <a:r>
              <a:rPr lang="en-US" sz="2000" u="none" strike="noStrike" cap="none" spc="0" dirty="0">
                <a:solidFill>
                  <a:srgbClr val="424242">
                    <a:alpha val="100000"/>
                  </a:srgbClr>
                </a:solidFill>
                <a:latin typeface="Times New Roman"/>
              </a:rPr>
              <a:t>Which stations report the highest volumes of entries and exits (both total and per y)?</a:t>
            </a:r>
          </a:p>
          <a:p>
            <a:pPr marL="342900" marR="0" lvl="0" indent="-342900" algn="l" rtl="0" fontAlgn="base">
              <a:lnSpc>
                <a:spcPct val="100000"/>
              </a:lnSpc>
              <a:spcBef>
                <a:spcPts val="0"/>
              </a:spcBef>
              <a:spcAft>
                <a:spcPts val="0"/>
              </a:spcAft>
              <a:buFontTx/>
              <a:buChar char="-"/>
            </a:pPr>
            <a:r>
              <a:rPr lang="en-US" sz="2000" u="none" strike="noStrike" cap="none" spc="0" dirty="0">
                <a:solidFill>
                  <a:srgbClr val="424242">
                    <a:alpha val="100000"/>
                  </a:srgbClr>
                </a:solidFill>
                <a:latin typeface="Times New Roman"/>
              </a:rPr>
              <a:t>Is there a correlation between station coverage (as indicated by the `Coverage` column) and the volume of traffic?</a:t>
            </a:r>
          </a:p>
        </p:txBody>
      </p:sp>
      <p:sp>
        <p:nvSpPr>
          <p:cNvPr id="4" name="ZoneTexte 3">
            <a:extLst>
              <a:ext uri="{FF2B5EF4-FFF2-40B4-BE49-F238E27FC236}">
                <a16:creationId xmlns:a16="http://schemas.microsoft.com/office/drawing/2014/main" id="{1E73BC3B-0584-4BB6-9163-C251B6871846}"/>
              </a:ext>
            </a:extLst>
          </p:cNvPr>
          <p:cNvSpPr txBox="1"/>
          <p:nvPr/>
        </p:nvSpPr>
        <p:spPr>
          <a:xfrm>
            <a:off x="304963" y="1275606"/>
            <a:ext cx="5112568" cy="461665"/>
          </a:xfrm>
          <a:prstGeom prst="rect">
            <a:avLst/>
          </a:prstGeom>
          <a:noFill/>
        </p:spPr>
        <p:txBody>
          <a:bodyPr wrap="square" rtlCol="0">
            <a:spAutoFit/>
          </a:bodyPr>
          <a:lstStyle/>
          <a:p>
            <a:r>
              <a:rPr lang="en-US" sz="2400" u="none" strike="noStrike" cap="none" spc="0" dirty="0">
                <a:solidFill>
                  <a:srgbClr val="424242">
                    <a:alpha val="100000"/>
                  </a:srgbClr>
                </a:solidFill>
                <a:latin typeface="Times New Roman"/>
              </a:rPr>
              <a:t>1 - Stations and Their Characteristics: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5930B8A-792F-4867-AA75-0EFA9ED87874}"/>
              </a:ext>
            </a:extLst>
          </p:cNvPr>
          <p:cNvSpPr txBox="1"/>
          <p:nvPr/>
        </p:nvSpPr>
        <p:spPr>
          <a:xfrm>
            <a:off x="251520" y="411510"/>
            <a:ext cx="7560840" cy="73866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 - Unique Stations</a:t>
            </a:r>
          </a:p>
          <a:p>
            <a:r>
              <a:rPr lang="en-US" dirty="0">
                <a:latin typeface="Times New Roman" panose="02020603050405020304" pitchFamily="18" charset="0"/>
                <a:cs typeface="Times New Roman" panose="02020603050405020304" pitchFamily="18" charset="0"/>
              </a:rPr>
              <a:t>Determine how many unique stations are present in the dataset.</a:t>
            </a:r>
            <a:endParaRPr lang="en-GB"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2F2ECD89-A419-4250-818C-DFE13415CE22}"/>
              </a:ext>
            </a:extLst>
          </p:cNvPr>
          <p:cNvPicPr>
            <a:picLocks noChangeAspect="1"/>
          </p:cNvPicPr>
          <p:nvPr/>
        </p:nvPicPr>
        <p:blipFill rotWithShape="1">
          <a:blip r:embed="rId3">
            <a:extLst>
              <a:ext uri="{28A0092B-C50C-407E-A947-70E740481C1C}">
                <a14:useLocalDpi xmlns:a14="http://schemas.microsoft.com/office/drawing/2010/main" val="0"/>
              </a:ext>
            </a:extLst>
          </a:blip>
          <a:srcRect l="9051" t="54752" r="22438" b="24801"/>
          <a:stretch/>
        </p:blipFill>
        <p:spPr>
          <a:xfrm>
            <a:off x="544889" y="1923678"/>
            <a:ext cx="7267471" cy="1152251"/>
          </a:xfrm>
          <a:prstGeom prst="rect">
            <a:avLst/>
          </a:prstGeom>
        </p:spPr>
      </p:pic>
    </p:spTree>
    <p:extLst>
      <p:ext uri="{BB962C8B-B14F-4D97-AF65-F5344CB8AC3E}">
        <p14:creationId xmlns:p14="http://schemas.microsoft.com/office/powerpoint/2010/main" val="191963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8B1E552-C211-4A76-B66C-C523D455D34F}"/>
              </a:ext>
            </a:extLst>
          </p:cNvPr>
          <p:cNvSpPr txBox="1"/>
          <p:nvPr/>
        </p:nvSpPr>
        <p:spPr>
          <a:xfrm>
            <a:off x="179512" y="355353"/>
            <a:ext cx="7992888" cy="129266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b - Stations with Highest Volumes of Entries and Exits </a:t>
            </a:r>
          </a:p>
          <a:p>
            <a:r>
              <a:rPr lang="en-US" dirty="0">
                <a:latin typeface="Times New Roman" panose="02020603050405020304" pitchFamily="18" charset="0"/>
                <a:cs typeface="Times New Roman" panose="02020603050405020304" pitchFamily="18" charset="0"/>
              </a:rPr>
              <a:t>We wish to identify:</a:t>
            </a:r>
          </a:p>
          <a:p>
            <a:pPr marL="285750" indent="-285750">
              <a:buFontTx/>
              <a:buChar char="-"/>
            </a:pPr>
            <a:r>
              <a:rPr lang="en-US" dirty="0">
                <a:latin typeface="Times New Roman" panose="02020603050405020304" pitchFamily="18" charset="0"/>
                <a:cs typeface="Times New Roman" panose="02020603050405020304" pitchFamily="18" charset="0"/>
              </a:rPr>
              <a:t>The stations with the highest total entries (`Total Entries per Station`)</a:t>
            </a:r>
          </a:p>
          <a:p>
            <a:pPr marL="285750" indent="-285750">
              <a:buFontTx/>
              <a:buChar char="-"/>
            </a:pPr>
            <a:r>
              <a:rPr lang="en-US" dirty="0">
                <a:latin typeface="Times New Roman" panose="02020603050405020304" pitchFamily="18" charset="0"/>
                <a:cs typeface="Times New Roman" panose="02020603050405020304" pitchFamily="18" charset="0"/>
              </a:rPr>
              <a:t>The stations with the highest total exits (`Total Exits per Station`)</a:t>
            </a:r>
            <a:endParaRPr lang="en-GB"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87406666-A4B7-4036-A897-F323DAB8CBA3}"/>
              </a:ext>
            </a:extLst>
          </p:cNvPr>
          <p:cNvPicPr>
            <a:picLocks noChangeAspect="1"/>
          </p:cNvPicPr>
          <p:nvPr/>
        </p:nvPicPr>
        <p:blipFill rotWithShape="1">
          <a:blip r:embed="rId2">
            <a:extLst>
              <a:ext uri="{28A0092B-C50C-407E-A947-70E740481C1C}">
                <a14:useLocalDpi xmlns:a14="http://schemas.microsoft.com/office/drawing/2010/main" val="0"/>
              </a:ext>
            </a:extLst>
          </a:blip>
          <a:srcRect l="9292" t="42588" r="12200" b="1083"/>
          <a:stretch/>
        </p:blipFill>
        <p:spPr>
          <a:xfrm>
            <a:off x="827584" y="1851670"/>
            <a:ext cx="7178720" cy="2736305"/>
          </a:xfrm>
          <a:prstGeom prst="rect">
            <a:avLst/>
          </a:prstGeom>
        </p:spPr>
      </p:pic>
      <p:pic>
        <p:nvPicPr>
          <p:cNvPr id="7" name="Image 6">
            <a:extLst>
              <a:ext uri="{FF2B5EF4-FFF2-40B4-BE49-F238E27FC236}">
                <a16:creationId xmlns:a16="http://schemas.microsoft.com/office/drawing/2014/main" id="{0709C714-6801-4175-A84B-DE4F57359101}"/>
              </a:ext>
            </a:extLst>
          </p:cNvPr>
          <p:cNvPicPr>
            <a:picLocks noChangeAspect="1"/>
          </p:cNvPicPr>
          <p:nvPr/>
        </p:nvPicPr>
        <p:blipFill rotWithShape="1">
          <a:blip r:embed="rId3">
            <a:extLst>
              <a:ext uri="{28A0092B-C50C-407E-A947-70E740481C1C}">
                <a14:useLocalDpi xmlns:a14="http://schemas.microsoft.com/office/drawing/2010/main" val="0"/>
              </a:ext>
            </a:extLst>
          </a:blip>
          <a:srcRect l="18500" t="32212" r="23225" b="2566"/>
          <a:stretch/>
        </p:blipFill>
        <p:spPr>
          <a:xfrm>
            <a:off x="1043608" y="1660221"/>
            <a:ext cx="5616624" cy="3296800"/>
          </a:xfrm>
          <a:prstGeom prst="rect">
            <a:avLst/>
          </a:prstGeom>
        </p:spPr>
      </p:pic>
      <p:pic>
        <p:nvPicPr>
          <p:cNvPr id="8" name="Image 7">
            <a:extLst>
              <a:ext uri="{FF2B5EF4-FFF2-40B4-BE49-F238E27FC236}">
                <a16:creationId xmlns:a16="http://schemas.microsoft.com/office/drawing/2014/main" id="{9C539223-816B-4053-8496-D217A21442EE}"/>
              </a:ext>
            </a:extLst>
          </p:cNvPr>
          <p:cNvPicPr>
            <a:picLocks noChangeAspect="1"/>
          </p:cNvPicPr>
          <p:nvPr/>
        </p:nvPicPr>
        <p:blipFill rotWithShape="1">
          <a:blip r:embed="rId4">
            <a:extLst>
              <a:ext uri="{28A0092B-C50C-407E-A947-70E740481C1C}">
                <a14:useLocalDpi xmlns:a14="http://schemas.microsoft.com/office/drawing/2010/main" val="0"/>
              </a:ext>
            </a:extLst>
          </a:blip>
          <a:srcRect l="9450" t="42989" r="12043" b="5420"/>
          <a:stretch/>
        </p:blipFill>
        <p:spPr>
          <a:xfrm>
            <a:off x="683568" y="1966737"/>
            <a:ext cx="7560840" cy="2639571"/>
          </a:xfrm>
          <a:prstGeom prst="rect">
            <a:avLst/>
          </a:prstGeom>
        </p:spPr>
      </p:pic>
      <p:pic>
        <p:nvPicPr>
          <p:cNvPr id="9" name="Image 8">
            <a:extLst>
              <a:ext uri="{FF2B5EF4-FFF2-40B4-BE49-F238E27FC236}">
                <a16:creationId xmlns:a16="http://schemas.microsoft.com/office/drawing/2014/main" id="{44FC82FF-ABB4-4E4B-8DCE-FDD3EF319196}"/>
              </a:ext>
            </a:extLst>
          </p:cNvPr>
          <p:cNvPicPr>
            <a:picLocks noChangeAspect="1"/>
          </p:cNvPicPr>
          <p:nvPr/>
        </p:nvPicPr>
        <p:blipFill rotWithShape="1">
          <a:blip r:embed="rId5">
            <a:extLst>
              <a:ext uri="{28A0092B-C50C-407E-A947-70E740481C1C}">
                <a14:useLocalDpi xmlns:a14="http://schemas.microsoft.com/office/drawing/2010/main" val="0"/>
              </a:ext>
            </a:extLst>
          </a:blip>
          <a:srcRect l="17799" t="31129" r="24714" b="2589"/>
          <a:stretch/>
        </p:blipFill>
        <p:spPr>
          <a:xfrm>
            <a:off x="1943708" y="1749405"/>
            <a:ext cx="5256584" cy="3219822"/>
          </a:xfrm>
          <a:prstGeom prst="rect">
            <a:avLst/>
          </a:prstGeom>
        </p:spPr>
      </p:pic>
    </p:spTree>
    <p:extLst>
      <p:ext uri="{BB962C8B-B14F-4D97-AF65-F5344CB8AC3E}">
        <p14:creationId xmlns:p14="http://schemas.microsoft.com/office/powerpoint/2010/main" val="402670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97FFB52-181E-4A80-8E90-996E6383C40B}"/>
              </a:ext>
            </a:extLst>
          </p:cNvPr>
          <p:cNvSpPr txBox="1"/>
          <p:nvPr/>
        </p:nvSpPr>
        <p:spPr>
          <a:xfrm>
            <a:off x="179512" y="483518"/>
            <a:ext cx="8568952" cy="156966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2 - Transport Modes Analysis</a:t>
            </a:r>
          </a:p>
          <a:p>
            <a:r>
              <a:rPr lang="en-US" dirty="0">
                <a:latin typeface="Times New Roman" panose="02020603050405020304" pitchFamily="18" charset="0"/>
                <a:cs typeface="Times New Roman" panose="02020603050405020304" pitchFamily="18" charset="0"/>
              </a:rPr>
              <a:t>We answer:</a:t>
            </a:r>
          </a:p>
          <a:p>
            <a:pPr marL="285750" indent="-285750">
              <a:buFontTx/>
              <a:buChar char="-"/>
            </a:pPr>
            <a:r>
              <a:rPr lang="en-US" dirty="0">
                <a:latin typeface="Times New Roman" panose="02020603050405020304" pitchFamily="18" charset="0"/>
                <a:cs typeface="Times New Roman" panose="02020603050405020304" pitchFamily="18" charset="0"/>
              </a:rPr>
              <a:t>What are the unique transport modes?</a:t>
            </a:r>
          </a:p>
          <a:p>
            <a:pPr marL="285750" indent="-285750">
              <a:buFontTx/>
              <a:buChar char="-"/>
            </a:pPr>
            <a:r>
              <a:rPr lang="en-US" dirty="0">
                <a:latin typeface="Times New Roman" panose="02020603050405020304" pitchFamily="18" charset="0"/>
                <a:cs typeface="Times New Roman" panose="02020603050405020304" pitchFamily="18" charset="0"/>
              </a:rPr>
              <a:t>How does passenger traffic vary by mode (aggregating total entries and exits)?</a:t>
            </a:r>
          </a:p>
          <a:p>
            <a:pPr marL="285750" indent="-285750">
              <a:buFontTx/>
              <a:buChar char="-"/>
            </a:pPr>
            <a:r>
              <a:rPr lang="en-US" dirty="0">
                <a:latin typeface="Times New Roman" panose="02020603050405020304" pitchFamily="18" charset="0"/>
                <a:cs typeface="Times New Roman" panose="02020603050405020304" pitchFamily="18" charset="0"/>
              </a:rPr>
              <a:t>Is one transport mode significantly busier than the others?</a:t>
            </a:r>
            <a:endParaRPr lang="en-GB" dirty="0">
              <a:latin typeface="Times New Roman" panose="02020603050405020304" pitchFamily="18" charset="0"/>
              <a:cs typeface="Times New Roman" panose="02020603050405020304" pitchFamily="18" charset="0"/>
            </a:endParaRPr>
          </a:p>
        </p:txBody>
      </p:sp>
      <p:pic>
        <p:nvPicPr>
          <p:cNvPr id="3" name="Image 2">
            <a:extLst>
              <a:ext uri="{FF2B5EF4-FFF2-40B4-BE49-F238E27FC236}">
                <a16:creationId xmlns:a16="http://schemas.microsoft.com/office/drawing/2014/main" id="{D61F2DA6-A4FE-4F33-9C53-D631803D0501}"/>
              </a:ext>
            </a:extLst>
          </p:cNvPr>
          <p:cNvPicPr>
            <a:picLocks noChangeAspect="1"/>
          </p:cNvPicPr>
          <p:nvPr/>
        </p:nvPicPr>
        <p:blipFill rotWithShape="1">
          <a:blip r:embed="rId2">
            <a:extLst>
              <a:ext uri="{28A0092B-C50C-407E-A947-70E740481C1C}">
                <a14:useLocalDpi xmlns:a14="http://schemas.microsoft.com/office/drawing/2010/main" val="0"/>
              </a:ext>
            </a:extLst>
          </a:blip>
          <a:srcRect l="9051" t="38141" r="9838" b="4048"/>
          <a:stretch/>
        </p:blipFill>
        <p:spPr>
          <a:xfrm>
            <a:off x="683568" y="2053178"/>
            <a:ext cx="7416824" cy="2808313"/>
          </a:xfrm>
          <a:prstGeom prst="rect">
            <a:avLst/>
          </a:prstGeom>
        </p:spPr>
      </p:pic>
    </p:spTree>
    <p:extLst>
      <p:ext uri="{BB962C8B-B14F-4D97-AF65-F5344CB8AC3E}">
        <p14:creationId xmlns:p14="http://schemas.microsoft.com/office/powerpoint/2010/main" val="1924898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E7BEF00-784C-45C7-BAE0-766525CA6969}"/>
              </a:ext>
            </a:extLst>
          </p:cNvPr>
          <p:cNvPicPr>
            <a:picLocks noChangeAspect="1"/>
          </p:cNvPicPr>
          <p:nvPr/>
        </p:nvPicPr>
        <p:blipFill rotWithShape="1">
          <a:blip r:embed="rId2">
            <a:extLst>
              <a:ext uri="{28A0092B-C50C-407E-A947-70E740481C1C}">
                <a14:useLocalDpi xmlns:a14="http://schemas.microsoft.com/office/drawing/2010/main" val="0"/>
              </a:ext>
            </a:extLst>
          </a:blip>
          <a:srcRect l="9051" t="39624" r="39763" b="2566"/>
          <a:stretch/>
        </p:blipFill>
        <p:spPr>
          <a:xfrm>
            <a:off x="179512" y="51470"/>
            <a:ext cx="4680520" cy="2808313"/>
          </a:xfrm>
          <a:prstGeom prst="rect">
            <a:avLst/>
          </a:prstGeom>
        </p:spPr>
      </p:pic>
      <p:pic>
        <p:nvPicPr>
          <p:cNvPr id="4" name="Image 3">
            <a:extLst>
              <a:ext uri="{FF2B5EF4-FFF2-40B4-BE49-F238E27FC236}">
                <a16:creationId xmlns:a16="http://schemas.microsoft.com/office/drawing/2014/main" id="{D576DFF1-6D8D-4D4D-9A56-BF2003012E99}"/>
              </a:ext>
            </a:extLst>
          </p:cNvPr>
          <p:cNvPicPr>
            <a:picLocks noChangeAspect="1"/>
          </p:cNvPicPr>
          <p:nvPr/>
        </p:nvPicPr>
        <p:blipFill rotWithShape="1">
          <a:blip r:embed="rId3">
            <a:extLst>
              <a:ext uri="{28A0092B-C50C-407E-A947-70E740481C1C}">
                <a14:useLocalDpi xmlns:a14="http://schemas.microsoft.com/office/drawing/2010/main" val="0"/>
              </a:ext>
            </a:extLst>
          </a:blip>
          <a:srcRect l="17209" t="34093" r="28055" b="-2281"/>
          <a:stretch/>
        </p:blipFill>
        <p:spPr>
          <a:xfrm>
            <a:off x="4067944" y="1779662"/>
            <a:ext cx="5005065" cy="3312368"/>
          </a:xfrm>
          <a:prstGeom prst="rect">
            <a:avLst/>
          </a:prstGeom>
        </p:spPr>
      </p:pic>
    </p:spTree>
    <p:extLst>
      <p:ext uri="{BB962C8B-B14F-4D97-AF65-F5344CB8AC3E}">
        <p14:creationId xmlns:p14="http://schemas.microsoft.com/office/powerpoint/2010/main" val="2512768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4086225"/>
          <a:chOff x="914400" y="1028700"/>
          <a:chExt cx="8229600" cy="4086225"/>
        </a:xfrm>
      </p:grpSpPr>
      <p:sp>
        <p:nvSpPr>
          <p:cNvPr id="2" name="ZoneTexte 1"/>
          <p:cNvSpPr txBox="1"/>
          <p:nvPr/>
        </p:nvSpPr>
        <p:spPr>
          <a:xfrm>
            <a:off x="251520" y="483518"/>
            <a:ext cx="7315200" cy="523220"/>
          </a:xfrm>
          <a:prstGeom prst="rect">
            <a:avLst/>
          </a:prstGeom>
          <a:noFill/>
        </p:spPr>
        <p:txBody>
          <a:bodyPr vert="horz" lIns="91440" tIns="45720" rIns="91440" bIns="45720" rtlCol="0" anchor="t" anchorCtr="0">
            <a:spAutoFit/>
          </a:bodyPr>
          <a:lstStyle/>
          <a:p>
            <a:pPr marL="0" marR="0" lvl="0" indent="0" algn="l" rtl="0" fontAlgn="base">
              <a:lnSpc>
                <a:spcPct val="100000"/>
              </a:lnSpc>
              <a:spcBef>
                <a:spcPts val="0"/>
              </a:spcBef>
              <a:spcAft>
                <a:spcPts val="0"/>
              </a:spcAft>
            </a:pPr>
            <a:r>
              <a:rPr lang="en-US" sz="2800" u="none" strike="noStrike" cap="none" spc="0" dirty="0">
                <a:solidFill>
                  <a:srgbClr val="424242">
                    <a:alpha val="100000"/>
                  </a:srgbClr>
                </a:solidFill>
                <a:latin typeface="Times New Roman"/>
              </a:rPr>
              <a:t>B - Traffic Patterns and Temporal Analysis</a:t>
            </a:r>
          </a:p>
        </p:txBody>
      </p:sp>
      <p:sp>
        <p:nvSpPr>
          <p:cNvPr id="3" name="ZoneTexte 2"/>
          <p:cNvSpPr txBox="1"/>
          <p:nvPr/>
        </p:nvSpPr>
        <p:spPr>
          <a:xfrm>
            <a:off x="395536" y="1347614"/>
            <a:ext cx="8748464" cy="1323439"/>
          </a:xfrm>
          <a:prstGeom prst="rect">
            <a:avLst/>
          </a:prstGeom>
          <a:noFill/>
        </p:spPr>
        <p:txBody>
          <a:bodyPr vert="horz" wrap="square" lIns="91440" tIns="45720" rIns="91440" bIns="45720" rtlCol="0" anchorCtr="0">
            <a:spAutoFit/>
          </a:bodyPr>
          <a:lstStyle/>
          <a:p>
            <a:pPr marL="342900" marR="0" lvl="0" indent="-342900" algn="l" rtl="0" fontAlgn="base">
              <a:lnSpc>
                <a:spcPct val="100000"/>
              </a:lnSpc>
              <a:spcBef>
                <a:spcPts val="0"/>
              </a:spcBef>
              <a:spcAft>
                <a:spcPts val="0"/>
              </a:spcAft>
              <a:buFontTx/>
              <a:buChar char="-"/>
            </a:pPr>
            <a:r>
              <a:rPr lang="en-US" sz="2000" u="none" strike="noStrike" cap="none" spc="0" dirty="0">
                <a:solidFill>
                  <a:srgbClr val="424242">
                    <a:alpha val="100000"/>
                  </a:srgbClr>
                </a:solidFill>
                <a:latin typeface="Times New Roman"/>
              </a:rPr>
              <a:t>How do passenger entries and exits vary between weekdays, Fridays, Saturdays, and Sundays?</a:t>
            </a:r>
          </a:p>
          <a:p>
            <a:pPr marL="342900" marR="0" lvl="0" indent="-342900" algn="l" rtl="0" fontAlgn="base">
              <a:lnSpc>
                <a:spcPct val="100000"/>
              </a:lnSpc>
              <a:spcBef>
                <a:spcPts val="0"/>
              </a:spcBef>
              <a:spcAft>
                <a:spcPts val="0"/>
              </a:spcAft>
              <a:buFontTx/>
              <a:buChar char="-"/>
            </a:pPr>
            <a:r>
              <a:rPr lang="en-US" sz="2000" u="none" strike="noStrike" cap="none" spc="0" dirty="0">
                <a:solidFill>
                  <a:srgbClr val="424242">
                    <a:alpha val="100000"/>
                  </a:srgbClr>
                </a:solidFill>
                <a:latin typeface="Times New Roman"/>
              </a:rPr>
              <a:t>Are there significant differences in average daily traffic (as per `Average Entries per Day ` and `Average Exits per Day`) compared to total weekly traffic?</a:t>
            </a:r>
          </a:p>
        </p:txBody>
      </p:sp>
      <p:sp>
        <p:nvSpPr>
          <p:cNvPr id="4" name="ZoneTexte 3">
            <a:extLst>
              <a:ext uri="{FF2B5EF4-FFF2-40B4-BE49-F238E27FC236}">
                <a16:creationId xmlns:a16="http://schemas.microsoft.com/office/drawing/2014/main" id="{1E73BC3B-0584-4BB6-9163-C251B6871846}"/>
              </a:ext>
            </a:extLst>
          </p:cNvPr>
          <p:cNvSpPr txBox="1"/>
          <p:nvPr/>
        </p:nvSpPr>
        <p:spPr>
          <a:xfrm>
            <a:off x="179512" y="1006738"/>
            <a:ext cx="5112568" cy="461665"/>
          </a:xfrm>
          <a:prstGeom prst="rect">
            <a:avLst/>
          </a:prstGeom>
          <a:noFill/>
        </p:spPr>
        <p:txBody>
          <a:bodyPr wrap="square" rtlCol="0">
            <a:spAutoFit/>
          </a:bodyPr>
          <a:lstStyle/>
          <a:p>
            <a:r>
              <a:rPr lang="en-US" sz="2400" u="none" strike="noStrike" cap="none" spc="0" dirty="0">
                <a:solidFill>
                  <a:srgbClr val="424242">
                    <a:alpha val="100000"/>
                  </a:srgbClr>
                </a:solidFill>
                <a:latin typeface="Times New Roman"/>
              </a:rPr>
              <a:t>1 - Daily and Weekly Variations: </a:t>
            </a:r>
            <a:endParaRPr lang="en-GB" sz="2400" dirty="0"/>
          </a:p>
        </p:txBody>
      </p:sp>
    </p:spTree>
    <p:extLst>
      <p:ext uri="{BB962C8B-B14F-4D97-AF65-F5344CB8AC3E}">
        <p14:creationId xmlns:p14="http://schemas.microsoft.com/office/powerpoint/2010/main" val="1532459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C0744C7-65D3-4F4C-A66D-1651EEE64E6F}"/>
              </a:ext>
            </a:extLst>
          </p:cNvPr>
          <p:cNvSpPr txBox="1"/>
          <p:nvPr/>
        </p:nvSpPr>
        <p:spPr>
          <a:xfrm>
            <a:off x="251520" y="555526"/>
            <a:ext cx="8712968" cy="73866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 - Daily Variations in Passenger Traffic</a:t>
            </a:r>
          </a:p>
          <a:p>
            <a:r>
              <a:rPr lang="en-US" dirty="0">
                <a:latin typeface="Times New Roman" panose="02020603050405020304" pitchFamily="18" charset="0"/>
                <a:cs typeface="Times New Roman" panose="02020603050405020304" pitchFamily="18" charset="0"/>
              </a:rPr>
              <a:t>We will generate descriptive statistics and </a:t>
            </a:r>
            <a:r>
              <a:rPr lang="en-US" dirty="0" err="1">
                <a:latin typeface="Times New Roman" panose="02020603050405020304" pitchFamily="18" charset="0"/>
                <a:cs typeface="Times New Roman" panose="02020603050405020304" pitchFamily="18" charset="0"/>
              </a:rPr>
              <a:t>visualisations</a:t>
            </a:r>
            <a:r>
              <a:rPr lang="en-US" dirty="0">
                <a:latin typeface="Times New Roman" panose="02020603050405020304" pitchFamily="18" charset="0"/>
                <a:cs typeface="Times New Roman" panose="02020603050405020304" pitchFamily="18" charset="0"/>
              </a:rPr>
              <a:t> (boxplots) to compare distributions.</a:t>
            </a:r>
            <a:endParaRPr lang="en-GB"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D94DD606-7E98-4D80-ABC5-997D20410B92}"/>
              </a:ext>
            </a:extLst>
          </p:cNvPr>
          <p:cNvPicPr>
            <a:picLocks noChangeAspect="1"/>
          </p:cNvPicPr>
          <p:nvPr/>
        </p:nvPicPr>
        <p:blipFill rotWithShape="1">
          <a:blip r:embed="rId2">
            <a:extLst>
              <a:ext uri="{28A0092B-C50C-407E-A947-70E740481C1C}">
                <a14:useLocalDpi xmlns:a14="http://schemas.microsoft.com/office/drawing/2010/main" val="0"/>
              </a:ext>
            </a:extLst>
          </a:blip>
          <a:srcRect l="7476" t="44071" r="16138" b="2565"/>
          <a:stretch/>
        </p:blipFill>
        <p:spPr>
          <a:xfrm>
            <a:off x="251520" y="1635646"/>
            <a:ext cx="8496944" cy="3153506"/>
          </a:xfrm>
          <a:prstGeom prst="rect">
            <a:avLst/>
          </a:prstGeom>
        </p:spPr>
      </p:pic>
      <p:pic>
        <p:nvPicPr>
          <p:cNvPr id="5" name="Image 4">
            <a:extLst>
              <a:ext uri="{FF2B5EF4-FFF2-40B4-BE49-F238E27FC236}">
                <a16:creationId xmlns:a16="http://schemas.microsoft.com/office/drawing/2014/main" id="{7C2B3C2A-BD93-4A19-BE0A-9C9A8DF1FCF0}"/>
              </a:ext>
            </a:extLst>
          </p:cNvPr>
          <p:cNvPicPr>
            <a:picLocks noChangeAspect="1"/>
          </p:cNvPicPr>
          <p:nvPr/>
        </p:nvPicPr>
        <p:blipFill rotWithShape="1">
          <a:blip r:embed="rId3">
            <a:extLst>
              <a:ext uri="{28A0092B-C50C-407E-A947-70E740481C1C}">
                <a14:useLocalDpi xmlns:a14="http://schemas.microsoft.com/office/drawing/2010/main" val="0"/>
              </a:ext>
            </a:extLst>
          </a:blip>
          <a:srcRect l="16138" t="32212" r="24800" b="2566"/>
          <a:stretch/>
        </p:blipFill>
        <p:spPr>
          <a:xfrm>
            <a:off x="1763688" y="1491630"/>
            <a:ext cx="5400600" cy="3168353"/>
          </a:xfrm>
          <a:prstGeom prst="rect">
            <a:avLst/>
          </a:prstGeom>
        </p:spPr>
      </p:pic>
      <p:pic>
        <p:nvPicPr>
          <p:cNvPr id="6" name="Image 5">
            <a:extLst>
              <a:ext uri="{FF2B5EF4-FFF2-40B4-BE49-F238E27FC236}">
                <a16:creationId xmlns:a16="http://schemas.microsoft.com/office/drawing/2014/main" id="{A8B02F2B-A52B-471A-985D-968B07EE1A6F}"/>
              </a:ext>
            </a:extLst>
          </p:cNvPr>
          <p:cNvPicPr>
            <a:picLocks noChangeAspect="1"/>
          </p:cNvPicPr>
          <p:nvPr/>
        </p:nvPicPr>
        <p:blipFill rotWithShape="1">
          <a:blip r:embed="rId4">
            <a:extLst>
              <a:ext uri="{28A0092B-C50C-407E-A947-70E740481C1C}">
                <a14:useLocalDpi xmlns:a14="http://schemas.microsoft.com/office/drawing/2010/main" val="0"/>
              </a:ext>
            </a:extLst>
          </a:blip>
          <a:srcRect l="6688" t="36659" r="24013" b="15907"/>
          <a:stretch/>
        </p:blipFill>
        <p:spPr>
          <a:xfrm>
            <a:off x="321256" y="1635646"/>
            <a:ext cx="8285463" cy="3012897"/>
          </a:xfrm>
          <a:prstGeom prst="rect">
            <a:avLst/>
          </a:prstGeom>
        </p:spPr>
      </p:pic>
      <p:pic>
        <p:nvPicPr>
          <p:cNvPr id="7" name="Image 6">
            <a:extLst>
              <a:ext uri="{FF2B5EF4-FFF2-40B4-BE49-F238E27FC236}">
                <a16:creationId xmlns:a16="http://schemas.microsoft.com/office/drawing/2014/main" id="{5C4544A5-1541-49B8-8F58-364703B8CEE1}"/>
              </a:ext>
            </a:extLst>
          </p:cNvPr>
          <p:cNvPicPr>
            <a:picLocks noChangeAspect="1"/>
          </p:cNvPicPr>
          <p:nvPr/>
        </p:nvPicPr>
        <p:blipFill rotWithShape="1">
          <a:blip r:embed="rId5">
            <a:extLst>
              <a:ext uri="{28A0092B-C50C-407E-A947-70E740481C1C}">
                <a14:useLocalDpi xmlns:a14="http://schemas.microsoft.com/office/drawing/2010/main" val="0"/>
              </a:ext>
            </a:extLst>
          </a:blip>
          <a:srcRect l="17713" t="30730" r="24013" b="4048"/>
          <a:stretch/>
        </p:blipFill>
        <p:spPr>
          <a:xfrm>
            <a:off x="1617952" y="1556214"/>
            <a:ext cx="5690351" cy="3383453"/>
          </a:xfrm>
          <a:prstGeom prst="rect">
            <a:avLst/>
          </a:prstGeom>
        </p:spPr>
      </p:pic>
    </p:spTree>
    <p:extLst>
      <p:ext uri="{BB962C8B-B14F-4D97-AF65-F5344CB8AC3E}">
        <p14:creationId xmlns:p14="http://schemas.microsoft.com/office/powerpoint/2010/main" val="18222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A977FDE-C946-460E-BD1F-CDE36C8C0BCC}"/>
              </a:ext>
            </a:extLst>
          </p:cNvPr>
          <p:cNvSpPr txBox="1"/>
          <p:nvPr/>
        </p:nvSpPr>
        <p:spPr>
          <a:xfrm>
            <a:off x="161764" y="414912"/>
            <a:ext cx="8820472" cy="1015663"/>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b - Average Daily Traffic vs. Total Weekly Traffic</a:t>
            </a:r>
          </a:p>
          <a:p>
            <a:r>
              <a:rPr lang="en-US" dirty="0">
                <a:latin typeface="Times New Roman" panose="02020603050405020304" pitchFamily="18" charset="0"/>
                <a:cs typeface="Times New Roman" panose="02020603050405020304" pitchFamily="18" charset="0"/>
              </a:rPr>
              <a:t>We compare the average daily values from `Average Entries per Day ` and `Average Exits per Day `Against `Total Weekly traffic`</a:t>
            </a:r>
            <a:endParaRPr lang="en-GB"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C3D1E22E-D481-4390-8222-A9AA16047419}"/>
              </a:ext>
            </a:extLst>
          </p:cNvPr>
          <p:cNvPicPr>
            <a:picLocks noChangeAspect="1"/>
          </p:cNvPicPr>
          <p:nvPr/>
        </p:nvPicPr>
        <p:blipFill rotWithShape="1">
          <a:blip r:embed="rId3">
            <a:extLst>
              <a:ext uri="{28A0092B-C50C-407E-A947-70E740481C1C}">
                <a14:useLocalDpi xmlns:a14="http://schemas.microsoft.com/office/drawing/2010/main" val="0"/>
              </a:ext>
            </a:extLst>
          </a:blip>
          <a:srcRect l="8761" t="35577" r="18101" b="683"/>
          <a:stretch/>
        </p:blipFill>
        <p:spPr>
          <a:xfrm>
            <a:off x="467544" y="1478856"/>
            <a:ext cx="7667382" cy="3549940"/>
          </a:xfrm>
          <a:prstGeom prst="rect">
            <a:avLst/>
          </a:prstGeom>
        </p:spPr>
      </p:pic>
      <p:pic>
        <p:nvPicPr>
          <p:cNvPr id="5" name="Image 4">
            <a:extLst>
              <a:ext uri="{FF2B5EF4-FFF2-40B4-BE49-F238E27FC236}">
                <a16:creationId xmlns:a16="http://schemas.microsoft.com/office/drawing/2014/main" id="{5692CD2D-73C9-43D4-9D92-C17E566F53D1}"/>
              </a:ext>
            </a:extLst>
          </p:cNvPr>
          <p:cNvPicPr>
            <a:picLocks noChangeAspect="1"/>
          </p:cNvPicPr>
          <p:nvPr/>
        </p:nvPicPr>
        <p:blipFill rotWithShape="1">
          <a:blip r:embed="rId4">
            <a:extLst>
              <a:ext uri="{28A0092B-C50C-407E-A947-70E740481C1C}">
                <a14:useLocalDpi xmlns:a14="http://schemas.microsoft.com/office/drawing/2010/main" val="0"/>
              </a:ext>
            </a:extLst>
          </a:blip>
          <a:srcRect l="16926" t="33695" r="24013" b="-400"/>
          <a:stretch/>
        </p:blipFill>
        <p:spPr>
          <a:xfrm>
            <a:off x="1342952" y="1449585"/>
            <a:ext cx="5965352" cy="3579212"/>
          </a:xfrm>
          <a:prstGeom prst="rect">
            <a:avLst/>
          </a:prstGeom>
        </p:spPr>
      </p:pic>
    </p:spTree>
    <p:extLst>
      <p:ext uri="{BB962C8B-B14F-4D97-AF65-F5344CB8AC3E}">
        <p14:creationId xmlns:p14="http://schemas.microsoft.com/office/powerpoint/2010/main" val="92905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7AE34D6-E55E-4CAC-AE78-A3F29AB2C60E}"/>
              </a:ext>
            </a:extLst>
          </p:cNvPr>
          <p:cNvSpPr txBox="1"/>
          <p:nvPr/>
        </p:nvSpPr>
        <p:spPr>
          <a:xfrm>
            <a:off x="323528" y="483518"/>
            <a:ext cx="7344816"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2 - Analysis of Seasonal and Peak Times: Identifying Exceptional Days</a:t>
            </a:r>
          </a:p>
          <a:p>
            <a:r>
              <a:rPr lang="en-US" dirty="0">
                <a:latin typeface="Times New Roman" panose="02020603050405020304" pitchFamily="18" charset="0"/>
                <a:cs typeface="Times New Roman" panose="02020603050405020304" pitchFamily="18" charset="0"/>
              </a:rPr>
              <a:t>We compare specific days (particularly Fridays versus weekends) to see if any days consistently show higher or lower traffic. Additionally, we explore the relationship between the standard deviation (`STDEV`) and overall traffic variability.</a:t>
            </a:r>
            <a:endParaRPr lang="en-GB"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A92C97A2-1617-41EE-93CE-73F099237AC1}"/>
              </a:ext>
            </a:extLst>
          </p:cNvPr>
          <p:cNvPicPr>
            <a:picLocks noChangeAspect="1"/>
          </p:cNvPicPr>
          <p:nvPr/>
        </p:nvPicPr>
        <p:blipFill rotWithShape="1">
          <a:blip r:embed="rId2">
            <a:extLst>
              <a:ext uri="{28A0092B-C50C-407E-A947-70E740481C1C}">
                <a14:useLocalDpi xmlns:a14="http://schemas.microsoft.com/office/drawing/2010/main" val="0"/>
              </a:ext>
            </a:extLst>
          </a:blip>
          <a:srcRect l="7476" t="46317" r="12988" b="7013"/>
          <a:stretch/>
        </p:blipFill>
        <p:spPr>
          <a:xfrm>
            <a:off x="352809" y="1986775"/>
            <a:ext cx="8438381" cy="2630423"/>
          </a:xfrm>
          <a:prstGeom prst="rect">
            <a:avLst/>
          </a:prstGeom>
        </p:spPr>
      </p:pic>
    </p:spTree>
    <p:extLst>
      <p:ext uri="{BB962C8B-B14F-4D97-AF65-F5344CB8AC3E}">
        <p14:creationId xmlns:p14="http://schemas.microsoft.com/office/powerpoint/2010/main" val="1843670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67813BE-CC6C-4EDE-917D-53DA2D3EF4FA}"/>
              </a:ext>
            </a:extLst>
          </p:cNvPr>
          <p:cNvPicPr>
            <a:picLocks noChangeAspect="1"/>
          </p:cNvPicPr>
          <p:nvPr/>
        </p:nvPicPr>
        <p:blipFill rotWithShape="1">
          <a:blip r:embed="rId2">
            <a:extLst>
              <a:ext uri="{28A0092B-C50C-407E-A947-70E740481C1C}">
                <a14:useLocalDpi xmlns:a14="http://schemas.microsoft.com/office/drawing/2010/main" val="0"/>
              </a:ext>
            </a:extLst>
          </a:blip>
          <a:srcRect l="17713" t="35177" r="27163" b="-399"/>
          <a:stretch/>
        </p:blipFill>
        <p:spPr>
          <a:xfrm>
            <a:off x="109895" y="855333"/>
            <a:ext cx="4462105" cy="2804752"/>
          </a:xfrm>
          <a:prstGeom prst="rect">
            <a:avLst/>
          </a:prstGeom>
        </p:spPr>
      </p:pic>
      <p:pic>
        <p:nvPicPr>
          <p:cNvPr id="4" name="Image 3">
            <a:extLst>
              <a:ext uri="{FF2B5EF4-FFF2-40B4-BE49-F238E27FC236}">
                <a16:creationId xmlns:a16="http://schemas.microsoft.com/office/drawing/2014/main" id="{33EFC5BF-6252-47FB-8D3B-169F9EFED4C6}"/>
              </a:ext>
            </a:extLst>
          </p:cNvPr>
          <p:cNvPicPr>
            <a:picLocks noChangeAspect="1"/>
          </p:cNvPicPr>
          <p:nvPr/>
        </p:nvPicPr>
        <p:blipFill rotWithShape="1">
          <a:blip r:embed="rId3">
            <a:extLst>
              <a:ext uri="{28A0092B-C50C-407E-A947-70E740481C1C}">
                <a14:useLocalDpi xmlns:a14="http://schemas.microsoft.com/office/drawing/2010/main" val="0"/>
              </a:ext>
            </a:extLst>
          </a:blip>
          <a:srcRect l="17713" t="35177" r="27163"/>
          <a:stretch/>
        </p:blipFill>
        <p:spPr>
          <a:xfrm>
            <a:off x="4654408" y="855333"/>
            <a:ext cx="4489592" cy="2804752"/>
          </a:xfrm>
          <a:prstGeom prst="rect">
            <a:avLst/>
          </a:prstGeom>
        </p:spPr>
      </p:pic>
    </p:spTree>
    <p:extLst>
      <p:ext uri="{BB962C8B-B14F-4D97-AF65-F5344CB8AC3E}">
        <p14:creationId xmlns:p14="http://schemas.microsoft.com/office/powerpoint/2010/main" val="1918313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4238625"/>
          <a:chOff x="914400" y="1028700"/>
          <a:chExt cx="8229600" cy="4238625"/>
        </a:xfrm>
      </p:grpSpPr>
      <p:sp>
        <p:nvSpPr>
          <p:cNvPr id="2" name="ZoneTexte 1"/>
          <p:cNvSpPr txBox="1"/>
          <p:nvPr/>
        </p:nvSpPr>
        <p:spPr>
          <a:xfrm>
            <a:off x="242156" y="411510"/>
            <a:ext cx="7315200" cy="584775"/>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3200" b="1" u="none" strike="noStrike" cap="none" spc="0" dirty="0">
                <a:solidFill>
                  <a:srgbClr val="121212">
                    <a:alpha val="100000"/>
                  </a:srgbClr>
                </a:solidFill>
                <a:latin typeface="Times New Roman"/>
              </a:rPr>
              <a:t>Advanced Data Analysis</a:t>
            </a:r>
          </a:p>
        </p:txBody>
      </p:sp>
      <p:graphicFrame>
        <p:nvGraphicFramePr>
          <p:cNvPr id="4" name="Diagramme 3">
            <a:extLst>
              <a:ext uri="{FF2B5EF4-FFF2-40B4-BE49-F238E27FC236}">
                <a16:creationId xmlns:a16="http://schemas.microsoft.com/office/drawing/2014/main" id="{719C07F2-573D-4E87-BEAD-8E2D792A4A77}"/>
              </a:ext>
            </a:extLst>
          </p:cNvPr>
          <p:cNvGraphicFramePr/>
          <p:nvPr>
            <p:extLst>
              <p:ext uri="{D42A27DB-BD31-4B8C-83A1-F6EECF244321}">
                <p14:modId xmlns:p14="http://schemas.microsoft.com/office/powerpoint/2010/main" val="391097099"/>
              </p:ext>
            </p:extLst>
          </p:nvPr>
        </p:nvGraphicFramePr>
        <p:xfrm>
          <a:off x="13390" y="948697"/>
          <a:ext cx="8807082"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565B75A-49E8-4BC7-90FC-38F139A036BC}"/>
              </a:ext>
            </a:extLst>
          </p:cNvPr>
          <p:cNvSpPr txBox="1"/>
          <p:nvPr/>
        </p:nvSpPr>
        <p:spPr>
          <a:xfrm>
            <a:off x="323528" y="483519"/>
            <a:ext cx="8712968" cy="2215991"/>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 - Inter-relationships and Correlations Analysis</a:t>
            </a:r>
          </a:p>
          <a:p>
            <a:endParaRPr lang="en-US" sz="24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Here, we explores:</a:t>
            </a:r>
          </a:p>
          <a:p>
            <a:pPr marL="342900" indent="-342900">
              <a:buAutoNum type="arabicPeriod"/>
            </a:pPr>
            <a:r>
              <a:rPr lang="en-US" dirty="0">
                <a:latin typeface="Times New Roman" panose="02020603050405020304" pitchFamily="18" charset="0"/>
                <a:cs typeface="Times New Roman" panose="02020603050405020304" pitchFamily="18" charset="0"/>
              </a:rPr>
              <a:t>The correlation between ‘Total Entries per Station’ and ‘Total Exits per Station’.</a:t>
            </a:r>
          </a:p>
          <a:p>
            <a:pPr marL="342900" indent="-342900">
              <a:buAutoNum type="arabicPeriod"/>
            </a:pPr>
            <a:r>
              <a:rPr lang="en-US" dirty="0">
                <a:latin typeface="Times New Roman" panose="02020603050405020304" pitchFamily="18" charset="0"/>
                <a:cs typeface="Times New Roman" panose="02020603050405020304" pitchFamily="18" charset="0"/>
              </a:rPr>
              <a:t>The relationship between ‘</a:t>
            </a:r>
            <a:r>
              <a:rPr lang="en-US" dirty="0" err="1">
                <a:latin typeface="Times New Roman" panose="02020603050405020304" pitchFamily="18" charset="0"/>
                <a:cs typeface="Times New Roman" panose="02020603050405020304" pitchFamily="18" charset="0"/>
              </a:rPr>
              <a:t>Annualised_En_Ex</a:t>
            </a:r>
            <a:r>
              <a:rPr lang="en-US" dirty="0">
                <a:latin typeface="Times New Roman" panose="02020603050405020304" pitchFamily="18" charset="0"/>
                <a:cs typeface="Times New Roman" panose="02020603050405020304" pitchFamily="18" charset="0"/>
              </a:rPr>
              <a:t>’ and daily/weekly traffic figures.</a:t>
            </a:r>
          </a:p>
          <a:p>
            <a:pPr marL="342900" indent="-342900">
              <a:buAutoNum type="arabicPeriod"/>
            </a:pPr>
            <a:r>
              <a:rPr lang="en-US" dirty="0">
                <a:latin typeface="Times New Roman" panose="02020603050405020304" pitchFamily="18" charset="0"/>
                <a:cs typeface="Times New Roman" panose="02020603050405020304" pitchFamily="18" charset="0"/>
              </a:rPr>
              <a:t>The association between the data source (‘Source’) and classification fields (‘NLC’, ‘ASC’) with traffic volumes.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1563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32644C69-4FF3-4276-85D4-77CCAE746FBA}"/>
              </a:ext>
            </a:extLst>
          </p:cNvPr>
          <p:cNvSpPr txBox="1"/>
          <p:nvPr/>
        </p:nvSpPr>
        <p:spPr>
          <a:xfrm>
            <a:off x="251520" y="483518"/>
            <a:ext cx="8640960" cy="1015663"/>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1 - Correlation between Total Entries and Total Exits per Station</a:t>
            </a:r>
          </a:p>
          <a:p>
            <a:r>
              <a:rPr lang="en-US" dirty="0">
                <a:latin typeface="Times New Roman" panose="02020603050405020304" pitchFamily="18" charset="0"/>
                <a:cs typeface="Times New Roman" panose="02020603050405020304" pitchFamily="18" charset="0"/>
              </a:rPr>
              <a:t>This section evaluates whether there is a strong correlation between the total entries and exits reported for each station.</a:t>
            </a:r>
            <a:endParaRPr lang="en-GB"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FCB90AC7-9F91-40A8-980E-57B9E971B5DD}"/>
              </a:ext>
            </a:extLst>
          </p:cNvPr>
          <p:cNvPicPr>
            <a:picLocks noChangeAspect="1"/>
          </p:cNvPicPr>
          <p:nvPr/>
        </p:nvPicPr>
        <p:blipFill rotWithShape="1">
          <a:blip r:embed="rId2">
            <a:extLst>
              <a:ext uri="{28A0092B-C50C-407E-A947-70E740481C1C}">
                <a14:useLocalDpi xmlns:a14="http://schemas.microsoft.com/office/drawing/2010/main" val="0"/>
              </a:ext>
            </a:extLst>
          </a:blip>
          <a:srcRect l="7476" t="35177" r="5113" b="7012"/>
          <a:stretch/>
        </p:blipFill>
        <p:spPr>
          <a:xfrm>
            <a:off x="35495" y="1499181"/>
            <a:ext cx="8996123" cy="3160801"/>
          </a:xfrm>
          <a:prstGeom prst="rect">
            <a:avLst/>
          </a:prstGeom>
        </p:spPr>
      </p:pic>
      <p:pic>
        <p:nvPicPr>
          <p:cNvPr id="5" name="Image 4">
            <a:extLst>
              <a:ext uri="{FF2B5EF4-FFF2-40B4-BE49-F238E27FC236}">
                <a16:creationId xmlns:a16="http://schemas.microsoft.com/office/drawing/2014/main" id="{162E0E38-7513-4FFC-B01C-BF8917F669DE}"/>
              </a:ext>
            </a:extLst>
          </p:cNvPr>
          <p:cNvPicPr>
            <a:picLocks noChangeAspect="1"/>
          </p:cNvPicPr>
          <p:nvPr/>
        </p:nvPicPr>
        <p:blipFill rotWithShape="1">
          <a:blip r:embed="rId3">
            <a:extLst>
              <a:ext uri="{28A0092B-C50C-407E-A947-70E740481C1C}">
                <a14:useLocalDpi xmlns:a14="http://schemas.microsoft.com/office/drawing/2010/main" val="0"/>
              </a:ext>
            </a:extLst>
          </a:blip>
          <a:srcRect l="9051" t="33694" r="41337" b="1083"/>
          <a:stretch/>
        </p:blipFill>
        <p:spPr>
          <a:xfrm>
            <a:off x="2157292" y="1495405"/>
            <a:ext cx="5006995" cy="3496950"/>
          </a:xfrm>
          <a:prstGeom prst="rect">
            <a:avLst/>
          </a:prstGeom>
        </p:spPr>
      </p:pic>
    </p:spTree>
    <p:extLst>
      <p:ext uri="{BB962C8B-B14F-4D97-AF65-F5344CB8AC3E}">
        <p14:creationId xmlns:p14="http://schemas.microsoft.com/office/powerpoint/2010/main" val="43483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3955BDE1-A914-4BB6-9026-4C8C173A4CB8}"/>
              </a:ext>
            </a:extLst>
          </p:cNvPr>
          <p:cNvSpPr txBox="1"/>
          <p:nvPr/>
        </p:nvSpPr>
        <p:spPr>
          <a:xfrm>
            <a:off x="179512" y="411510"/>
            <a:ext cx="8856984" cy="123110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2 - Correlation of </a:t>
            </a:r>
            <a:r>
              <a:rPr lang="en-US" sz="2000" dirty="0" err="1">
                <a:latin typeface="Times New Roman" panose="02020603050405020304" pitchFamily="18" charset="0"/>
                <a:cs typeface="Times New Roman" panose="02020603050405020304" pitchFamily="18" charset="0"/>
              </a:rPr>
              <a:t>Annualised_En_Ex</a:t>
            </a:r>
            <a:r>
              <a:rPr lang="en-US" sz="2000" dirty="0">
                <a:latin typeface="Times New Roman" panose="02020603050405020304" pitchFamily="18" charset="0"/>
                <a:cs typeface="Times New Roman" panose="02020603050405020304" pitchFamily="18" charset="0"/>
              </a:rPr>
              <a:t> with Daily and Weekly Traffic Figures</a:t>
            </a:r>
          </a:p>
          <a:p>
            <a:r>
              <a:rPr lang="en-US" dirty="0">
                <a:latin typeface="Times New Roman" panose="02020603050405020304" pitchFamily="18" charset="0"/>
                <a:cs typeface="Times New Roman" panose="02020603050405020304" pitchFamily="18" charset="0"/>
              </a:rPr>
              <a:t>This section examines how the ‘</a:t>
            </a:r>
            <a:r>
              <a:rPr lang="en-US" dirty="0" err="1">
                <a:latin typeface="Times New Roman" panose="02020603050405020304" pitchFamily="18" charset="0"/>
                <a:cs typeface="Times New Roman" panose="02020603050405020304" pitchFamily="18" charset="0"/>
              </a:rPr>
              <a:t>Annualised_En_Ex</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annualised</a:t>
            </a:r>
            <a:r>
              <a:rPr lang="en-US" dirty="0">
                <a:latin typeface="Times New Roman" panose="02020603050405020304" pitchFamily="18" charset="0"/>
                <a:cs typeface="Times New Roman" panose="02020603050405020304" pitchFamily="18" charset="0"/>
              </a:rPr>
              <a:t> entries and exits) column correlates with ‘Average daily traffic’ (using columns such as `Average Entries per Day ` and `Average Exits per Day `) and Total weekly traffic</a:t>
            </a:r>
            <a:endParaRPr lang="en-GB"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49BE6756-97BC-42C6-9F1F-5FB36B08B881}"/>
              </a:ext>
            </a:extLst>
          </p:cNvPr>
          <p:cNvPicPr>
            <a:picLocks noChangeAspect="1"/>
          </p:cNvPicPr>
          <p:nvPr/>
        </p:nvPicPr>
        <p:blipFill rotWithShape="1">
          <a:blip r:embed="rId2">
            <a:extLst>
              <a:ext uri="{28A0092B-C50C-407E-A947-70E740481C1C}">
                <a14:useLocalDpi xmlns:a14="http://schemas.microsoft.com/office/drawing/2010/main" val="0"/>
              </a:ext>
            </a:extLst>
          </a:blip>
          <a:srcRect l="9000" t="32524" r="12987" b="1083"/>
          <a:stretch/>
        </p:blipFill>
        <p:spPr>
          <a:xfrm>
            <a:off x="395536" y="1633826"/>
            <a:ext cx="7560840" cy="3418497"/>
          </a:xfrm>
          <a:prstGeom prst="rect">
            <a:avLst/>
          </a:prstGeom>
        </p:spPr>
      </p:pic>
      <p:pic>
        <p:nvPicPr>
          <p:cNvPr id="5" name="Image 4">
            <a:extLst>
              <a:ext uri="{FF2B5EF4-FFF2-40B4-BE49-F238E27FC236}">
                <a16:creationId xmlns:a16="http://schemas.microsoft.com/office/drawing/2014/main" id="{CD067510-AB23-4D21-95F5-9885EF55ADE9}"/>
              </a:ext>
            </a:extLst>
          </p:cNvPr>
          <p:cNvPicPr>
            <a:picLocks noChangeAspect="1"/>
          </p:cNvPicPr>
          <p:nvPr/>
        </p:nvPicPr>
        <p:blipFill rotWithShape="1">
          <a:blip r:embed="rId3">
            <a:extLst>
              <a:ext uri="{28A0092B-C50C-407E-A947-70E740481C1C}">
                <a14:useLocalDpi xmlns:a14="http://schemas.microsoft.com/office/drawing/2010/main" val="0"/>
              </a:ext>
            </a:extLst>
          </a:blip>
          <a:srcRect l="9838" t="33694" r="40550" b="-399"/>
          <a:stretch/>
        </p:blipFill>
        <p:spPr>
          <a:xfrm>
            <a:off x="2123728" y="1642616"/>
            <a:ext cx="4824536" cy="3446098"/>
          </a:xfrm>
          <a:prstGeom prst="rect">
            <a:avLst/>
          </a:prstGeom>
        </p:spPr>
      </p:pic>
    </p:spTree>
    <p:extLst>
      <p:ext uri="{BB962C8B-B14F-4D97-AF65-F5344CB8AC3E}">
        <p14:creationId xmlns:p14="http://schemas.microsoft.com/office/powerpoint/2010/main" val="401509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5F8DA8D-4CC5-444F-A92E-E945C170DE09}"/>
              </a:ext>
            </a:extLst>
          </p:cNvPr>
          <p:cNvSpPr txBox="1"/>
          <p:nvPr/>
        </p:nvSpPr>
        <p:spPr>
          <a:xfrm>
            <a:off x="251520" y="483518"/>
            <a:ext cx="8712968" cy="67710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3 - Relationship between Data Source/Classifications and Traffic Volumes</a:t>
            </a:r>
          </a:p>
          <a:p>
            <a:r>
              <a:rPr lang="en-US" dirty="0">
                <a:latin typeface="Times New Roman" panose="02020603050405020304" pitchFamily="18" charset="0"/>
                <a:cs typeface="Times New Roman" panose="02020603050405020304" pitchFamily="18" charset="0"/>
              </a:rPr>
              <a:t>Here, we investigate if the ‘Source’ fields have any impact on traffic volumes..</a:t>
            </a:r>
            <a:endParaRPr lang="en-GB"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F641A5DC-BD43-49E1-9A4F-16FE575017E1}"/>
              </a:ext>
            </a:extLst>
          </p:cNvPr>
          <p:cNvPicPr>
            <a:picLocks noChangeAspect="1"/>
          </p:cNvPicPr>
          <p:nvPr/>
        </p:nvPicPr>
        <p:blipFill rotWithShape="1">
          <a:blip r:embed="rId3">
            <a:extLst>
              <a:ext uri="{28A0092B-C50C-407E-A947-70E740481C1C}">
                <a14:useLocalDpi xmlns:a14="http://schemas.microsoft.com/office/drawing/2010/main" val="0"/>
              </a:ext>
            </a:extLst>
          </a:blip>
          <a:srcRect l="6688" t="35178" r="24013" b="-400"/>
          <a:stretch/>
        </p:blipFill>
        <p:spPr>
          <a:xfrm>
            <a:off x="683568" y="1140087"/>
            <a:ext cx="8006824" cy="4003413"/>
          </a:xfrm>
          <a:prstGeom prst="rect">
            <a:avLst/>
          </a:prstGeom>
        </p:spPr>
      </p:pic>
      <p:pic>
        <p:nvPicPr>
          <p:cNvPr id="5" name="Image 4">
            <a:extLst>
              <a:ext uri="{FF2B5EF4-FFF2-40B4-BE49-F238E27FC236}">
                <a16:creationId xmlns:a16="http://schemas.microsoft.com/office/drawing/2014/main" id="{8BC629B3-3152-4377-8137-7783E7E37DEC}"/>
              </a:ext>
            </a:extLst>
          </p:cNvPr>
          <p:cNvPicPr>
            <a:picLocks noChangeAspect="1"/>
          </p:cNvPicPr>
          <p:nvPr/>
        </p:nvPicPr>
        <p:blipFill rotWithShape="1">
          <a:blip r:embed="rId4">
            <a:extLst>
              <a:ext uri="{28A0092B-C50C-407E-A947-70E740481C1C}">
                <a14:useLocalDpi xmlns:a14="http://schemas.microsoft.com/office/drawing/2010/main" val="0"/>
              </a:ext>
            </a:extLst>
          </a:blip>
          <a:srcRect l="13775" t="30730" r="37400" b="1083"/>
          <a:stretch/>
        </p:blipFill>
        <p:spPr>
          <a:xfrm>
            <a:off x="1777618" y="1160626"/>
            <a:ext cx="5170646" cy="3836287"/>
          </a:xfrm>
          <a:prstGeom prst="rect">
            <a:avLst/>
          </a:prstGeom>
        </p:spPr>
      </p:pic>
    </p:spTree>
    <p:extLst>
      <p:ext uri="{BB962C8B-B14F-4D97-AF65-F5344CB8AC3E}">
        <p14:creationId xmlns:p14="http://schemas.microsoft.com/office/powerpoint/2010/main" val="222533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8BEA9880-3756-4357-8BC5-C55E4DF1EDFE}"/>
              </a:ext>
            </a:extLst>
          </p:cNvPr>
          <p:cNvSpPr txBox="1"/>
          <p:nvPr/>
        </p:nvSpPr>
        <p:spPr>
          <a:xfrm>
            <a:off x="251520" y="555526"/>
            <a:ext cx="8784976" cy="304698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B - Contextual and Operational Analysis</a:t>
            </a:r>
          </a:p>
          <a:p>
            <a:endParaRPr lang="en-US" sz="24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section explores:</a:t>
            </a:r>
          </a:p>
          <a:p>
            <a:pPr marL="285750" indent="-285750">
              <a:buFontTx/>
              <a:buChar char="-"/>
            </a:pPr>
            <a:r>
              <a:rPr lang="en-US" dirty="0">
                <a:latin typeface="Times New Roman" panose="02020603050405020304" pitchFamily="18" charset="0"/>
                <a:cs typeface="Times New Roman" panose="02020603050405020304" pitchFamily="18" charset="0"/>
              </a:rPr>
              <a:t>Operational Impact: How variations in transport mode usage and the distribution of entries/exits (across days or during special events) can help inform service planning and capacity allocation.</a:t>
            </a:r>
          </a:p>
          <a:p>
            <a:pPr marL="285750" indent="-285750">
              <a:buFontTx/>
              <a:buChar char="-"/>
            </a:pPr>
            <a:r>
              <a:rPr lang="en-US" dirty="0">
                <a:latin typeface="Times New Roman" panose="02020603050405020304" pitchFamily="18" charset="0"/>
                <a:cs typeface="Times New Roman" panose="02020603050405020304" pitchFamily="18" charset="0"/>
              </a:rPr>
              <a:t>Data Source Reliability: Investigating differences in reporting or data quality across different sources and coverage areas, and assessing if the observed traffic values match expected patterns. Each code section aggregates relevant data, creates </a:t>
            </a:r>
            <a:r>
              <a:rPr lang="en-US" dirty="0" err="1">
                <a:latin typeface="Times New Roman" panose="02020603050405020304" pitchFamily="18" charset="0"/>
                <a:cs typeface="Times New Roman" panose="02020603050405020304" pitchFamily="18" charset="0"/>
              </a:rPr>
              <a:t>visualisations</a:t>
            </a:r>
            <a:r>
              <a:rPr lang="en-US" dirty="0">
                <a:latin typeface="Times New Roman" panose="02020603050405020304" pitchFamily="18" charset="0"/>
                <a:cs typeface="Times New Roman" panose="02020603050405020304" pitchFamily="18" charset="0"/>
              </a:rPr>
              <a:t>, and prints statistical summaries to support actionable insights.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511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8170239B-628B-4925-B15D-C1307C11CB4A}"/>
              </a:ext>
            </a:extLst>
          </p:cNvPr>
          <p:cNvSpPr txBox="1"/>
          <p:nvPr/>
        </p:nvSpPr>
        <p:spPr>
          <a:xfrm>
            <a:off x="179512" y="411510"/>
            <a:ext cx="8856984" cy="110799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1 - Operational Impact Analysis</a:t>
            </a:r>
          </a:p>
          <a:p>
            <a:r>
              <a:rPr lang="fr-FR" sz="2400" dirty="0">
                <a:latin typeface="Times New Roman" panose="02020603050405020304" pitchFamily="18" charset="0"/>
                <a:cs typeface="Times New Roman" panose="02020603050405020304" pitchFamily="18" charset="0"/>
              </a:rPr>
              <a:t>a - Variations in Transport Mode Usage</a:t>
            </a:r>
            <a:endParaRPr lang="en-US" sz="24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We explore how different transport modes compare in terms of total passenger traffic</a:t>
            </a:r>
            <a:endParaRPr lang="en-GB"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324AF8A3-70E5-4CAA-885E-203F055E512F}"/>
              </a:ext>
            </a:extLst>
          </p:cNvPr>
          <p:cNvPicPr>
            <a:picLocks noChangeAspect="1"/>
          </p:cNvPicPr>
          <p:nvPr/>
        </p:nvPicPr>
        <p:blipFill rotWithShape="1">
          <a:blip r:embed="rId3">
            <a:extLst>
              <a:ext uri="{28A0092B-C50C-407E-A947-70E740481C1C}">
                <a14:useLocalDpi xmlns:a14="http://schemas.microsoft.com/office/drawing/2010/main" val="0"/>
              </a:ext>
            </a:extLst>
          </a:blip>
          <a:srcRect l="9051" t="32211" r="20075" b="-1881"/>
          <a:stretch/>
        </p:blipFill>
        <p:spPr>
          <a:xfrm>
            <a:off x="1139746" y="1431250"/>
            <a:ext cx="6936515" cy="3622403"/>
          </a:xfrm>
          <a:prstGeom prst="rect">
            <a:avLst/>
          </a:prstGeom>
        </p:spPr>
      </p:pic>
      <p:pic>
        <p:nvPicPr>
          <p:cNvPr id="5" name="Image 4">
            <a:extLst>
              <a:ext uri="{FF2B5EF4-FFF2-40B4-BE49-F238E27FC236}">
                <a16:creationId xmlns:a16="http://schemas.microsoft.com/office/drawing/2014/main" id="{BB5829D8-0BCC-4027-B9D9-32EE18CD94B5}"/>
              </a:ext>
            </a:extLst>
          </p:cNvPr>
          <p:cNvPicPr>
            <a:picLocks noChangeAspect="1"/>
          </p:cNvPicPr>
          <p:nvPr/>
        </p:nvPicPr>
        <p:blipFill rotWithShape="1">
          <a:blip r:embed="rId4">
            <a:extLst>
              <a:ext uri="{28A0092B-C50C-407E-A947-70E740481C1C}">
                <a14:useLocalDpi xmlns:a14="http://schemas.microsoft.com/office/drawing/2010/main" val="0"/>
              </a:ext>
            </a:extLst>
          </a:blip>
          <a:srcRect l="12988" t="36659" r="41338" b="1083"/>
          <a:stretch/>
        </p:blipFill>
        <p:spPr>
          <a:xfrm>
            <a:off x="2267744" y="1481807"/>
            <a:ext cx="4932548" cy="3571846"/>
          </a:xfrm>
          <a:prstGeom prst="rect">
            <a:avLst/>
          </a:prstGeom>
        </p:spPr>
      </p:pic>
    </p:spTree>
    <p:extLst>
      <p:ext uri="{BB962C8B-B14F-4D97-AF65-F5344CB8AC3E}">
        <p14:creationId xmlns:p14="http://schemas.microsoft.com/office/powerpoint/2010/main" val="50425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5408846-23CD-42DE-8909-1466B76BC58E}"/>
              </a:ext>
            </a:extLst>
          </p:cNvPr>
          <p:cNvSpPr txBox="1"/>
          <p:nvPr/>
        </p:nvSpPr>
        <p:spPr>
          <a:xfrm>
            <a:off x="323528" y="411510"/>
            <a:ext cx="7776864" cy="1015663"/>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b  - Distribution of Entries and Exits Across Days</a:t>
            </a:r>
          </a:p>
          <a:p>
            <a:r>
              <a:rPr lang="en-US" dirty="0">
                <a:latin typeface="Times New Roman" panose="02020603050405020304" pitchFamily="18" charset="0"/>
                <a:cs typeface="Times New Roman" panose="02020603050405020304" pitchFamily="18" charset="0"/>
              </a:rPr>
              <a:t>Here we compare the variability of passenger entries and exits between weekdays, Fridays, Saturdays, and Sundays.  </a:t>
            </a:r>
            <a:endParaRPr lang="en-GB"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28D7DDDB-3F51-418F-A7BC-579808847CF9}"/>
              </a:ext>
            </a:extLst>
          </p:cNvPr>
          <p:cNvPicPr>
            <a:picLocks noChangeAspect="1"/>
          </p:cNvPicPr>
          <p:nvPr/>
        </p:nvPicPr>
        <p:blipFill rotWithShape="1">
          <a:blip r:embed="rId3">
            <a:extLst>
              <a:ext uri="{28A0092B-C50C-407E-A947-70E740481C1C}">
                <a14:useLocalDpi xmlns:a14="http://schemas.microsoft.com/office/drawing/2010/main" val="0"/>
              </a:ext>
            </a:extLst>
          </a:blip>
          <a:srcRect l="6688" t="51482" r="14563" b="5530"/>
          <a:stretch/>
        </p:blipFill>
        <p:spPr>
          <a:xfrm>
            <a:off x="226691" y="1779662"/>
            <a:ext cx="8690617" cy="2520280"/>
          </a:xfrm>
          <a:prstGeom prst="rect">
            <a:avLst/>
          </a:prstGeom>
        </p:spPr>
      </p:pic>
      <p:pic>
        <p:nvPicPr>
          <p:cNvPr id="7" name="Image 6">
            <a:extLst>
              <a:ext uri="{FF2B5EF4-FFF2-40B4-BE49-F238E27FC236}">
                <a16:creationId xmlns:a16="http://schemas.microsoft.com/office/drawing/2014/main" id="{D2796C36-4B06-4F5E-92CC-F451D66369FC}"/>
              </a:ext>
            </a:extLst>
          </p:cNvPr>
          <p:cNvPicPr>
            <a:picLocks noChangeAspect="1"/>
          </p:cNvPicPr>
          <p:nvPr/>
        </p:nvPicPr>
        <p:blipFill rotWithShape="1">
          <a:blip r:embed="rId4">
            <a:extLst>
              <a:ext uri="{28A0092B-C50C-407E-A947-70E740481C1C}">
                <a14:useLocalDpi xmlns:a14="http://schemas.microsoft.com/office/drawing/2010/main" val="0"/>
              </a:ext>
            </a:extLst>
          </a:blip>
          <a:srcRect l="6687" t="51483" r="14563" b="7012"/>
          <a:stretch/>
        </p:blipFill>
        <p:spPr>
          <a:xfrm>
            <a:off x="71499" y="1756330"/>
            <a:ext cx="9001000" cy="2520280"/>
          </a:xfrm>
          <a:prstGeom prst="rect">
            <a:avLst/>
          </a:prstGeom>
        </p:spPr>
      </p:pic>
      <p:pic>
        <p:nvPicPr>
          <p:cNvPr id="8" name="Image 7">
            <a:extLst>
              <a:ext uri="{FF2B5EF4-FFF2-40B4-BE49-F238E27FC236}">
                <a16:creationId xmlns:a16="http://schemas.microsoft.com/office/drawing/2014/main" id="{C70837D6-B549-424A-95CB-11A48431A757}"/>
              </a:ext>
            </a:extLst>
          </p:cNvPr>
          <p:cNvPicPr>
            <a:picLocks noChangeAspect="1"/>
          </p:cNvPicPr>
          <p:nvPr/>
        </p:nvPicPr>
        <p:blipFill rotWithShape="1">
          <a:blip r:embed="rId5">
            <a:extLst>
              <a:ext uri="{28A0092B-C50C-407E-A947-70E740481C1C}">
                <a14:useLocalDpi xmlns:a14="http://schemas.microsoft.com/office/drawing/2010/main" val="0"/>
              </a:ext>
            </a:extLst>
          </a:blip>
          <a:srcRect l="12201" t="30730" r="8264" b="1083"/>
          <a:stretch/>
        </p:blipFill>
        <p:spPr>
          <a:xfrm>
            <a:off x="827584" y="1563638"/>
            <a:ext cx="7272808" cy="3312369"/>
          </a:xfrm>
          <a:prstGeom prst="rect">
            <a:avLst/>
          </a:prstGeom>
        </p:spPr>
      </p:pic>
    </p:spTree>
    <p:extLst>
      <p:ext uri="{BB962C8B-B14F-4D97-AF65-F5344CB8AC3E}">
        <p14:creationId xmlns:p14="http://schemas.microsoft.com/office/powerpoint/2010/main" val="172603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F6872DA-A812-478F-BB94-1451C2C5C4C9}"/>
              </a:ext>
            </a:extLst>
          </p:cNvPr>
          <p:cNvSpPr txBox="1"/>
          <p:nvPr/>
        </p:nvSpPr>
        <p:spPr>
          <a:xfrm>
            <a:off x="251520" y="411510"/>
            <a:ext cx="8712968" cy="1015663"/>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2 - Station coverage Reliability</a:t>
            </a:r>
          </a:p>
          <a:p>
            <a:r>
              <a:rPr lang="en-US" dirty="0">
                <a:latin typeface="Times New Roman" panose="02020603050405020304" pitchFamily="18" charset="0"/>
                <a:cs typeface="Times New Roman" panose="02020603050405020304" pitchFamily="18" charset="0"/>
              </a:rPr>
              <a:t>In this section, we examine variations in reporting and data quality  Grouping by station coverage.</a:t>
            </a:r>
            <a:endParaRPr lang="en-GB" dirty="0">
              <a:latin typeface="Times New Roman" panose="02020603050405020304" pitchFamily="18" charset="0"/>
              <a:cs typeface="Times New Roman" panose="02020603050405020304" pitchFamily="18" charset="0"/>
            </a:endParaRPr>
          </a:p>
        </p:txBody>
      </p:sp>
      <p:pic>
        <p:nvPicPr>
          <p:cNvPr id="6" name="Image 5">
            <a:extLst>
              <a:ext uri="{FF2B5EF4-FFF2-40B4-BE49-F238E27FC236}">
                <a16:creationId xmlns:a16="http://schemas.microsoft.com/office/drawing/2014/main" id="{A7F47679-2235-4668-91DE-CC4D1D6E5E98}"/>
              </a:ext>
            </a:extLst>
          </p:cNvPr>
          <p:cNvPicPr>
            <a:picLocks noChangeAspect="1"/>
          </p:cNvPicPr>
          <p:nvPr/>
        </p:nvPicPr>
        <p:blipFill rotWithShape="1">
          <a:blip r:embed="rId3">
            <a:extLst>
              <a:ext uri="{28A0092B-C50C-407E-A947-70E740481C1C}">
                <a14:useLocalDpi xmlns:a14="http://schemas.microsoft.com/office/drawing/2010/main" val="0"/>
              </a:ext>
            </a:extLst>
          </a:blip>
          <a:srcRect l="7476" t="39624" r="20862"/>
          <a:stretch/>
        </p:blipFill>
        <p:spPr>
          <a:xfrm>
            <a:off x="693666" y="1491630"/>
            <a:ext cx="7756667" cy="3471801"/>
          </a:xfrm>
          <a:prstGeom prst="rect">
            <a:avLst/>
          </a:prstGeom>
        </p:spPr>
      </p:pic>
      <p:pic>
        <p:nvPicPr>
          <p:cNvPr id="7" name="Image 6">
            <a:extLst>
              <a:ext uri="{FF2B5EF4-FFF2-40B4-BE49-F238E27FC236}">
                <a16:creationId xmlns:a16="http://schemas.microsoft.com/office/drawing/2014/main" id="{21D6DF1A-2077-4168-A6D3-DD794C08368F}"/>
              </a:ext>
            </a:extLst>
          </p:cNvPr>
          <p:cNvPicPr>
            <a:picLocks noChangeAspect="1"/>
          </p:cNvPicPr>
          <p:nvPr/>
        </p:nvPicPr>
        <p:blipFill rotWithShape="1">
          <a:blip r:embed="rId4">
            <a:extLst>
              <a:ext uri="{28A0092B-C50C-407E-A947-70E740481C1C}">
                <a14:useLocalDpi xmlns:a14="http://schemas.microsoft.com/office/drawing/2010/main" val="0"/>
              </a:ext>
            </a:extLst>
          </a:blip>
          <a:srcRect l="12201" t="30730" r="40550" b="-399"/>
          <a:stretch/>
        </p:blipFill>
        <p:spPr>
          <a:xfrm>
            <a:off x="2267744" y="1491630"/>
            <a:ext cx="4608512" cy="3610002"/>
          </a:xfrm>
          <a:prstGeom prst="rect">
            <a:avLst/>
          </a:prstGeom>
        </p:spPr>
      </p:pic>
    </p:spTree>
    <p:extLst>
      <p:ext uri="{BB962C8B-B14F-4D97-AF65-F5344CB8AC3E}">
        <p14:creationId xmlns:p14="http://schemas.microsoft.com/office/powerpoint/2010/main" val="4175524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EB7AD-4E2D-8BF0-6A95-441FD21058BD}"/>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BE47A502-00AE-4E6C-E383-2B80E60C5B38}"/>
              </a:ext>
            </a:extLst>
          </p:cNvPr>
          <p:cNvSpPr txBox="1"/>
          <p:nvPr/>
        </p:nvSpPr>
        <p:spPr>
          <a:xfrm>
            <a:off x="3491880" y="2310140"/>
            <a:ext cx="2160240" cy="523220"/>
          </a:xfrm>
          <a:prstGeom prst="rect">
            <a:avLst/>
          </a:prstGeom>
          <a:noFill/>
        </p:spPr>
        <p:txBody>
          <a:bodyPr wrap="square">
            <a:spAutoFit/>
          </a:bodyPr>
          <a:lstStyle/>
          <a:p>
            <a:r>
              <a:rPr lang="fr-CM" sz="2800" b="1" dirty="0">
                <a:latin typeface="Times New Roman" panose="02020603050405020304" pitchFamily="18" charset="0"/>
                <a:cs typeface="Times New Roman" panose="02020603050405020304" pitchFamily="18" charset="0"/>
              </a:rPr>
              <a:t>Dashboard</a:t>
            </a:r>
            <a:endParaRPr lang="fr-CM"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65367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D19CF-327F-82A3-79C6-C2A351D995B9}"/>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756A58F1-C7A1-4DE5-0532-6DFC8ED5221E}"/>
              </a:ext>
            </a:extLst>
          </p:cNvPr>
          <p:cNvSpPr txBox="1"/>
          <p:nvPr/>
        </p:nvSpPr>
        <p:spPr>
          <a:xfrm>
            <a:off x="323528" y="699542"/>
            <a:ext cx="4572000" cy="523220"/>
          </a:xfrm>
          <a:prstGeom prst="rect">
            <a:avLst/>
          </a:prstGeom>
          <a:noFill/>
        </p:spPr>
        <p:txBody>
          <a:bodyPr wrap="square">
            <a:spAutoFit/>
          </a:bodyPr>
          <a:lstStyle/>
          <a:p>
            <a:r>
              <a:rPr lang="fr-CM" sz="2800" b="1" dirty="0">
                <a:latin typeface="Times New Roman" panose="02020603050405020304" pitchFamily="18" charset="0"/>
                <a:cs typeface="Times New Roman" panose="02020603050405020304" pitchFamily="18" charset="0"/>
              </a:rPr>
              <a:t>Dashboard</a:t>
            </a:r>
            <a:endParaRPr lang="fr-CM" sz="2800" dirty="0">
              <a:latin typeface="Times New Roman" panose="02020603050405020304" pitchFamily="18" charset="0"/>
              <a:cs typeface="Times New Roman" panose="02020603050405020304" pitchFamily="18" charset="0"/>
            </a:endParaRPr>
          </a:p>
        </p:txBody>
      </p:sp>
      <p:pic>
        <p:nvPicPr>
          <p:cNvPr id="9" name="Image 8">
            <a:extLst>
              <a:ext uri="{FF2B5EF4-FFF2-40B4-BE49-F238E27FC236}">
                <a16:creationId xmlns:a16="http://schemas.microsoft.com/office/drawing/2014/main" id="{C2FE8706-61B5-4408-BA11-864A7921D7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3837"/>
            <a:ext cx="9144000" cy="4695825"/>
          </a:xfrm>
          <a:prstGeom prst="rect">
            <a:avLst/>
          </a:prstGeom>
        </p:spPr>
      </p:pic>
    </p:spTree>
    <p:extLst>
      <p:ext uri="{BB962C8B-B14F-4D97-AF65-F5344CB8AC3E}">
        <p14:creationId xmlns:p14="http://schemas.microsoft.com/office/powerpoint/2010/main" val="1429538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F3ADF-06C2-56EC-E38F-FC28A14B4FED}"/>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9E1CFB15-7AAA-1178-364E-9EC92174188D}"/>
              </a:ext>
            </a:extLst>
          </p:cNvPr>
          <p:cNvSpPr txBox="1"/>
          <p:nvPr/>
        </p:nvSpPr>
        <p:spPr>
          <a:xfrm>
            <a:off x="323528" y="699542"/>
            <a:ext cx="4572000" cy="523220"/>
          </a:xfrm>
          <a:prstGeom prst="rect">
            <a:avLst/>
          </a:prstGeom>
          <a:noFill/>
        </p:spPr>
        <p:txBody>
          <a:bodyPr wrap="square">
            <a:spAutoFit/>
          </a:bodyPr>
          <a:lstStyle/>
          <a:p>
            <a:r>
              <a:rPr lang="fr-CM" sz="2800" b="1" dirty="0">
                <a:latin typeface="Times New Roman" panose="02020603050405020304" pitchFamily="18" charset="0"/>
                <a:cs typeface="Times New Roman" panose="02020603050405020304" pitchFamily="18" charset="0"/>
              </a:rPr>
              <a:t>Dashboard</a:t>
            </a:r>
            <a:endParaRPr lang="fr-CM" sz="2800" dirty="0">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33AA8385-8CBB-4820-AF7B-3F8D64F303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3837"/>
            <a:ext cx="9144000" cy="4695825"/>
          </a:xfrm>
          <a:prstGeom prst="rect">
            <a:avLst/>
          </a:prstGeom>
        </p:spPr>
      </p:pic>
    </p:spTree>
    <p:extLst>
      <p:ext uri="{BB962C8B-B14F-4D97-AF65-F5344CB8AC3E}">
        <p14:creationId xmlns:p14="http://schemas.microsoft.com/office/powerpoint/2010/main" val="33193785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F076E-3414-5F5E-E747-6AAD0E79B0E0}"/>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A97DEF9D-411F-81F1-3AE1-5817083073D8}"/>
              </a:ext>
            </a:extLst>
          </p:cNvPr>
          <p:cNvSpPr txBox="1"/>
          <p:nvPr/>
        </p:nvSpPr>
        <p:spPr>
          <a:xfrm>
            <a:off x="323528" y="699542"/>
            <a:ext cx="4572000" cy="523220"/>
          </a:xfrm>
          <a:prstGeom prst="rect">
            <a:avLst/>
          </a:prstGeom>
          <a:noFill/>
        </p:spPr>
        <p:txBody>
          <a:bodyPr wrap="square">
            <a:spAutoFit/>
          </a:bodyPr>
          <a:lstStyle/>
          <a:p>
            <a:r>
              <a:rPr lang="fr-CM" sz="2800" b="1" dirty="0">
                <a:latin typeface="Times New Roman" panose="02020603050405020304" pitchFamily="18" charset="0"/>
                <a:cs typeface="Times New Roman" panose="02020603050405020304" pitchFamily="18" charset="0"/>
              </a:rPr>
              <a:t>Dashboard</a:t>
            </a:r>
            <a:endParaRPr lang="fr-CM" sz="2800" dirty="0">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D22DBEBC-30ED-4A8D-A009-CEBE651501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5256"/>
            <a:ext cx="9144000" cy="4852988"/>
          </a:xfrm>
          <a:prstGeom prst="rect">
            <a:avLst/>
          </a:prstGeom>
        </p:spPr>
      </p:pic>
    </p:spTree>
    <p:extLst>
      <p:ext uri="{BB962C8B-B14F-4D97-AF65-F5344CB8AC3E}">
        <p14:creationId xmlns:p14="http://schemas.microsoft.com/office/powerpoint/2010/main" val="40647583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42B39DF-C37E-4EA7-9FF4-8A2E97C782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5256"/>
            <a:ext cx="9144000" cy="4852988"/>
          </a:xfrm>
          <a:prstGeom prst="rect">
            <a:avLst/>
          </a:prstGeom>
        </p:spPr>
      </p:pic>
    </p:spTree>
    <p:extLst>
      <p:ext uri="{BB962C8B-B14F-4D97-AF65-F5344CB8AC3E}">
        <p14:creationId xmlns:p14="http://schemas.microsoft.com/office/powerpoint/2010/main" val="31549402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F322D0EB-FD8E-C3EF-7C5C-6B79FDC0F0A2}"/>
              </a:ext>
            </a:extLst>
          </p:cNvPr>
          <p:cNvSpPr txBox="1"/>
          <p:nvPr/>
        </p:nvSpPr>
        <p:spPr>
          <a:xfrm>
            <a:off x="323528" y="699542"/>
            <a:ext cx="4572000" cy="523220"/>
          </a:xfrm>
          <a:prstGeom prst="rect">
            <a:avLst/>
          </a:prstGeom>
          <a:noFill/>
        </p:spPr>
        <p:txBody>
          <a:bodyPr wrap="square">
            <a:spAutoFit/>
          </a:bodyPr>
          <a:lstStyle/>
          <a:p>
            <a:r>
              <a:rPr lang="fr-CM" sz="2800" b="1" dirty="0">
                <a:latin typeface="Times New Roman" panose="02020603050405020304" pitchFamily="18" charset="0"/>
                <a:cs typeface="Times New Roman" panose="02020603050405020304" pitchFamily="18" charset="0"/>
              </a:rPr>
              <a:t>Strategic </a:t>
            </a:r>
            <a:r>
              <a:rPr lang="fr-CM" sz="2800" b="1" dirty="0" err="1">
                <a:latin typeface="Times New Roman" panose="02020603050405020304" pitchFamily="18" charset="0"/>
                <a:cs typeface="Times New Roman" panose="02020603050405020304" pitchFamily="18" charset="0"/>
              </a:rPr>
              <a:t>Recommendations</a:t>
            </a:r>
            <a:endParaRPr lang="fr-CM" sz="2800"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C3A84165-C07A-494D-7B14-8B5FADF802A1}"/>
              </a:ext>
            </a:extLst>
          </p:cNvPr>
          <p:cNvSpPr txBox="1"/>
          <p:nvPr/>
        </p:nvSpPr>
        <p:spPr>
          <a:xfrm>
            <a:off x="302394" y="1266106"/>
            <a:ext cx="8662094" cy="369331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Optimize Capacity at High-Traffic Stations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Action: Prioritize infrastructure enhancements at stations with consistently high passenger volumes, such as Oxford Circus, Waterloo, and King's Cross St. Pancras.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Rationale: These stations exhibit the highest total and daily entries and exits, indicating potential congestion and the need for capacity improvements.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Implement Dynamic Service Scheduling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Action: Adjust service frequencies based on daily and weekly traffic patterns, increasing services during peak times (e.g., Fridays) and reducing during lower demand periods (e.g., weekends)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Rationale: Traffic volumes are generally higher on weekdays, peaking on Fridays before declining over weekends. Aligning services with these patterns can improve efficiency and passenger satisfaction </a:t>
            </a:r>
          </a:p>
        </p:txBody>
      </p:sp>
    </p:spTree>
    <p:extLst>
      <p:ext uri="{BB962C8B-B14F-4D97-AF65-F5344CB8AC3E}">
        <p14:creationId xmlns:p14="http://schemas.microsoft.com/office/powerpoint/2010/main" val="2037100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1C5D-F786-5B5E-B8EB-E507737C25D6}"/>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10438FE2-7CC1-4EA8-505E-BFE16CE13F8D}"/>
              </a:ext>
            </a:extLst>
          </p:cNvPr>
          <p:cNvSpPr txBox="1"/>
          <p:nvPr/>
        </p:nvSpPr>
        <p:spPr>
          <a:xfrm>
            <a:off x="323528" y="699542"/>
            <a:ext cx="4572000" cy="523220"/>
          </a:xfrm>
          <a:prstGeom prst="rect">
            <a:avLst/>
          </a:prstGeom>
          <a:noFill/>
        </p:spPr>
        <p:txBody>
          <a:bodyPr wrap="square">
            <a:spAutoFit/>
          </a:bodyPr>
          <a:lstStyle/>
          <a:p>
            <a:r>
              <a:rPr lang="fr-CM" sz="2800" b="1" dirty="0">
                <a:latin typeface="Times New Roman" panose="02020603050405020304" pitchFamily="18" charset="0"/>
                <a:cs typeface="Times New Roman" panose="02020603050405020304" pitchFamily="18" charset="0"/>
              </a:rPr>
              <a:t>Strategic </a:t>
            </a:r>
            <a:r>
              <a:rPr lang="fr-CM" sz="2800" b="1" dirty="0" err="1">
                <a:latin typeface="Times New Roman" panose="02020603050405020304" pitchFamily="18" charset="0"/>
                <a:cs typeface="Times New Roman" panose="02020603050405020304" pitchFamily="18" charset="0"/>
              </a:rPr>
              <a:t>Recommendations</a:t>
            </a:r>
            <a:endParaRPr lang="fr-CM" sz="2800"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B107E45F-68C5-F3A6-1BEA-6DEBB9B75D21}"/>
              </a:ext>
            </a:extLst>
          </p:cNvPr>
          <p:cNvSpPr txBox="1"/>
          <p:nvPr/>
        </p:nvSpPr>
        <p:spPr>
          <a:xfrm>
            <a:off x="302394" y="1266106"/>
            <a:ext cx="8662094" cy="369331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3. Enhance Data Quality and Standardization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Action: Standardize data collection and reporting methods across all sources and coverage areas to ensure consistency and reliability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Rationale: Variations in data quality across different sources and coverage areas were noted. Standardization will improve the accuracy of analyses and decision-making processes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Leverage Predictive Analytics for Demand Forecasting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Action: </a:t>
            </a:r>
            <a:r>
              <a:rPr lang="en-US" dirty="0" err="1">
                <a:latin typeface="Times New Roman" panose="02020603050405020304" pitchFamily="18" charset="0"/>
                <a:cs typeface="Times New Roman" panose="02020603050405020304" pitchFamily="18" charset="0"/>
              </a:rPr>
              <a:t>Utilise</a:t>
            </a:r>
            <a:r>
              <a:rPr lang="en-US" dirty="0">
                <a:latin typeface="Times New Roman" panose="02020603050405020304" pitchFamily="18" charset="0"/>
                <a:cs typeface="Times New Roman" panose="02020603050405020304" pitchFamily="18" charset="0"/>
              </a:rPr>
              <a:t> advanced analytics and machine learning models to predict passenger demand and identify potential anomalies or outliers in traffic patterns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Rationale: Stations with unusually high standard deviations in traffic (STDEV) were identified, indicating significant fluctuations in passenger numbers. Predictive analytics can help in proactively managing such variations </a:t>
            </a:r>
          </a:p>
        </p:txBody>
      </p:sp>
    </p:spTree>
    <p:extLst>
      <p:ext uri="{BB962C8B-B14F-4D97-AF65-F5344CB8AC3E}">
        <p14:creationId xmlns:p14="http://schemas.microsoft.com/office/powerpoint/2010/main" val="3166213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D68B5-8DFE-9F50-F317-5C4A09674440}"/>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42E2BC55-E1D7-5B09-63C4-83C189D3159A}"/>
              </a:ext>
            </a:extLst>
          </p:cNvPr>
          <p:cNvSpPr txBox="1"/>
          <p:nvPr/>
        </p:nvSpPr>
        <p:spPr>
          <a:xfrm>
            <a:off x="323528" y="699542"/>
            <a:ext cx="4572000" cy="523220"/>
          </a:xfrm>
          <a:prstGeom prst="rect">
            <a:avLst/>
          </a:prstGeom>
          <a:noFill/>
        </p:spPr>
        <p:txBody>
          <a:bodyPr wrap="square">
            <a:spAutoFit/>
          </a:bodyPr>
          <a:lstStyle/>
          <a:p>
            <a:r>
              <a:rPr lang="fr-CM" sz="2800" b="1" dirty="0">
                <a:latin typeface="Times New Roman" panose="02020603050405020304" pitchFamily="18" charset="0"/>
                <a:cs typeface="Times New Roman" panose="02020603050405020304" pitchFamily="18" charset="0"/>
              </a:rPr>
              <a:t>Strategic </a:t>
            </a:r>
            <a:r>
              <a:rPr lang="fr-CM" sz="2800" b="1" dirty="0" err="1">
                <a:latin typeface="Times New Roman" panose="02020603050405020304" pitchFamily="18" charset="0"/>
                <a:cs typeface="Times New Roman" panose="02020603050405020304" pitchFamily="18" charset="0"/>
              </a:rPr>
              <a:t>Recommendations</a:t>
            </a:r>
            <a:endParaRPr lang="fr-CM" sz="2800"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57D4F9C5-E14A-A47E-FE49-947690AB881C}"/>
              </a:ext>
            </a:extLst>
          </p:cNvPr>
          <p:cNvSpPr txBox="1"/>
          <p:nvPr/>
        </p:nvSpPr>
        <p:spPr>
          <a:xfrm>
            <a:off x="107504" y="1347614"/>
            <a:ext cx="8856984" cy="369331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5. Promote Multi-Modal Integration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Action: Encourage seamless integration between different transport modes (e.g., Tube, Overground, DLR) to distribute passenger loads more evenly across the network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Rationale: The Tube consistently records the highest passenger traffic, while other modes show more localized and lower-volume patterns. Better integration can alleviate congestion on the Tube and optimize the use of other modes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6. Monitor and Address Operational Anomalies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Action: Establish a monitoring system to detect and investigate stations or modes with unusually high traffic fluctuations, determining whether they result from data entry issues or genuine operational anomalies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Rationale: Identifying and addressing the root causes of these anomalies will enhance operational reliability and passenger experience </a:t>
            </a:r>
          </a:p>
        </p:txBody>
      </p:sp>
    </p:spTree>
    <p:extLst>
      <p:ext uri="{BB962C8B-B14F-4D97-AF65-F5344CB8AC3E}">
        <p14:creationId xmlns:p14="http://schemas.microsoft.com/office/powerpoint/2010/main" val="15732737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D68B5-8DFE-9F50-F317-5C4A09674440}"/>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42E2BC55-E1D7-5B09-63C4-83C189D3159A}"/>
              </a:ext>
            </a:extLst>
          </p:cNvPr>
          <p:cNvSpPr txBox="1"/>
          <p:nvPr/>
        </p:nvSpPr>
        <p:spPr>
          <a:xfrm>
            <a:off x="323528" y="699542"/>
            <a:ext cx="4572000" cy="523220"/>
          </a:xfrm>
          <a:prstGeom prst="rect">
            <a:avLst/>
          </a:prstGeom>
          <a:noFill/>
        </p:spPr>
        <p:txBody>
          <a:bodyPr wrap="square">
            <a:spAutoFit/>
          </a:bodyPr>
          <a:lstStyle/>
          <a:p>
            <a:r>
              <a:rPr lang="fr-CM" sz="2800" b="1" dirty="0">
                <a:latin typeface="Times New Roman" panose="02020603050405020304" pitchFamily="18" charset="0"/>
                <a:cs typeface="Times New Roman" panose="02020603050405020304" pitchFamily="18" charset="0"/>
              </a:rPr>
              <a:t>Strategic </a:t>
            </a:r>
            <a:r>
              <a:rPr lang="fr-CM" sz="2800" b="1" dirty="0" err="1">
                <a:latin typeface="Times New Roman" panose="02020603050405020304" pitchFamily="18" charset="0"/>
                <a:cs typeface="Times New Roman" panose="02020603050405020304" pitchFamily="18" charset="0"/>
              </a:rPr>
              <a:t>Recommendations</a:t>
            </a:r>
            <a:endParaRPr lang="fr-CM" sz="2800"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57D4F9C5-E14A-A47E-FE49-947690AB881C}"/>
              </a:ext>
            </a:extLst>
          </p:cNvPr>
          <p:cNvSpPr txBox="1"/>
          <p:nvPr/>
        </p:nvSpPr>
        <p:spPr>
          <a:xfrm>
            <a:off x="143508" y="1419622"/>
            <a:ext cx="8856984" cy="313932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7. Invest in Infrastructure Upgrades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Action: Allocate resources for the expansion and modernization of infrastructure at stations identified as high-traffic or experiencing significant growth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Rationale: Proactive infrastructure investments will accommodate increasing passenger volumes and improve overall network resilience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8. Enhance Real-Time Passenger Information Systems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Action: Improve real-time information dissemination to passengers regarding service changes, delays, and alternative routes, especially during peak times and special events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Rationale: Effective communication can mitigate the impact of service disruptions and enhance passenger satisfaction </a:t>
            </a:r>
          </a:p>
        </p:txBody>
      </p:sp>
    </p:spTree>
    <p:extLst>
      <p:ext uri="{BB962C8B-B14F-4D97-AF65-F5344CB8AC3E}">
        <p14:creationId xmlns:p14="http://schemas.microsoft.com/office/powerpoint/2010/main" val="1146939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4200525"/>
          <a:chOff x="914400" y="1028700"/>
          <a:chExt cx="8229600" cy="4200525"/>
        </a:xfrm>
      </p:grpSpPr>
      <p:sp>
        <p:nvSpPr>
          <p:cNvPr id="2" name="ZoneTexte 1"/>
          <p:cNvSpPr txBox="1"/>
          <p:nvPr/>
        </p:nvSpPr>
        <p:spPr>
          <a:xfrm>
            <a:off x="1828800" y="1028700"/>
            <a:ext cx="5486400" cy="57150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4000" b="1" u="none" strike="noStrike" cap="none" spc="0">
                <a:solidFill>
                  <a:srgbClr val="424242">
                    <a:alpha val="100000"/>
                  </a:srgbClr>
                </a:solidFill>
                <a:latin typeface="Times New Roman"/>
              </a:rPr>
              <a:t>Conclusion</a:t>
            </a:r>
          </a:p>
        </p:txBody>
      </p:sp>
      <p:sp>
        <p:nvSpPr>
          <p:cNvPr id="3" name="ZoneTexte 2"/>
          <p:cNvSpPr txBox="1"/>
          <p:nvPr/>
        </p:nvSpPr>
        <p:spPr>
          <a:xfrm>
            <a:off x="251520" y="1995686"/>
            <a:ext cx="8482136" cy="1643527"/>
          </a:xfrm>
          <a:prstGeom prst="rect">
            <a:avLst/>
          </a:prstGeom>
          <a:noFill/>
        </p:spPr>
        <p:txBody>
          <a:bodyPr vert="horz" wrap="square" lIns="91440" tIns="45720" rIns="91440" bIns="45720" rtlCol="0" anchor="t" anchorCtr="0">
            <a:spAutoFit/>
          </a:bodyPr>
          <a:lstStyle/>
          <a:p>
            <a:pPr marL="0" marR="0" lvl="0" indent="0" algn="ctr" rtl="0" fontAlgn="t">
              <a:lnSpc>
                <a:spcPct val="120000"/>
              </a:lnSpc>
              <a:spcBef>
                <a:spcPts val="0"/>
              </a:spcBef>
              <a:spcAft>
                <a:spcPts val="0"/>
              </a:spcAft>
            </a:pPr>
            <a:r>
              <a:rPr lang="en-US" sz="2800" b="1" u="none" strike="noStrike" cap="none" spc="0" dirty="0">
                <a:solidFill>
                  <a:srgbClr val="424242">
                    <a:alpha val="100000"/>
                  </a:srgbClr>
                </a:solidFill>
                <a:latin typeface="Times New Roman"/>
              </a:rPr>
              <a:t>This presentation has shown key trends in </a:t>
            </a:r>
            <a:r>
              <a:rPr lang="en-US" sz="2800" b="1" u="none" strike="noStrike" cap="none" spc="0" dirty="0" err="1">
                <a:solidFill>
                  <a:srgbClr val="424242">
                    <a:alpha val="100000"/>
                  </a:srgbClr>
                </a:solidFill>
                <a:latin typeface="Times New Roman"/>
              </a:rPr>
              <a:t>Tfl</a:t>
            </a:r>
            <a:r>
              <a:rPr lang="en-US" sz="2800" b="1" u="none" strike="noStrike" cap="none" spc="0" dirty="0">
                <a:solidFill>
                  <a:srgbClr val="424242">
                    <a:alpha val="100000"/>
                  </a:srgbClr>
                </a:solidFill>
                <a:latin typeface="Times New Roman"/>
              </a:rPr>
              <a:t> data. These findings are crucial for informed Station planning and resource allocation.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828800" y="1028700"/>
          <a:ext cx="7315200" cy="3581400"/>
          <a:chOff x="1828800" y="1028700"/>
          <a:chExt cx="7315200" cy="3581400"/>
        </a:xfrm>
      </p:grpSpPr>
      <p:sp>
        <p:nvSpPr>
          <p:cNvPr id="2" name="ZoneTexte 1"/>
          <p:cNvSpPr txBox="1"/>
          <p:nvPr/>
        </p:nvSpPr>
        <p:spPr>
          <a:xfrm>
            <a:off x="1691680" y="1851670"/>
            <a:ext cx="5486400" cy="85725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6000" b="1" u="none" strike="noStrike" cap="none" spc="0" dirty="0">
                <a:solidFill>
                  <a:srgbClr val="424242">
                    <a:alpha val="100000"/>
                  </a:srgbClr>
                </a:solidFill>
                <a:latin typeface="Times New Roman"/>
              </a:rPr>
              <a:t>Thank you!</a:t>
            </a:r>
          </a:p>
        </p:txBody>
      </p:sp>
    </p:spTree>
  </p:cSld>
  <p:clrMapOvr>
    <a:masterClrMapping/>
  </p:clrMapOvr>
</p:sld>
</file>

<file path=ppt/theme/theme1.xml><?xml version="1.0" encoding="utf-8"?>
<a:theme xmlns:a="http://schemas.openxmlformats.org/drawingml/2006/main" name="Dividende">
  <a:themeElements>
    <a:clrScheme name="Bleu chau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Dividend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e">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TM03457464[[fn=Dividende]]</Template>
  <TotalTime>293</TotalTime>
  <Words>1781</Words>
  <Application>Microsoft Office PowerPoint</Application>
  <PresentationFormat>Affichage à l'écran (16:9)</PresentationFormat>
  <Paragraphs>150</Paragraphs>
  <Slides>44</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44</vt:i4>
      </vt:variant>
    </vt:vector>
  </HeadingPairs>
  <TitlesOfParts>
    <vt:vector size="50" baseType="lpstr">
      <vt:lpstr>Arial</vt:lpstr>
      <vt:lpstr>Calibri</vt:lpstr>
      <vt:lpstr>Gill Sans MT</vt:lpstr>
      <vt:lpstr>Times New Roman</vt:lpstr>
      <vt:lpstr>Wingdings 2</vt:lpstr>
      <vt:lpstr>Dividende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cp:keywords/>
  <dc:description/>
  <cp:lastModifiedBy>KENGNE MBAH Johann Briz</cp:lastModifiedBy>
  <cp:revision>22</cp:revision>
  <dcterms:created xsi:type="dcterms:W3CDTF">2025-04-04T12:30:03Z</dcterms:created>
  <dcterms:modified xsi:type="dcterms:W3CDTF">2025-04-14T18:44:31Z</dcterms:modified>
  <cp:category/>
  <cp:contentStatus/>
</cp:coreProperties>
</file>